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2" r:id="rId5"/>
    <p:sldId id="265" r:id="rId6"/>
    <p:sldId id="266" r:id="rId7"/>
  </p:sldIdLst>
  <p:sldSz cx="12192000" cy="6858000"/>
  <p:notesSz cx="12192000" cy="6858000"/>
  <p:embeddedFontLst>
    <p:embeddedFont>
      <p:font typeface="IBM Plex Mono" panose="020B0604020202020204" charset="-52"/>
      <p:regular r:id="rId8"/>
      <p:bold r:id="rId9"/>
      <p:italic r:id="rId10"/>
      <p:boldItalic r:id="rId11"/>
    </p:embeddedFont>
    <p:embeddedFont>
      <p:font typeface="MiSans" panose="020B0604020202020204" charset="-122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1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-dzh"/>
          <p:cNvSpPr/>
          <p:nvPr/>
        </p:nvSpPr>
        <p:spPr>
          <a:xfrm>
            <a:off x="9042400" y="1066800"/>
            <a:ext cx="1270000" cy="12700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3" name="c-ao"/>
          <p:cNvSpPr/>
          <p:nvPr/>
        </p:nvSpPr>
        <p:spPr>
          <a:xfrm>
            <a:off x="7443060" y="2540000"/>
            <a:ext cx="1091339" cy="10160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4" name="c-vd"/>
          <p:cNvSpPr/>
          <p:nvPr/>
        </p:nvSpPr>
        <p:spPr>
          <a:xfrm>
            <a:off x="9144000" y="2921000"/>
            <a:ext cx="1066800" cy="10668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5" name="c-ee"/>
          <p:cNvSpPr/>
          <p:nvPr/>
        </p:nvSpPr>
        <p:spPr>
          <a:xfrm>
            <a:off x="10820400" y="1905000"/>
            <a:ext cx="965200" cy="9652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6" name="c-so"/>
          <p:cNvSpPr/>
          <p:nvPr/>
        </p:nvSpPr>
        <p:spPr>
          <a:xfrm>
            <a:off x="10922000" y="3556000"/>
            <a:ext cx="1016000" cy="10160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7" name="c-ea"/>
          <p:cNvSpPr/>
          <p:nvPr/>
        </p:nvSpPr>
        <p:spPr>
          <a:xfrm>
            <a:off x="7874000" y="4445000"/>
            <a:ext cx="1066800" cy="10668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8" name="c-yur"/>
          <p:cNvSpPr/>
          <p:nvPr/>
        </p:nvSpPr>
        <p:spPr>
          <a:xfrm>
            <a:off x="9652000" y="4826000"/>
            <a:ext cx="1016000" cy="10160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9" name="c-akor"/>
          <p:cNvSpPr/>
          <p:nvPr/>
        </p:nvSpPr>
        <p:spPr>
          <a:xfrm>
            <a:off x="7493000" y="1219200"/>
            <a:ext cx="914400" cy="914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20" name="c-akol"/>
          <p:cNvSpPr/>
          <p:nvPr/>
        </p:nvSpPr>
        <p:spPr>
          <a:xfrm>
            <a:off x="11074400" y="5130800"/>
            <a:ext cx="863600" cy="8636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21" name="c-ep"/>
          <p:cNvSpPr/>
          <p:nvPr/>
        </p:nvSpPr>
        <p:spPr>
          <a:xfrm>
            <a:off x="8788400" y="5740400"/>
            <a:ext cx="812800" cy="8128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22" name="t-dzh"/>
          <p:cNvSpPr txBox="1"/>
          <p:nvPr/>
        </p:nvSpPr>
        <p:spPr>
          <a:xfrm>
            <a:off x="9042400" y="1066800"/>
            <a:ext cx="127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123B2F"/>
                </a:solidFill>
                <a:latin typeface="MiSans"/>
                <a:ea typeface="MiSans"/>
              </a:rPr>
              <a:t>D.Zh.</a:t>
            </a:r>
            <a:endParaRPr lang="en-US" sz="1700" noProof="1"/>
          </a:p>
        </p:txBody>
      </p:sp>
      <p:sp>
        <p:nvSpPr>
          <p:cNvPr id="23" name="t-ao"/>
          <p:cNvSpPr txBox="1"/>
          <p:nvPr/>
        </p:nvSpPr>
        <p:spPr>
          <a:xfrm>
            <a:off x="7493000" y="2514600"/>
            <a:ext cx="1041400" cy="11236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23B2F"/>
                </a:solidFill>
                <a:latin typeface="MiSans"/>
                <a:ea typeface="MiSans"/>
              </a:rPr>
              <a:t>A.O.</a:t>
            </a:r>
            <a:endParaRPr lang="en-US" sz="1600" noProof="1"/>
          </a:p>
        </p:txBody>
      </p:sp>
      <p:sp>
        <p:nvSpPr>
          <p:cNvPr id="24" name="t-vd"/>
          <p:cNvSpPr txBox="1"/>
          <p:nvPr/>
        </p:nvSpPr>
        <p:spPr>
          <a:xfrm>
            <a:off x="9144000" y="2921000"/>
            <a:ext cx="1066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V.D.</a:t>
            </a:r>
            <a:endParaRPr lang="en-US" sz="1400" noProof="1"/>
          </a:p>
        </p:txBody>
      </p:sp>
      <p:sp>
        <p:nvSpPr>
          <p:cNvPr id="25" name="t-ee"/>
          <p:cNvSpPr txBox="1"/>
          <p:nvPr/>
        </p:nvSpPr>
        <p:spPr>
          <a:xfrm>
            <a:off x="10820400" y="1905000"/>
            <a:ext cx="965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23B2F"/>
                </a:solidFill>
                <a:latin typeface="MiSans"/>
                <a:ea typeface="MiSans"/>
              </a:rPr>
              <a:t>E.E.</a:t>
            </a:r>
            <a:endParaRPr lang="en-US" sz="1300" noProof="1"/>
          </a:p>
        </p:txBody>
      </p:sp>
      <p:sp>
        <p:nvSpPr>
          <p:cNvPr id="26" name="t-so"/>
          <p:cNvSpPr txBox="1"/>
          <p:nvPr/>
        </p:nvSpPr>
        <p:spPr>
          <a:xfrm>
            <a:off x="10922000" y="3556000"/>
            <a:ext cx="1016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23B2F"/>
                </a:solidFill>
                <a:latin typeface="MiSans"/>
                <a:ea typeface="MiSans"/>
              </a:rPr>
              <a:t>S.O.</a:t>
            </a:r>
            <a:endParaRPr lang="en-US" sz="1300" noProof="1"/>
          </a:p>
        </p:txBody>
      </p:sp>
      <p:sp>
        <p:nvSpPr>
          <p:cNvPr id="27" name="t-ea"/>
          <p:cNvSpPr txBox="1"/>
          <p:nvPr/>
        </p:nvSpPr>
        <p:spPr>
          <a:xfrm>
            <a:off x="7899400" y="4420892"/>
            <a:ext cx="1066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E.A.</a:t>
            </a:r>
            <a:endParaRPr lang="en-US" sz="1400" noProof="1"/>
          </a:p>
        </p:txBody>
      </p:sp>
      <p:sp>
        <p:nvSpPr>
          <p:cNvPr id="28" name="t-yur"/>
          <p:cNvSpPr txBox="1"/>
          <p:nvPr/>
        </p:nvSpPr>
        <p:spPr>
          <a:xfrm>
            <a:off x="9652000" y="4826000"/>
            <a:ext cx="1016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23B2F"/>
                </a:solidFill>
                <a:latin typeface="MiSans"/>
                <a:ea typeface="MiSans"/>
              </a:rPr>
              <a:t>Yu.R.</a:t>
            </a:r>
            <a:endParaRPr lang="en-US" sz="1300" noProof="1"/>
          </a:p>
        </p:txBody>
      </p:sp>
      <p:sp>
        <p:nvSpPr>
          <p:cNvPr id="29" name="t-akor"/>
          <p:cNvSpPr txBox="1"/>
          <p:nvPr/>
        </p:nvSpPr>
        <p:spPr>
          <a:xfrm>
            <a:off x="7493000" y="1219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23B2F"/>
                </a:solidFill>
                <a:latin typeface="MiSans"/>
                <a:ea typeface="MiSans"/>
              </a:rPr>
              <a:t>A.Kor.</a:t>
            </a:r>
            <a:endParaRPr lang="en-US" sz="1200" noProof="1"/>
          </a:p>
        </p:txBody>
      </p:sp>
      <p:sp>
        <p:nvSpPr>
          <p:cNvPr id="30" name="t-akol"/>
          <p:cNvSpPr txBox="1"/>
          <p:nvPr/>
        </p:nvSpPr>
        <p:spPr>
          <a:xfrm>
            <a:off x="11074400" y="5130800"/>
            <a:ext cx="863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123B2F"/>
                </a:solidFill>
                <a:latin typeface="MiSans"/>
                <a:ea typeface="MiSans"/>
              </a:rPr>
              <a:t>A.Kol.</a:t>
            </a:r>
            <a:endParaRPr lang="en-US" sz="1100" noProof="1"/>
          </a:p>
        </p:txBody>
      </p:sp>
      <p:sp>
        <p:nvSpPr>
          <p:cNvPr id="31" name="t-ep"/>
          <p:cNvSpPr txBox="1"/>
          <p:nvPr/>
        </p:nvSpPr>
        <p:spPr>
          <a:xfrm>
            <a:off x="8788400" y="5740400"/>
            <a:ext cx="81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123B2F"/>
                </a:solidFill>
                <a:latin typeface="MiSans"/>
                <a:ea typeface="MiSans"/>
              </a:rPr>
              <a:t>E.P.</a:t>
            </a:r>
            <a:endParaRPr lang="en-US" sz="1100" noProof="1"/>
          </a:p>
        </p:txBody>
      </p:sp>
      <p:sp>
        <p:nvSpPr>
          <p:cNvPr id="32" name="brass-bar"/>
          <p:cNvSpPr/>
          <p:nvPr/>
        </p:nvSpPr>
        <p:spPr>
          <a:xfrm>
            <a:off x="609600" y="2489200"/>
            <a:ext cx="711200" cy="508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33" name="title"/>
          <p:cNvSpPr txBox="1"/>
          <p:nvPr/>
        </p:nvSpPr>
        <p:spPr>
          <a:xfrm>
            <a:off x="609600" y="27432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noProof="1">
                <a:solidFill>
                  <a:srgbClr val="123B2F"/>
                </a:solidFill>
                <a:latin typeface="MiSans"/>
                <a:ea typeface="MiSans"/>
              </a:rPr>
              <a:t>Команда проекта</a:t>
            </a:r>
            <a:endParaRPr lang="en-US" sz="5400" noProof="1"/>
          </a:p>
        </p:txBody>
      </p:sp>
      <p:sp>
        <p:nvSpPr>
          <p:cNvPr id="34" name="subtitle"/>
          <p:cNvSpPr txBox="1"/>
          <p:nvPr/>
        </p:nvSpPr>
        <p:spPr>
          <a:xfrm>
            <a:off x="609600" y="3759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33302A"/>
                </a:solidFill>
                <a:latin typeface="MiSans"/>
                <a:ea typeface="MiSans"/>
              </a:rPr>
              <a:t>Бюджетная система по затратам на персонал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6E685B"/>
                </a:solidFill>
                <a:latin typeface="MiSans"/>
                <a:ea typeface="MiSans"/>
              </a:rPr>
              <a:t>Фиксация ролей и зон ответственности. Рабочий материал для команды проекта.</a:t>
            </a:r>
            <a:endParaRPr lang="en-US" sz="1600" noProof="1"/>
          </a:p>
        </p:txBody>
      </p:sp>
      <p:sp>
        <p:nvSpPr>
          <p:cNvPr id="35" name="meta"/>
          <p:cNvSpPr txBox="1"/>
          <p:nvPr/>
        </p:nvSpPr>
        <p:spPr>
          <a:xfrm>
            <a:off x="609600" y="6350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kern="0" spc="200" noProof="1">
                <a:solidFill>
                  <a:srgbClr val="6E685B"/>
                </a:solidFill>
                <a:latin typeface="IBM Plex Mono"/>
                <a:ea typeface="IBM Plex Mono"/>
              </a:rPr>
              <a:t>АВГУСТ 2026 ·</a:t>
            </a:r>
            <a:endParaRPr lang="en-US" sz="950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5-c">
            <a:extLst>
              <a:ext uri="{FF2B5EF4-FFF2-40B4-BE49-F238E27FC236}">
                <a16:creationId xmlns:a16="http://schemas.microsoft.com/office/drawing/2014/main" id="{85732AB6-34D1-4A43-8486-1614FABCDD40}"/>
              </a:ext>
            </a:extLst>
          </p:cNvPr>
          <p:cNvSpPr/>
          <p:nvPr/>
        </p:nvSpPr>
        <p:spPr>
          <a:xfrm>
            <a:off x="615656" y="4544497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35" name="r1-c">
            <a:extLst>
              <a:ext uri="{FF2B5EF4-FFF2-40B4-BE49-F238E27FC236}">
                <a16:creationId xmlns:a16="http://schemas.microsoft.com/office/drawing/2014/main" id="{C6334E40-1BD9-4609-B4D8-A840DA78FA02}"/>
              </a:ext>
            </a:extLst>
          </p:cNvPr>
          <p:cNvSpPr/>
          <p:nvPr/>
        </p:nvSpPr>
        <p:spPr>
          <a:xfrm>
            <a:off x="609600" y="3589853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2" name="top-label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kern="0" spc="200" noProof="1">
                <a:solidFill>
                  <a:srgbClr val="6E685B"/>
                </a:solidFill>
                <a:latin typeface="IBM Plex Mono"/>
                <a:ea typeface="IBM Plex Mono"/>
              </a:rPr>
              <a:t>РОЛИ · ЧАСТЬ 1</a:t>
            </a:r>
            <a:endParaRPr lang="en-US" sz="950" noProof="1"/>
          </a:p>
        </p:txBody>
      </p:sp>
      <p:sp>
        <p:nvSpPr>
          <p:cNvPr id="4" name="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965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23B2F"/>
                </a:solidFill>
                <a:latin typeface="MiSans"/>
                <a:ea typeface="MiSans"/>
              </a:rPr>
              <a:t>Контур управления и заказа: кто задаёт рамки и принимает результат</a:t>
            </a:r>
            <a:endParaRPr lang="en-US" sz="2300" noProof="1"/>
          </a:p>
        </p:txBody>
      </p:sp>
      <p:sp>
        <p:nvSpPr>
          <p:cNvPr id="6" name="r1-c"/>
          <p:cNvSpPr/>
          <p:nvPr/>
        </p:nvSpPr>
        <p:spPr>
          <a:xfrm>
            <a:off x="609600" y="1651000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7" name="r1-i"/>
          <p:cNvSpPr txBox="1"/>
          <p:nvPr/>
        </p:nvSpPr>
        <p:spPr>
          <a:xfrm>
            <a:off x="609600" y="16510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D.Zh.</a:t>
            </a:r>
            <a:endParaRPr lang="en-US" sz="1400" noProof="1"/>
          </a:p>
        </p:txBody>
      </p:sp>
      <p:sp>
        <p:nvSpPr>
          <p:cNvPr id="8" name="r1-n"/>
          <p:cNvSpPr txBox="1"/>
          <p:nvPr/>
        </p:nvSpPr>
        <p:spPr>
          <a:xfrm>
            <a:off x="1498600" y="16510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D.Zh.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Спонсор проекта · заказчик</a:t>
            </a:r>
            <a:endParaRPr lang="en-US" sz="1600" noProof="1"/>
          </a:p>
        </p:txBody>
      </p:sp>
      <p:sp>
        <p:nvSpPr>
          <p:cNvPr id="9" name="r1-d"/>
          <p:cNvSpPr txBox="1"/>
          <p:nvPr/>
        </p:nvSpPr>
        <p:spPr>
          <a:xfrm>
            <a:off x="4851400" y="1600200"/>
            <a:ext cx="673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Владелец бизнес-цели и бюджета проекта. Утверждает целевую модель системы, рамки и ключевые изменения; принимает результаты этапов и снимает эскалации, выходящие за полномочия проектного менеджера.</a:t>
            </a:r>
            <a:endParaRPr lang="en-US" sz="1150" noProof="1"/>
          </a:p>
        </p:txBody>
      </p:sp>
      <p:sp>
        <p:nvSpPr>
          <p:cNvPr id="10" name="sep1"/>
          <p:cNvSpPr/>
          <p:nvPr/>
        </p:nvSpPr>
        <p:spPr>
          <a:xfrm>
            <a:off x="609600" y="24638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11" name="r2-c"/>
          <p:cNvSpPr/>
          <p:nvPr/>
        </p:nvSpPr>
        <p:spPr>
          <a:xfrm>
            <a:off x="609600" y="2616200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2" name="r2-i"/>
          <p:cNvSpPr txBox="1"/>
          <p:nvPr/>
        </p:nvSpPr>
        <p:spPr>
          <a:xfrm>
            <a:off x="609600" y="26162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A.O.</a:t>
            </a:r>
            <a:endParaRPr lang="en-US" sz="1400" noProof="1"/>
          </a:p>
        </p:txBody>
      </p:sp>
      <p:sp>
        <p:nvSpPr>
          <p:cNvPr id="13" name="r2-n"/>
          <p:cNvSpPr txBox="1"/>
          <p:nvPr/>
        </p:nvSpPr>
        <p:spPr>
          <a:xfrm>
            <a:off x="1498600" y="26162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A.O.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Проектный менеджер · методолог</a:t>
            </a:r>
            <a:endParaRPr lang="en-US" sz="1600" noProof="1"/>
          </a:p>
        </p:txBody>
      </p:sp>
      <p:sp>
        <p:nvSpPr>
          <p:cNvPr id="14" name="r2-d"/>
          <p:cNvSpPr txBox="1"/>
          <p:nvPr/>
        </p:nvSpPr>
        <p:spPr>
          <a:xfrm>
            <a:off x="4851400" y="2565400"/>
            <a:ext cx="673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Ведёт план, ресурсы, риски и коммуникации проекта. Отвечает за методологию бюджетирования затрат на персонал и согласование требований с заказчиками; контролирует сроки, качество и </a:t>
            </a:r>
            <a:r>
              <a:rPr lang="ru-RU" sz="1150" noProof="1">
                <a:solidFill>
                  <a:srgbClr val="33302A"/>
                </a:solidFill>
                <a:latin typeface="MiSans"/>
                <a:ea typeface="MiSans"/>
              </a:rPr>
              <a:t>состав результатов проекта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.</a:t>
            </a:r>
            <a:endParaRPr lang="en-US" sz="1150" noProof="1"/>
          </a:p>
        </p:txBody>
      </p:sp>
      <p:sp>
        <p:nvSpPr>
          <p:cNvPr id="15" name="sep2"/>
          <p:cNvSpPr/>
          <p:nvPr/>
        </p:nvSpPr>
        <p:spPr>
          <a:xfrm>
            <a:off x="609600" y="34290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20" name="sep3"/>
          <p:cNvSpPr/>
          <p:nvPr/>
        </p:nvSpPr>
        <p:spPr>
          <a:xfrm>
            <a:off x="609600" y="4394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25" name="sep4"/>
          <p:cNvSpPr/>
          <p:nvPr/>
        </p:nvSpPr>
        <p:spPr>
          <a:xfrm>
            <a:off x="609600" y="53594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26" name="r5-c"/>
          <p:cNvSpPr/>
          <p:nvPr/>
        </p:nvSpPr>
        <p:spPr>
          <a:xfrm>
            <a:off x="609600" y="5511800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27" name="r5-i"/>
          <p:cNvSpPr txBox="1"/>
          <p:nvPr/>
        </p:nvSpPr>
        <p:spPr>
          <a:xfrm>
            <a:off x="609600" y="5511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E.E.</a:t>
            </a:r>
            <a:endParaRPr lang="en-US" sz="1400" noProof="1"/>
          </a:p>
        </p:txBody>
      </p:sp>
      <p:sp>
        <p:nvSpPr>
          <p:cNvPr id="28" name="r5-n"/>
          <p:cNvSpPr txBox="1"/>
          <p:nvPr/>
        </p:nvSpPr>
        <p:spPr>
          <a:xfrm>
            <a:off x="1498600" y="55118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E.E.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Консультант-методист · заказчик · </a:t>
            </a:r>
            <a:r>
              <a:rPr lang="en-US" sz="1100" noProof="1" smtClean="0">
                <a:solidFill>
                  <a:srgbClr val="B08D3E"/>
                </a:solidFill>
                <a:latin typeface="MiSans"/>
                <a:ea typeface="MiSans"/>
              </a:rPr>
              <a:t>UAT</a:t>
            </a:r>
            <a:endParaRPr lang="en-US" sz="1600" noProof="1"/>
          </a:p>
        </p:txBody>
      </p:sp>
      <p:sp>
        <p:nvSpPr>
          <p:cNvPr id="29" name="r5-d"/>
          <p:cNvSpPr txBox="1"/>
          <p:nvPr/>
        </p:nvSpPr>
        <p:spPr>
          <a:xfrm>
            <a:off x="4851400" y="5461000"/>
            <a:ext cx="7101668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Заказчик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.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Эксперт по бизнес-требованиям и критериям приёмки. Методически проверяет решения команды, проводит функциональное тестирование и координирует приёмочные испытания с заказчиком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. 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Обеспечивает соответствие 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системы требованиям 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финансовой дирекции</a:t>
            </a:r>
            <a:endParaRPr lang="en-US" sz="1150" noProof="1"/>
          </a:p>
        </p:txBody>
      </p:sp>
      <p:sp>
        <p:nvSpPr>
          <p:cNvPr id="30" name="sep5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31" name="footer"/>
          <p:cNvSpPr txBox="1"/>
          <p:nvPr/>
        </p:nvSpPr>
        <p:spPr>
          <a:xfrm>
            <a:off x="609600" y="65024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6E685B"/>
                </a:solidFill>
                <a:latin typeface="IBM Plex Mono"/>
                <a:ea typeface="IBM Plex Mono"/>
              </a:rPr>
              <a:t>БЮДЖЕТНАЯ СИСТЕМА · ЗАТРАТЫ НА ПЕРСОНАЛ · РОЛИ КОМАНДЫ</a:t>
            </a:r>
            <a:endParaRPr lang="en-US" sz="900" noProof="1"/>
          </a:p>
        </p:txBody>
      </p:sp>
      <p:sp>
        <p:nvSpPr>
          <p:cNvPr id="32" name="r1-i">
            <a:extLst>
              <a:ext uri="{FF2B5EF4-FFF2-40B4-BE49-F238E27FC236}">
                <a16:creationId xmlns:a16="http://schemas.microsoft.com/office/drawing/2014/main" id="{47C0469F-E0CD-48CB-B652-433EE9A3F6C7}"/>
              </a:ext>
            </a:extLst>
          </p:cNvPr>
          <p:cNvSpPr txBox="1"/>
          <p:nvPr/>
        </p:nvSpPr>
        <p:spPr>
          <a:xfrm>
            <a:off x="614310" y="35814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V.D.</a:t>
            </a:r>
            <a:endParaRPr lang="en-US" sz="1400" noProof="1"/>
          </a:p>
        </p:txBody>
      </p:sp>
      <p:sp>
        <p:nvSpPr>
          <p:cNvPr id="33" name="r1-n">
            <a:extLst>
              <a:ext uri="{FF2B5EF4-FFF2-40B4-BE49-F238E27FC236}">
                <a16:creationId xmlns:a16="http://schemas.microsoft.com/office/drawing/2014/main" id="{24A8A6FF-DEC5-436D-B793-DBB83945A27D}"/>
              </a:ext>
            </a:extLst>
          </p:cNvPr>
          <p:cNvSpPr txBox="1"/>
          <p:nvPr/>
        </p:nvSpPr>
        <p:spPr>
          <a:xfrm>
            <a:off x="1498600" y="3545403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V.D.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Техлид </a:t>
            </a:r>
            <a:r>
              <a:rPr lang="en-US" sz="1100" noProof="1" smtClean="0">
                <a:solidFill>
                  <a:srgbClr val="B08D3E"/>
                </a:solidFill>
                <a:latin typeface="MiSans"/>
                <a:ea typeface="MiSans"/>
              </a:rPr>
              <a:t>· </a:t>
            </a: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техписатель</a:t>
            </a:r>
            <a:endParaRPr lang="en-US" sz="1600" noProof="1"/>
          </a:p>
        </p:txBody>
      </p:sp>
      <p:sp>
        <p:nvSpPr>
          <p:cNvPr id="34" name="r1-d">
            <a:extLst>
              <a:ext uri="{FF2B5EF4-FFF2-40B4-BE49-F238E27FC236}">
                <a16:creationId xmlns:a16="http://schemas.microsoft.com/office/drawing/2014/main" id="{733A7542-1475-4C7D-B59A-F2DC0DE566F7}"/>
              </a:ext>
            </a:extLst>
          </p:cNvPr>
          <p:cNvSpPr txBox="1"/>
          <p:nvPr/>
        </p:nvSpPr>
        <p:spPr>
          <a:xfrm>
            <a:off x="4851400" y="3494603"/>
            <a:ext cx="673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Отвечает за архитектуру решения и технические стандарты. 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П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роводит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ревизию разработки, ведёт техническую документацию — от модели данных до инструкций.</a:t>
            </a:r>
            <a:endParaRPr lang="en-US" sz="1150" noProof="1"/>
          </a:p>
        </p:txBody>
      </p:sp>
      <p:sp>
        <p:nvSpPr>
          <p:cNvPr id="36" name="r3-i">
            <a:extLst>
              <a:ext uri="{FF2B5EF4-FFF2-40B4-BE49-F238E27FC236}">
                <a16:creationId xmlns:a16="http://schemas.microsoft.com/office/drawing/2014/main" id="{4A89E407-C1FC-410E-BF26-181C0BE89F27}"/>
              </a:ext>
            </a:extLst>
          </p:cNvPr>
          <p:cNvSpPr txBox="1"/>
          <p:nvPr/>
        </p:nvSpPr>
        <p:spPr>
          <a:xfrm>
            <a:off x="658045" y="45339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S.O.</a:t>
            </a:r>
            <a:endParaRPr lang="en-US" sz="1400" noProof="1"/>
          </a:p>
        </p:txBody>
      </p:sp>
      <p:sp>
        <p:nvSpPr>
          <p:cNvPr id="37" name="r3-n">
            <a:extLst>
              <a:ext uri="{FF2B5EF4-FFF2-40B4-BE49-F238E27FC236}">
                <a16:creationId xmlns:a16="http://schemas.microsoft.com/office/drawing/2014/main" id="{D8E81382-B49C-4E00-B0CF-372B0CA8775D}"/>
              </a:ext>
            </a:extLst>
          </p:cNvPr>
          <p:cNvSpPr txBox="1"/>
          <p:nvPr/>
        </p:nvSpPr>
        <p:spPr>
          <a:xfrm>
            <a:off x="1547045" y="45339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 smtClean="0">
                <a:solidFill>
                  <a:srgbClr val="123B2F"/>
                </a:solidFill>
                <a:latin typeface="MiSans"/>
                <a:ea typeface="MiSans"/>
              </a:rPr>
              <a:t>S.O.</a:t>
            </a:r>
            <a:endParaRPr lang="ru-RU" sz="1600" noProof="1"/>
          </a:p>
          <a:p>
            <a:pPr>
              <a:lnSpc>
                <a:spcPct val="120000"/>
              </a:lnSpc>
            </a:pPr>
            <a:r>
              <a:rPr lang="ru-RU" sz="1100" noProof="1">
                <a:solidFill>
                  <a:srgbClr val="B08D3E"/>
                </a:solidFill>
                <a:latin typeface="MiSans"/>
                <a:ea typeface="MiSans"/>
              </a:rPr>
              <a:t>З</a:t>
            </a:r>
            <a:r>
              <a:rPr lang="en-US" sz="1100" noProof="1">
                <a:solidFill>
                  <a:srgbClr val="B08D3E"/>
                </a:solidFill>
              </a:rPr>
              <a:t>аказчик ·</a:t>
            </a:r>
            <a:r>
              <a:rPr lang="ru-RU" sz="1100" noProof="1" smtClean="0">
                <a:solidFill>
                  <a:srgbClr val="B08D3E"/>
                </a:solidFill>
                <a:latin typeface="MiSans"/>
                <a:ea typeface="MiSans"/>
              </a:rPr>
              <a:t> </a:t>
            </a:r>
            <a:r>
              <a:rPr lang="en-US" sz="1100" noProof="1" smtClean="0">
                <a:solidFill>
                  <a:srgbClr val="B08D3E"/>
                </a:solidFill>
                <a:latin typeface="MiSans"/>
                <a:ea typeface="MiSans"/>
              </a:rPr>
              <a:t>UAT</a:t>
            </a:r>
            <a:endParaRPr lang="en-US" sz="1600" noProof="1"/>
          </a:p>
        </p:txBody>
      </p:sp>
      <p:sp>
        <p:nvSpPr>
          <p:cNvPr id="38" name="r3-d">
            <a:extLst>
              <a:ext uri="{FF2B5EF4-FFF2-40B4-BE49-F238E27FC236}">
                <a16:creationId xmlns:a16="http://schemas.microsoft.com/office/drawing/2014/main" id="{ED78906E-55D4-4D73-BB45-A8E7164D20D0}"/>
              </a:ext>
            </a:extLst>
          </p:cNvPr>
          <p:cNvSpPr txBox="1"/>
          <p:nvPr/>
        </p:nvSpPr>
        <p:spPr>
          <a:xfrm>
            <a:off x="4899845" y="4483100"/>
            <a:ext cx="673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Заказчик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. 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Связывает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проект с действующим бюджетным 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процессом 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в старом периметре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55000"/>
              </a:lnSpc>
            </a:pP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Cогласует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регламенты, организует пилотных пользователей и внедрение.</a:t>
            </a:r>
            <a:endParaRPr lang="en-US" sz="1150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4-c"/>
          <p:cNvSpPr/>
          <p:nvPr/>
        </p:nvSpPr>
        <p:spPr>
          <a:xfrm>
            <a:off x="609600" y="4493193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36" name="r4-n">
            <a:extLst>
              <a:ext uri="{FF2B5EF4-FFF2-40B4-BE49-F238E27FC236}">
                <a16:creationId xmlns:a16="http://schemas.microsoft.com/office/drawing/2014/main" id="{C2EE662D-F57E-409B-A990-2DD024C7B8BB}"/>
              </a:ext>
            </a:extLst>
          </p:cNvPr>
          <p:cNvSpPr txBox="1"/>
          <p:nvPr/>
        </p:nvSpPr>
        <p:spPr>
          <a:xfrm>
            <a:off x="1467603" y="2710623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Yu.R.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Заказчик · методолог · аналитик данных</a:t>
            </a:r>
            <a:endParaRPr lang="en-US" sz="1600" noProof="1"/>
          </a:p>
        </p:txBody>
      </p:sp>
      <p:sp>
        <p:nvSpPr>
          <p:cNvPr id="13" name="r2-n"/>
          <p:cNvSpPr txBox="1"/>
          <p:nvPr/>
        </p:nvSpPr>
        <p:spPr>
          <a:xfrm>
            <a:off x="1498600" y="159936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E.A.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Разработчик БД, кубов и витрин</a:t>
            </a:r>
            <a:endParaRPr lang="en-US" sz="1600" noProof="1"/>
          </a:p>
        </p:txBody>
      </p:sp>
      <p:sp>
        <p:nvSpPr>
          <p:cNvPr id="2" name="top-label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kern="0" spc="200" noProof="1">
                <a:solidFill>
                  <a:srgbClr val="6E685B"/>
                </a:solidFill>
                <a:latin typeface="IBM Plex Mono"/>
                <a:ea typeface="IBM Plex Mono"/>
              </a:rPr>
              <a:t>РОЛИ · ЧАСТЬ 2</a:t>
            </a:r>
            <a:endParaRPr lang="en-US" sz="950" noProof="1"/>
          </a:p>
        </p:txBody>
      </p:sp>
      <p:sp>
        <p:nvSpPr>
          <p:cNvPr id="4" name="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965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23B2F"/>
                </a:solidFill>
                <a:latin typeface="MiSans"/>
                <a:ea typeface="MiSans"/>
              </a:rPr>
              <a:t>Контур данных и разработки: как решение строится и живёт</a:t>
            </a:r>
            <a:endParaRPr lang="en-US" sz="2300" noProof="1"/>
          </a:p>
        </p:txBody>
      </p:sp>
      <p:sp>
        <p:nvSpPr>
          <p:cNvPr id="10" name="sep1"/>
          <p:cNvSpPr/>
          <p:nvPr/>
        </p:nvSpPr>
        <p:spPr>
          <a:xfrm>
            <a:off x="609600" y="1528164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11" name="r2-c"/>
          <p:cNvSpPr/>
          <p:nvPr/>
        </p:nvSpPr>
        <p:spPr>
          <a:xfrm>
            <a:off x="609600" y="1604468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2" name="r2-i"/>
          <p:cNvSpPr txBox="1"/>
          <p:nvPr/>
        </p:nvSpPr>
        <p:spPr>
          <a:xfrm>
            <a:off x="609600" y="1596918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E.A.</a:t>
            </a:r>
            <a:endParaRPr lang="en-US" sz="1400" noProof="1"/>
          </a:p>
        </p:txBody>
      </p:sp>
      <p:sp>
        <p:nvSpPr>
          <p:cNvPr id="14" name="r2-d"/>
          <p:cNvSpPr txBox="1"/>
          <p:nvPr/>
        </p:nvSpPr>
        <p:spPr>
          <a:xfrm>
            <a:off x="4745393" y="1553830"/>
            <a:ext cx="67691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Разрабатывает базы данных и ETL-процессы, строит OLAP-кубы и аналитические витрины для отчётности по затратам на персонал. Отвечает за производительность и корректность 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расчётов.</a:t>
            </a:r>
            <a:endParaRPr lang="en-US" sz="1150" noProof="1"/>
          </a:p>
        </p:txBody>
      </p:sp>
      <p:sp>
        <p:nvSpPr>
          <p:cNvPr id="15" name="sep2"/>
          <p:cNvSpPr/>
          <p:nvPr/>
        </p:nvSpPr>
        <p:spPr>
          <a:xfrm>
            <a:off x="582693" y="3531543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16" name="r3-c"/>
          <p:cNvSpPr/>
          <p:nvPr/>
        </p:nvSpPr>
        <p:spPr>
          <a:xfrm>
            <a:off x="582693" y="3626597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17" name="r3-i"/>
          <p:cNvSpPr txBox="1"/>
          <p:nvPr/>
        </p:nvSpPr>
        <p:spPr>
          <a:xfrm>
            <a:off x="571500" y="4505893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23B2F"/>
                </a:solidFill>
                <a:latin typeface="MiSans"/>
                <a:ea typeface="MiSans"/>
              </a:rPr>
              <a:t>A.Kor.</a:t>
            </a:r>
            <a:endParaRPr lang="en-US" sz="1200" noProof="1"/>
          </a:p>
        </p:txBody>
      </p:sp>
      <p:sp>
        <p:nvSpPr>
          <p:cNvPr id="18" name="r3-n"/>
          <p:cNvSpPr txBox="1"/>
          <p:nvPr/>
        </p:nvSpPr>
        <p:spPr>
          <a:xfrm>
            <a:off x="1557585" y="4571306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A.Kor.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Разработчик </a:t>
            </a:r>
            <a:r>
              <a:rPr lang="en-US" sz="1100" noProof="1" smtClean="0">
                <a:solidFill>
                  <a:srgbClr val="B08D3E"/>
                </a:solidFill>
                <a:latin typeface="MiSans"/>
                <a:ea typeface="MiSans"/>
              </a:rPr>
              <a:t>HCM</a:t>
            </a:r>
            <a:r>
              <a:rPr lang="ru-RU" sz="1100" noProof="1" smtClean="0">
                <a:solidFill>
                  <a:srgbClr val="B08D3E"/>
                </a:solidFill>
                <a:latin typeface="MiSans"/>
                <a:ea typeface="MiSans"/>
              </a:rPr>
              <a:t>С</a:t>
            </a:r>
            <a:endParaRPr lang="en-US" sz="1600" noProof="1"/>
          </a:p>
        </p:txBody>
      </p:sp>
      <p:sp>
        <p:nvSpPr>
          <p:cNvPr id="19" name="r3-d"/>
          <p:cNvSpPr txBox="1"/>
          <p:nvPr/>
        </p:nvSpPr>
        <p:spPr>
          <a:xfrm>
            <a:off x="4718486" y="4645345"/>
            <a:ext cx="6731000" cy="6461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Разрабатывает 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HCM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С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,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реализует интеграционные связки между 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HCMC </a:t>
            </a:r>
            <a:r>
              <a:rPr lang="ru-RU" sz="1150" noProof="1" smtClean="0">
                <a:solidFill>
                  <a:srgbClr val="33302A"/>
                </a:solidFill>
                <a:latin typeface="MiSans"/>
                <a:ea typeface="MiSans"/>
              </a:rPr>
              <a:t>и 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HC Tracker.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Совместно с бизнес-аналитиком отрабатывает UX-сценарии планирования и согласования.</a:t>
            </a:r>
            <a:endParaRPr lang="en-US" sz="1150" noProof="1"/>
          </a:p>
        </p:txBody>
      </p:sp>
      <p:sp>
        <p:nvSpPr>
          <p:cNvPr id="20" name="sep3"/>
          <p:cNvSpPr/>
          <p:nvPr/>
        </p:nvSpPr>
        <p:spPr>
          <a:xfrm>
            <a:off x="571500" y="4457678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22" name="r4-i"/>
          <p:cNvSpPr txBox="1"/>
          <p:nvPr/>
        </p:nvSpPr>
        <p:spPr>
          <a:xfrm>
            <a:off x="609600" y="3619047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23B2F"/>
                </a:solidFill>
                <a:latin typeface="MiSans"/>
                <a:ea typeface="MiSans"/>
              </a:rPr>
              <a:t>A.Kol.</a:t>
            </a:r>
            <a:endParaRPr lang="en-US" sz="1200" noProof="1"/>
          </a:p>
        </p:txBody>
      </p:sp>
      <p:sp>
        <p:nvSpPr>
          <p:cNvPr id="23" name="r4-n"/>
          <p:cNvSpPr txBox="1"/>
          <p:nvPr/>
        </p:nvSpPr>
        <p:spPr>
          <a:xfrm>
            <a:off x="1498600" y="362873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A.Kol.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Бизнес-аналитик</a:t>
            </a:r>
            <a:endParaRPr lang="en-US" sz="1600" noProof="1"/>
          </a:p>
        </p:txBody>
      </p:sp>
      <p:sp>
        <p:nvSpPr>
          <p:cNvPr id="24" name="r4-d"/>
          <p:cNvSpPr txBox="1"/>
          <p:nvPr/>
        </p:nvSpPr>
        <p:spPr>
          <a:xfrm>
            <a:off x="4718486" y="3567058"/>
            <a:ext cx="673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Собирает и формализует требования, моделирует процессы бюджетирования, готовит постановки для разработки. Обеспечивает </a:t>
            </a:r>
            <a:r>
              <a:rPr lang="ru-RU" sz="1150" noProof="1">
                <a:solidFill>
                  <a:srgbClr val="33302A"/>
                </a:solidFill>
                <a:latin typeface="MiSans"/>
                <a:ea typeface="MiSans"/>
              </a:rPr>
              <a:t>прослеживаемость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: от требования заказчика до проверки результата на </a:t>
            </a:r>
            <a:r>
              <a:rPr lang="en-US" sz="1150" noProof="1">
                <a:latin typeface="MiSans"/>
                <a:ea typeface="MiSans"/>
              </a:rPr>
              <a:t>приёмке.</a:t>
            </a:r>
            <a:endParaRPr lang="en-US" sz="1150" noProof="1"/>
          </a:p>
        </p:txBody>
      </p:sp>
      <p:sp>
        <p:nvSpPr>
          <p:cNvPr id="25" name="sep4"/>
          <p:cNvSpPr/>
          <p:nvPr/>
        </p:nvSpPr>
        <p:spPr>
          <a:xfrm>
            <a:off x="609600" y="5303892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26" name="r5-c"/>
          <p:cNvSpPr/>
          <p:nvPr/>
        </p:nvSpPr>
        <p:spPr>
          <a:xfrm>
            <a:off x="609600" y="5359400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</p:sp>
      <p:sp>
        <p:nvSpPr>
          <p:cNvPr id="27" name="r5-i"/>
          <p:cNvSpPr txBox="1"/>
          <p:nvPr/>
        </p:nvSpPr>
        <p:spPr>
          <a:xfrm>
            <a:off x="609600" y="53594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23B2F"/>
                </a:solidFill>
                <a:latin typeface="MiSans"/>
                <a:ea typeface="MiSans"/>
              </a:rPr>
              <a:t>E.P.</a:t>
            </a:r>
            <a:endParaRPr lang="en-US" sz="1400" noProof="1"/>
          </a:p>
        </p:txBody>
      </p:sp>
      <p:sp>
        <p:nvSpPr>
          <p:cNvPr id="28" name="r5-n"/>
          <p:cNvSpPr txBox="1"/>
          <p:nvPr/>
        </p:nvSpPr>
        <p:spPr>
          <a:xfrm>
            <a:off x="1467603" y="5445103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123B2F"/>
                </a:solidFill>
                <a:latin typeface="MiSans"/>
                <a:ea typeface="MiSans"/>
              </a:rPr>
              <a:t>E.P.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B08D3E"/>
                </a:solidFill>
                <a:latin typeface="MiSans"/>
                <a:ea typeface="MiSans"/>
              </a:rPr>
              <a:t>Поддержка проекта</a:t>
            </a:r>
            <a:endParaRPr lang="en-US" sz="1600" noProof="1"/>
          </a:p>
        </p:txBody>
      </p:sp>
      <p:sp>
        <p:nvSpPr>
          <p:cNvPr id="29" name="r5-d"/>
          <p:cNvSpPr txBox="1"/>
          <p:nvPr/>
        </p:nvSpPr>
        <p:spPr>
          <a:xfrm>
            <a:off x="4753357" y="5491867"/>
            <a:ext cx="6731000" cy="4977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Операционная поддержка команды:</a:t>
            </a:r>
            <a:r>
              <a:rPr lang="ru-RU" sz="1150" noProof="1">
                <a:solidFill>
                  <a:srgbClr val="33302A"/>
                </a:solidFill>
                <a:latin typeface="MiSans"/>
                <a:ea typeface="MiSans"/>
              </a:rPr>
              <a:t> выверка данных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,</a:t>
            </a:r>
            <a:r>
              <a:rPr lang="ru-RU" sz="1150" noProof="1">
                <a:solidFill>
                  <a:srgbClr val="33302A"/>
                </a:solidFill>
                <a:latin typeface="MiSans"/>
                <a:ea typeface="MiSans"/>
              </a:rPr>
              <a:t>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ad-hoc </a:t>
            </a:r>
            <a:r>
              <a:rPr lang="ru-RU" sz="1150" noProof="1">
                <a:solidFill>
                  <a:srgbClr val="33302A"/>
                </a:solidFill>
                <a:latin typeface="MiSans"/>
                <a:ea typeface="MiSans"/>
              </a:rPr>
              <a:t>задачи </a:t>
            </a:r>
            <a:endParaRPr lang="en-US" sz="1150" noProof="1"/>
          </a:p>
        </p:txBody>
      </p:sp>
      <p:sp>
        <p:nvSpPr>
          <p:cNvPr id="30" name="sep5"/>
          <p:cNvSpPr/>
          <p:nvPr/>
        </p:nvSpPr>
        <p:spPr>
          <a:xfrm>
            <a:off x="609600" y="6172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31" name="footer"/>
          <p:cNvSpPr txBox="1"/>
          <p:nvPr/>
        </p:nvSpPr>
        <p:spPr>
          <a:xfrm>
            <a:off x="609600" y="65024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6E685B"/>
                </a:solidFill>
                <a:latin typeface="IBM Plex Mono"/>
                <a:ea typeface="IBM Plex Mono"/>
              </a:rPr>
              <a:t>БЮДЖЕТНАЯ СИСТЕМА · ЗАТРАТЫ НА ПЕРСОНАЛ · РОЛИ КОМАНДЫ</a:t>
            </a:r>
            <a:endParaRPr lang="en-US" sz="900" noProof="1"/>
          </a:p>
        </p:txBody>
      </p:sp>
      <p:sp>
        <p:nvSpPr>
          <p:cNvPr id="37" name="r4-d">
            <a:extLst>
              <a:ext uri="{FF2B5EF4-FFF2-40B4-BE49-F238E27FC236}">
                <a16:creationId xmlns:a16="http://schemas.microsoft.com/office/drawing/2014/main" id="{4DA85D58-14A6-46CA-A44E-7FD513A0235A}"/>
              </a:ext>
            </a:extLst>
          </p:cNvPr>
          <p:cNvSpPr txBox="1"/>
          <p:nvPr/>
        </p:nvSpPr>
        <p:spPr>
          <a:xfrm>
            <a:off x="4718486" y="2399846"/>
            <a:ext cx="6674818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Формирует </a:t>
            </a:r>
            <a:r>
              <a:rPr lang="en-US" sz="1150" noProof="1">
                <a:solidFill>
                  <a:srgbClr val="33302A"/>
                </a:solidFill>
                <a:latin typeface="MiSans"/>
                <a:ea typeface="MiSans"/>
              </a:rPr>
              <a:t>правила планирования затрат на персонал, анализирует массивы данных, проверяет корректность расчётов и их сходимость с учётными системами</a:t>
            </a:r>
            <a:r>
              <a:rPr lang="en-US" sz="1150" noProof="1" smtClean="0">
                <a:solidFill>
                  <a:srgbClr val="33302A"/>
                </a:solidFill>
                <a:latin typeface="MiSans"/>
                <a:ea typeface="MiSans"/>
              </a:rPr>
              <a:t>.</a:t>
            </a:r>
            <a:r>
              <a:rPr lang="ru-RU" sz="1150" noProof="1">
                <a:solidFill>
                  <a:srgbClr val="33302A"/>
                </a:solidFill>
              </a:rPr>
              <a:t> </a:t>
            </a:r>
            <a:r>
              <a:rPr lang="ru-RU" sz="1150" noProof="1" smtClean="0">
                <a:solidFill>
                  <a:srgbClr val="33302A"/>
                </a:solidFill>
              </a:rPr>
              <a:t>Обеспечивает соответствие </a:t>
            </a:r>
            <a:r>
              <a:rPr lang="ru-RU" sz="1150" noProof="1">
                <a:solidFill>
                  <a:srgbClr val="33302A"/>
                </a:solidFill>
              </a:rPr>
              <a:t>системы требованиям </a:t>
            </a:r>
            <a:r>
              <a:rPr lang="ru-RU" sz="1150" noProof="1" smtClean="0">
                <a:solidFill>
                  <a:srgbClr val="33302A"/>
                </a:solidFill>
              </a:rPr>
              <a:t>финансовой дирекции (новый периметр) </a:t>
            </a:r>
            <a:r>
              <a:rPr lang="ru-RU" sz="1150" noProof="1" smtClean="0">
                <a:solidFill>
                  <a:srgbClr val="33302A"/>
                </a:solidFill>
              </a:rPr>
              <a:t>и координирует требования и результат с заказчиками</a:t>
            </a:r>
            <a:endParaRPr lang="ru-RU" sz="1150" noProof="1">
              <a:solidFill>
                <a:srgbClr val="33302A"/>
              </a:solidFill>
            </a:endParaRPr>
          </a:p>
          <a:p>
            <a:pPr algn="l">
              <a:lnSpc>
                <a:spcPct val="155000"/>
              </a:lnSpc>
            </a:pPr>
            <a:endParaRPr lang="en-US" sz="1150" noProof="1"/>
          </a:p>
        </p:txBody>
      </p:sp>
      <p:sp>
        <p:nvSpPr>
          <p:cNvPr id="38" name="r2-c">
            <a:extLst>
              <a:ext uri="{FF2B5EF4-FFF2-40B4-BE49-F238E27FC236}">
                <a16:creationId xmlns:a16="http://schemas.microsoft.com/office/drawing/2014/main" id="{9BFB8C7B-C389-4654-A997-938DA41FEB6C}"/>
              </a:ext>
            </a:extLst>
          </p:cNvPr>
          <p:cNvSpPr/>
          <p:nvPr/>
        </p:nvSpPr>
        <p:spPr>
          <a:xfrm>
            <a:off x="582693" y="2597400"/>
            <a:ext cx="660400" cy="660400"/>
          </a:xfrm>
          <a:prstGeom prst="ellipse">
            <a:avLst/>
          </a:prstGeom>
          <a:solidFill>
            <a:srgbClr val="EFE9DA"/>
          </a:solidFill>
          <a:ln w="15875">
            <a:solidFill>
              <a:srgbClr val="123B2F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35" name="r4-i">
            <a:extLst>
              <a:ext uri="{FF2B5EF4-FFF2-40B4-BE49-F238E27FC236}">
                <a16:creationId xmlns:a16="http://schemas.microsoft.com/office/drawing/2014/main" id="{59D96C6D-12C8-48E0-9D1E-0F1AE2E2E5CF}"/>
              </a:ext>
            </a:extLst>
          </p:cNvPr>
          <p:cNvSpPr txBox="1"/>
          <p:nvPr/>
        </p:nvSpPr>
        <p:spPr>
          <a:xfrm>
            <a:off x="582693" y="258985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23B2F"/>
                </a:solidFill>
                <a:latin typeface="MiSans"/>
                <a:ea typeface="MiSans"/>
              </a:rPr>
              <a:t>Yu.R.</a:t>
            </a:r>
            <a:endParaRPr lang="en-US" sz="1300" noProof="1"/>
          </a:p>
        </p:txBody>
      </p:sp>
      <p:sp>
        <p:nvSpPr>
          <p:cNvPr id="39" name="sep2">
            <a:extLst>
              <a:ext uri="{FF2B5EF4-FFF2-40B4-BE49-F238E27FC236}">
                <a16:creationId xmlns:a16="http://schemas.microsoft.com/office/drawing/2014/main" id="{9F667228-F019-4413-BA7D-717B57EF86E3}"/>
              </a:ext>
            </a:extLst>
          </p:cNvPr>
          <p:cNvSpPr/>
          <p:nvPr/>
        </p:nvSpPr>
        <p:spPr>
          <a:xfrm>
            <a:off x="762000" y="2417708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4871" y="0"/>
            <a:ext cx="12192000" cy="7148594"/>
          </a:xfrm>
          <a:prstGeom prst="rect">
            <a:avLst/>
          </a:prstGeom>
          <a:solidFill>
            <a:srgbClr val="F7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op-label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ru-RU" sz="950" kern="0" spc="200" noProof="1" smtClean="0">
                <a:solidFill>
                  <a:srgbClr val="6E685B"/>
                </a:solidFill>
                <a:latin typeface="IBM Plex Mono"/>
                <a:ea typeface="IBM Plex Mono"/>
              </a:rPr>
              <a:t>ПОЛЬЗОВАТЕЛИ СИСТЕМЫ</a:t>
            </a:r>
            <a:endParaRPr lang="en-US" sz="950" noProof="1"/>
          </a:p>
        </p:txBody>
      </p:sp>
      <p:sp>
        <p:nvSpPr>
          <p:cNvPr id="5" name="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609600" y="1254072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300" b="1" noProof="1" smtClean="0">
                <a:solidFill>
                  <a:srgbClr val="123B2F"/>
                </a:solidFill>
              </a:rPr>
              <a:t>Пользователи системы – </a:t>
            </a:r>
            <a:r>
              <a:rPr lang="en-US" sz="2300" b="1" noProof="1" smtClean="0">
                <a:solidFill>
                  <a:srgbClr val="123B2F"/>
                </a:solidFill>
              </a:rPr>
              <a:t>to be discussed</a:t>
            </a:r>
            <a:endParaRPr lang="ru-RU" sz="2300" b="1" noProof="1">
              <a:solidFill>
                <a:srgbClr val="123B2F"/>
              </a:solidFill>
            </a:endParaRPr>
          </a:p>
          <a:p>
            <a:pPr algn="l">
              <a:lnSpc>
                <a:spcPct val="120000"/>
              </a:lnSpc>
            </a:pPr>
            <a:endParaRPr lang="en-US" sz="2300" noProof="1"/>
          </a:p>
        </p:txBody>
      </p:sp>
    </p:spTree>
    <p:extLst>
      <p:ext uri="{BB962C8B-B14F-4D97-AF65-F5344CB8AC3E}">
        <p14:creationId xmlns:p14="http://schemas.microsoft.com/office/powerpoint/2010/main" val="329116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4871" y="0"/>
            <a:ext cx="12192000" cy="7148594"/>
          </a:xfrm>
          <a:prstGeom prst="rect">
            <a:avLst/>
          </a:prstGeom>
          <a:solidFill>
            <a:srgbClr val="F7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op-label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ru-RU" sz="950" kern="0" spc="200" noProof="1" smtClean="0">
                <a:solidFill>
                  <a:srgbClr val="6E685B"/>
                </a:solidFill>
                <a:latin typeface="IBM Plex Mono"/>
              </a:rPr>
              <a:t>ПРАВИЛА ПРИНЯТИЯ РЕШЕНИЙ</a:t>
            </a:r>
            <a:endParaRPr lang="en-US" sz="950" noProof="1"/>
          </a:p>
        </p:txBody>
      </p:sp>
      <p:sp>
        <p:nvSpPr>
          <p:cNvPr id="5" name="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609600" y="1254072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300" b="1" noProof="1">
                <a:solidFill>
                  <a:srgbClr val="123B2F"/>
                </a:solidFill>
              </a:rPr>
              <a:t>Правила принятия решений </a:t>
            </a:r>
            <a:r>
              <a:rPr lang="ru-RU" sz="2300" b="1" noProof="1">
                <a:solidFill>
                  <a:srgbClr val="123B2F"/>
                </a:solidFill>
              </a:rPr>
              <a:t>по </a:t>
            </a:r>
            <a:r>
              <a:rPr lang="ru-RU" sz="2300" b="1" noProof="1" smtClean="0">
                <a:solidFill>
                  <a:srgbClr val="123B2F"/>
                </a:solidFill>
              </a:rPr>
              <a:t>проекту</a:t>
            </a:r>
            <a:r>
              <a:rPr lang="en-US" sz="2300" b="1" noProof="1" smtClean="0">
                <a:solidFill>
                  <a:srgbClr val="123B2F"/>
                </a:solidFill>
              </a:rPr>
              <a:t>, </a:t>
            </a:r>
            <a:r>
              <a:rPr lang="ru-RU" sz="2300" b="1" noProof="1" smtClean="0">
                <a:solidFill>
                  <a:srgbClr val="123B2F"/>
                </a:solidFill>
              </a:rPr>
              <a:t>какой кворум</a:t>
            </a:r>
            <a:r>
              <a:rPr lang="en-US" sz="2300" b="1" noProof="1" smtClean="0">
                <a:solidFill>
                  <a:srgbClr val="123B2F"/>
                </a:solidFill>
              </a:rPr>
              <a:t> – to be disscused</a:t>
            </a:r>
            <a:endParaRPr lang="ru-RU" sz="2300" b="1" noProof="1">
              <a:solidFill>
                <a:srgbClr val="123B2F"/>
              </a:solidFill>
            </a:endParaRPr>
          </a:p>
          <a:p>
            <a:pPr algn="l">
              <a:lnSpc>
                <a:spcPct val="120000"/>
              </a:lnSpc>
            </a:pPr>
            <a:endParaRPr lang="en-US" sz="2300" noProof="1"/>
          </a:p>
        </p:txBody>
      </p:sp>
    </p:spTree>
    <p:extLst>
      <p:ext uri="{BB962C8B-B14F-4D97-AF65-F5344CB8AC3E}">
        <p14:creationId xmlns:p14="http://schemas.microsoft.com/office/powerpoint/2010/main" val="18470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4871" y="0"/>
            <a:ext cx="12192000" cy="7148594"/>
          </a:xfrm>
          <a:prstGeom prst="rect">
            <a:avLst/>
          </a:prstGeom>
          <a:solidFill>
            <a:srgbClr val="F7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op-label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ru-RU" sz="950" kern="0" spc="200" noProof="1" smtClean="0">
                <a:solidFill>
                  <a:srgbClr val="6E685B"/>
                </a:solidFill>
                <a:latin typeface="IBM Plex Mono"/>
              </a:rPr>
              <a:t>ПРОЕКТНАЯ ДОКУМЕНТАЦИЯ</a:t>
            </a:r>
            <a:endParaRPr lang="en-US" sz="950" noProof="1"/>
          </a:p>
        </p:txBody>
      </p:sp>
      <p:sp>
        <p:nvSpPr>
          <p:cNvPr id="5" name="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5C3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609600" y="1254072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300" b="1" noProof="1">
                <a:solidFill>
                  <a:srgbClr val="123B2F"/>
                </a:solidFill>
              </a:rPr>
              <a:t>Ссылки на проектную документацию и источники</a:t>
            </a:r>
          </a:p>
          <a:p>
            <a:pPr algn="l">
              <a:lnSpc>
                <a:spcPct val="120000"/>
              </a:lnSpc>
            </a:pPr>
            <a:endParaRPr lang="en-US" sz="2300" noProof="1"/>
          </a:p>
        </p:txBody>
      </p:sp>
    </p:spTree>
    <p:extLst>
      <p:ext uri="{BB962C8B-B14F-4D97-AF65-F5344CB8AC3E}">
        <p14:creationId xmlns:p14="http://schemas.microsoft.com/office/powerpoint/2010/main" val="891720007"/>
      </p:ext>
    </p:extLst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454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IBM Plex Mono</vt:lpstr>
      <vt:lpstr>MiSans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Роли проектной команды — бюджетная система по затратам на персонал</dc:title>
  <dc:creator>Anna Obycheva</dc:creator>
  <cp:lastModifiedBy>Obycheva, Anna</cp:lastModifiedBy>
  <cp:revision>11</cp:revision>
  <dcterms:modified xsi:type="dcterms:W3CDTF">2026-08-18T15:17:09Z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
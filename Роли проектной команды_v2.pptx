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9" r:id="rId3"/>
    <p:sldId id="260" r:id="rId4"/>
  </p:sldIdLst>
  <p:sldSz cx="12192000" cy="6858000"/>
  <p:notesSz cx="12192000" cy="6858000"/>
  <p:embeddedFontLst>
    <p:embeddedFont>
      <p:font typeface="MiSans" panose="020B0604020202020204" charset="-122"/>
      <p:regular r:id="rId5"/>
    </p:embeddedFont>
    <p:embeddedFont>
      <p:font typeface="IBM Plex Mono" panose="020B0509050203000203" pitchFamily="49" charset="-52"/>
      <p:regular r:id="rId6"/>
      <p:bold r:id="rId7"/>
      <p:italic r:id="rId8"/>
      <p:boldItalic r:id="rId9"/>
    </p:embeddedFont>
  </p:embeddedFont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79" d="100"/>
          <a:sy n="79" d="100"/>
        </p:scale>
        <p:origin x="567" y="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4.fntdata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font" Target="fonts/font3.fntdata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2.fntdata"/><Relationship Id="rId11" Type="http://schemas.openxmlformats.org/officeDocument/2006/relationships/viewProps" Target="viewProps.xml"/><Relationship Id="rId5" Type="http://schemas.openxmlformats.org/officeDocument/2006/relationships/font" Target="fonts/font1.fntdata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font" Target="fonts/font5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-dzh"/>
          <p:cNvSpPr/>
          <p:nvPr/>
        </p:nvSpPr>
        <p:spPr>
          <a:xfrm>
            <a:off x="9042400" y="1066800"/>
            <a:ext cx="1270000" cy="1270000"/>
          </a:xfrm>
          <a:prstGeom prst="ellipse">
            <a:avLst/>
          </a:prstGeom>
          <a:solidFill>
            <a:srgbClr val="EFE9DA"/>
          </a:solidFill>
          <a:ln w="15875">
            <a:solidFill>
              <a:srgbClr val="123B2F"/>
            </a:solidFill>
          </a:ln>
        </p:spPr>
      </p:sp>
      <p:sp>
        <p:nvSpPr>
          <p:cNvPr id="13" name="c-ao"/>
          <p:cNvSpPr/>
          <p:nvPr/>
        </p:nvSpPr>
        <p:spPr>
          <a:xfrm>
            <a:off x="7366000" y="2540000"/>
            <a:ext cx="1168400" cy="1168400"/>
          </a:xfrm>
          <a:prstGeom prst="ellipse">
            <a:avLst/>
          </a:prstGeom>
          <a:solidFill>
            <a:srgbClr val="EFE9DA"/>
          </a:solidFill>
          <a:ln w="15875">
            <a:solidFill>
              <a:srgbClr val="123B2F"/>
            </a:solidFill>
          </a:ln>
        </p:spPr>
      </p:sp>
      <p:sp>
        <p:nvSpPr>
          <p:cNvPr id="14" name="c-vd"/>
          <p:cNvSpPr/>
          <p:nvPr/>
        </p:nvSpPr>
        <p:spPr>
          <a:xfrm>
            <a:off x="9144000" y="2921000"/>
            <a:ext cx="1066800" cy="1066800"/>
          </a:xfrm>
          <a:prstGeom prst="ellipse">
            <a:avLst/>
          </a:prstGeom>
          <a:solidFill>
            <a:srgbClr val="EFE9DA"/>
          </a:solidFill>
          <a:ln w="15875">
            <a:solidFill>
              <a:srgbClr val="123B2F"/>
            </a:solidFill>
          </a:ln>
        </p:spPr>
      </p:sp>
      <p:sp>
        <p:nvSpPr>
          <p:cNvPr id="15" name="c-ee"/>
          <p:cNvSpPr/>
          <p:nvPr/>
        </p:nvSpPr>
        <p:spPr>
          <a:xfrm>
            <a:off x="10820400" y="1905000"/>
            <a:ext cx="965200" cy="965200"/>
          </a:xfrm>
          <a:prstGeom prst="ellipse">
            <a:avLst/>
          </a:prstGeom>
          <a:solidFill>
            <a:srgbClr val="EFE9DA"/>
          </a:solidFill>
          <a:ln w="15875">
            <a:solidFill>
              <a:srgbClr val="123B2F"/>
            </a:solidFill>
          </a:ln>
        </p:spPr>
      </p:sp>
      <p:sp>
        <p:nvSpPr>
          <p:cNvPr id="16" name="c-so"/>
          <p:cNvSpPr/>
          <p:nvPr/>
        </p:nvSpPr>
        <p:spPr>
          <a:xfrm>
            <a:off x="10922000" y="3556000"/>
            <a:ext cx="1016000" cy="1016000"/>
          </a:xfrm>
          <a:prstGeom prst="ellipse">
            <a:avLst/>
          </a:prstGeom>
          <a:solidFill>
            <a:srgbClr val="EFE9DA"/>
          </a:solidFill>
          <a:ln w="15875">
            <a:solidFill>
              <a:srgbClr val="123B2F"/>
            </a:solidFill>
          </a:ln>
        </p:spPr>
      </p:sp>
      <p:sp>
        <p:nvSpPr>
          <p:cNvPr id="17" name="c-ea"/>
          <p:cNvSpPr/>
          <p:nvPr/>
        </p:nvSpPr>
        <p:spPr>
          <a:xfrm>
            <a:off x="7874000" y="4445000"/>
            <a:ext cx="1066800" cy="1066800"/>
          </a:xfrm>
          <a:prstGeom prst="ellipse">
            <a:avLst/>
          </a:prstGeom>
          <a:solidFill>
            <a:srgbClr val="EFE9DA"/>
          </a:solidFill>
          <a:ln w="15875">
            <a:solidFill>
              <a:srgbClr val="123B2F"/>
            </a:solidFill>
          </a:ln>
        </p:spPr>
      </p:sp>
      <p:sp>
        <p:nvSpPr>
          <p:cNvPr id="18" name="c-yur"/>
          <p:cNvSpPr/>
          <p:nvPr/>
        </p:nvSpPr>
        <p:spPr>
          <a:xfrm>
            <a:off x="9652000" y="4826000"/>
            <a:ext cx="1016000" cy="1016000"/>
          </a:xfrm>
          <a:prstGeom prst="ellipse">
            <a:avLst/>
          </a:prstGeom>
          <a:solidFill>
            <a:srgbClr val="EFE9DA"/>
          </a:solidFill>
          <a:ln w="15875">
            <a:solidFill>
              <a:srgbClr val="123B2F"/>
            </a:solidFill>
          </a:ln>
        </p:spPr>
      </p:sp>
      <p:sp>
        <p:nvSpPr>
          <p:cNvPr id="19" name="c-akor"/>
          <p:cNvSpPr/>
          <p:nvPr/>
        </p:nvSpPr>
        <p:spPr>
          <a:xfrm>
            <a:off x="7493000" y="1219200"/>
            <a:ext cx="914400" cy="914400"/>
          </a:xfrm>
          <a:prstGeom prst="ellipse">
            <a:avLst/>
          </a:prstGeom>
          <a:solidFill>
            <a:srgbClr val="EFE9DA"/>
          </a:solidFill>
          <a:ln w="15875">
            <a:solidFill>
              <a:srgbClr val="123B2F"/>
            </a:solidFill>
          </a:ln>
        </p:spPr>
      </p:sp>
      <p:sp>
        <p:nvSpPr>
          <p:cNvPr id="20" name="c-akol"/>
          <p:cNvSpPr/>
          <p:nvPr/>
        </p:nvSpPr>
        <p:spPr>
          <a:xfrm>
            <a:off x="11074400" y="5130800"/>
            <a:ext cx="863600" cy="863600"/>
          </a:xfrm>
          <a:prstGeom prst="ellipse">
            <a:avLst/>
          </a:prstGeom>
          <a:solidFill>
            <a:srgbClr val="EFE9DA"/>
          </a:solidFill>
          <a:ln w="15875">
            <a:solidFill>
              <a:srgbClr val="123B2F"/>
            </a:solidFill>
          </a:ln>
        </p:spPr>
      </p:sp>
      <p:sp>
        <p:nvSpPr>
          <p:cNvPr id="21" name="c-ep"/>
          <p:cNvSpPr/>
          <p:nvPr/>
        </p:nvSpPr>
        <p:spPr>
          <a:xfrm>
            <a:off x="8788400" y="5740400"/>
            <a:ext cx="812800" cy="812800"/>
          </a:xfrm>
          <a:prstGeom prst="ellipse">
            <a:avLst/>
          </a:prstGeom>
          <a:solidFill>
            <a:srgbClr val="EFE9DA"/>
          </a:solidFill>
          <a:ln w="15875">
            <a:solidFill>
              <a:srgbClr val="123B2F"/>
            </a:solidFill>
          </a:ln>
        </p:spPr>
      </p:sp>
      <p:sp>
        <p:nvSpPr>
          <p:cNvPr id="22" name="t-dzh"/>
          <p:cNvSpPr txBox="1"/>
          <p:nvPr/>
        </p:nvSpPr>
        <p:spPr>
          <a:xfrm>
            <a:off x="9042400" y="1066800"/>
            <a:ext cx="1270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700" b="1" noProof="1">
                <a:solidFill>
                  <a:srgbClr val="123B2F"/>
                </a:solidFill>
                <a:latin typeface="MiSans"/>
                <a:ea typeface="MiSans"/>
              </a:rPr>
              <a:t>D.Zh.</a:t>
            </a:r>
            <a:endParaRPr lang="en-US" sz="1700" noProof="1"/>
          </a:p>
        </p:txBody>
      </p:sp>
      <p:sp>
        <p:nvSpPr>
          <p:cNvPr id="23" name="t-ao"/>
          <p:cNvSpPr txBox="1"/>
          <p:nvPr/>
        </p:nvSpPr>
        <p:spPr>
          <a:xfrm>
            <a:off x="7366000" y="2514600"/>
            <a:ext cx="1168400" cy="1168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600" b="1" noProof="1">
                <a:solidFill>
                  <a:srgbClr val="123B2F"/>
                </a:solidFill>
                <a:latin typeface="MiSans"/>
                <a:ea typeface="MiSans"/>
              </a:rPr>
              <a:t>A.O.</a:t>
            </a:r>
            <a:endParaRPr lang="en-US" sz="1600" noProof="1"/>
          </a:p>
        </p:txBody>
      </p:sp>
      <p:sp>
        <p:nvSpPr>
          <p:cNvPr id="24" name="t-vd"/>
          <p:cNvSpPr txBox="1"/>
          <p:nvPr/>
        </p:nvSpPr>
        <p:spPr>
          <a:xfrm>
            <a:off x="9144000" y="2921000"/>
            <a:ext cx="1066800" cy="1066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b="1" noProof="1">
                <a:solidFill>
                  <a:srgbClr val="123B2F"/>
                </a:solidFill>
                <a:latin typeface="MiSans"/>
                <a:ea typeface="MiSans"/>
              </a:rPr>
              <a:t>V.D.</a:t>
            </a:r>
            <a:endParaRPr lang="en-US" sz="1400" noProof="1"/>
          </a:p>
        </p:txBody>
      </p:sp>
      <p:sp>
        <p:nvSpPr>
          <p:cNvPr id="25" name="t-ee"/>
          <p:cNvSpPr txBox="1"/>
          <p:nvPr/>
        </p:nvSpPr>
        <p:spPr>
          <a:xfrm>
            <a:off x="10820400" y="1905000"/>
            <a:ext cx="965200" cy="965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300" b="1" noProof="1">
                <a:solidFill>
                  <a:srgbClr val="123B2F"/>
                </a:solidFill>
                <a:latin typeface="MiSans"/>
                <a:ea typeface="MiSans"/>
              </a:rPr>
              <a:t>E.E.</a:t>
            </a:r>
            <a:endParaRPr lang="en-US" sz="1300" noProof="1"/>
          </a:p>
        </p:txBody>
      </p:sp>
      <p:sp>
        <p:nvSpPr>
          <p:cNvPr id="26" name="t-so"/>
          <p:cNvSpPr txBox="1"/>
          <p:nvPr/>
        </p:nvSpPr>
        <p:spPr>
          <a:xfrm>
            <a:off x="10922000" y="3556000"/>
            <a:ext cx="1016000" cy="1016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300" b="1" noProof="1">
                <a:solidFill>
                  <a:srgbClr val="123B2F"/>
                </a:solidFill>
                <a:latin typeface="MiSans"/>
                <a:ea typeface="MiSans"/>
              </a:rPr>
              <a:t>S.O.</a:t>
            </a:r>
            <a:endParaRPr lang="en-US" sz="1300" noProof="1"/>
          </a:p>
        </p:txBody>
      </p:sp>
      <p:sp>
        <p:nvSpPr>
          <p:cNvPr id="27" name="t-ea"/>
          <p:cNvSpPr txBox="1"/>
          <p:nvPr/>
        </p:nvSpPr>
        <p:spPr>
          <a:xfrm>
            <a:off x="7874000" y="4445000"/>
            <a:ext cx="1066800" cy="1066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b="1" noProof="1">
                <a:solidFill>
                  <a:srgbClr val="123B2F"/>
                </a:solidFill>
                <a:latin typeface="MiSans"/>
                <a:ea typeface="MiSans"/>
              </a:rPr>
              <a:t>E.A.</a:t>
            </a:r>
            <a:endParaRPr lang="en-US" sz="1400" noProof="1"/>
          </a:p>
        </p:txBody>
      </p:sp>
      <p:sp>
        <p:nvSpPr>
          <p:cNvPr id="28" name="t-yur"/>
          <p:cNvSpPr txBox="1"/>
          <p:nvPr/>
        </p:nvSpPr>
        <p:spPr>
          <a:xfrm>
            <a:off x="9652000" y="4826000"/>
            <a:ext cx="1016000" cy="1016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300" b="1" noProof="1">
                <a:solidFill>
                  <a:srgbClr val="123B2F"/>
                </a:solidFill>
                <a:latin typeface="MiSans"/>
                <a:ea typeface="MiSans"/>
              </a:rPr>
              <a:t>Yu.R.</a:t>
            </a:r>
            <a:endParaRPr lang="en-US" sz="1300" noProof="1"/>
          </a:p>
        </p:txBody>
      </p:sp>
      <p:sp>
        <p:nvSpPr>
          <p:cNvPr id="29" name="t-akor"/>
          <p:cNvSpPr txBox="1"/>
          <p:nvPr/>
        </p:nvSpPr>
        <p:spPr>
          <a:xfrm>
            <a:off x="7493000" y="1219200"/>
            <a:ext cx="9144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b="1" noProof="1">
                <a:solidFill>
                  <a:srgbClr val="123B2F"/>
                </a:solidFill>
                <a:latin typeface="MiSans"/>
                <a:ea typeface="MiSans"/>
              </a:rPr>
              <a:t>A.Kor.</a:t>
            </a:r>
            <a:endParaRPr lang="en-US" sz="1200" noProof="1"/>
          </a:p>
        </p:txBody>
      </p:sp>
      <p:sp>
        <p:nvSpPr>
          <p:cNvPr id="30" name="t-akol"/>
          <p:cNvSpPr txBox="1"/>
          <p:nvPr/>
        </p:nvSpPr>
        <p:spPr>
          <a:xfrm>
            <a:off x="11074400" y="5130800"/>
            <a:ext cx="863600" cy="863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100" b="1" noProof="1">
                <a:solidFill>
                  <a:srgbClr val="123B2F"/>
                </a:solidFill>
                <a:latin typeface="MiSans"/>
                <a:ea typeface="MiSans"/>
              </a:rPr>
              <a:t>A.Kol.</a:t>
            </a:r>
            <a:endParaRPr lang="en-US" sz="1100" noProof="1"/>
          </a:p>
        </p:txBody>
      </p:sp>
      <p:sp>
        <p:nvSpPr>
          <p:cNvPr id="31" name="t-ep"/>
          <p:cNvSpPr txBox="1"/>
          <p:nvPr/>
        </p:nvSpPr>
        <p:spPr>
          <a:xfrm>
            <a:off x="8788400" y="5740400"/>
            <a:ext cx="8128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100" b="1" noProof="1">
                <a:solidFill>
                  <a:srgbClr val="123B2F"/>
                </a:solidFill>
                <a:latin typeface="MiSans"/>
                <a:ea typeface="MiSans"/>
              </a:rPr>
              <a:t>E.P.</a:t>
            </a:r>
            <a:endParaRPr lang="en-US" sz="1100" noProof="1"/>
          </a:p>
        </p:txBody>
      </p:sp>
      <p:sp>
        <p:nvSpPr>
          <p:cNvPr id="32" name="brass-bar"/>
          <p:cNvSpPr/>
          <p:nvPr/>
        </p:nvSpPr>
        <p:spPr>
          <a:xfrm>
            <a:off x="609600" y="2489200"/>
            <a:ext cx="711200" cy="50800"/>
          </a:xfrm>
          <a:prstGeom prst="rect">
            <a:avLst/>
          </a:prstGeom>
          <a:solidFill>
            <a:srgbClr val="B08D3E"/>
          </a:solidFill>
          <a:ln>
            <a:noFill/>
          </a:ln>
        </p:spPr>
      </p:sp>
      <p:sp>
        <p:nvSpPr>
          <p:cNvPr id="33" name="title"/>
          <p:cNvSpPr txBox="1"/>
          <p:nvPr/>
        </p:nvSpPr>
        <p:spPr>
          <a:xfrm>
            <a:off x="609600" y="2743200"/>
            <a:ext cx="6604000" cy="863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5400" b="1" noProof="1">
                <a:solidFill>
                  <a:srgbClr val="123B2F"/>
                </a:solidFill>
                <a:latin typeface="MiSans"/>
                <a:ea typeface="MiSans"/>
              </a:rPr>
              <a:t>Команда проекта</a:t>
            </a:r>
            <a:endParaRPr lang="en-US" sz="5400" noProof="1"/>
          </a:p>
        </p:txBody>
      </p:sp>
      <p:sp>
        <p:nvSpPr>
          <p:cNvPr id="34" name="subtitle"/>
          <p:cNvSpPr txBox="1"/>
          <p:nvPr/>
        </p:nvSpPr>
        <p:spPr>
          <a:xfrm>
            <a:off x="609600" y="3759200"/>
            <a:ext cx="6350000" cy="838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1900" noProof="1">
                <a:solidFill>
                  <a:srgbClr val="33302A"/>
                </a:solidFill>
                <a:latin typeface="MiSans"/>
                <a:ea typeface="MiSans"/>
              </a:rPr>
              <a:t>Бюджетная система по затратам на персонал</a:t>
            </a:r>
            <a:endParaRPr lang="en-US" sz="1600" noProof="1"/>
          </a:p>
          <a:p>
            <a:pPr algn="l">
              <a:lnSpc>
                <a:spcPct val="120000"/>
              </a:lnSpc>
              <a:spcBef>
                <a:spcPts val="1000"/>
              </a:spcBef>
            </a:pPr>
            <a:r>
              <a:rPr lang="en-US" sz="1250" noProof="1">
                <a:solidFill>
                  <a:srgbClr val="6E685B"/>
                </a:solidFill>
                <a:latin typeface="MiSans"/>
                <a:ea typeface="MiSans"/>
              </a:rPr>
              <a:t>Фиксация ролей и зон ответственности. Рабочий материал для команды проекта.</a:t>
            </a:r>
            <a:endParaRPr lang="en-US" sz="1600" noProof="1"/>
          </a:p>
        </p:txBody>
      </p:sp>
      <p:sp>
        <p:nvSpPr>
          <p:cNvPr id="35" name="meta"/>
          <p:cNvSpPr txBox="1"/>
          <p:nvPr/>
        </p:nvSpPr>
        <p:spPr>
          <a:xfrm>
            <a:off x="609600" y="6350000"/>
            <a:ext cx="6350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950" kern="0" spc="200" noProof="1">
                <a:solidFill>
                  <a:srgbClr val="6E685B"/>
                </a:solidFill>
                <a:latin typeface="IBM Plex Mono"/>
                <a:ea typeface="IBM Plex Mono"/>
              </a:rPr>
              <a:t>АВГУСТ 2026 ·</a:t>
            </a:r>
            <a:endParaRPr lang="en-US" sz="950" noProof="1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5-c">
            <a:extLst>
              <a:ext uri="{FF2B5EF4-FFF2-40B4-BE49-F238E27FC236}">
                <a16:creationId xmlns:a16="http://schemas.microsoft.com/office/drawing/2014/main" id="{85732AB6-34D1-4A43-8486-1614FABCDD40}"/>
              </a:ext>
            </a:extLst>
          </p:cNvPr>
          <p:cNvSpPr/>
          <p:nvPr/>
        </p:nvSpPr>
        <p:spPr>
          <a:xfrm>
            <a:off x="615656" y="4544497"/>
            <a:ext cx="660400" cy="660400"/>
          </a:xfrm>
          <a:prstGeom prst="ellipse">
            <a:avLst/>
          </a:prstGeom>
          <a:solidFill>
            <a:srgbClr val="EFE9DA"/>
          </a:solidFill>
          <a:ln w="15875">
            <a:solidFill>
              <a:srgbClr val="123B2F"/>
            </a:solidFill>
          </a:ln>
        </p:spPr>
      </p:sp>
      <p:sp>
        <p:nvSpPr>
          <p:cNvPr id="35" name="r1-c">
            <a:extLst>
              <a:ext uri="{FF2B5EF4-FFF2-40B4-BE49-F238E27FC236}">
                <a16:creationId xmlns:a16="http://schemas.microsoft.com/office/drawing/2014/main" id="{C6334E40-1BD9-4609-B4D8-A840DA78FA02}"/>
              </a:ext>
            </a:extLst>
          </p:cNvPr>
          <p:cNvSpPr/>
          <p:nvPr/>
        </p:nvSpPr>
        <p:spPr>
          <a:xfrm>
            <a:off x="609600" y="3589853"/>
            <a:ext cx="660400" cy="660400"/>
          </a:xfrm>
          <a:prstGeom prst="ellipse">
            <a:avLst/>
          </a:prstGeom>
          <a:solidFill>
            <a:srgbClr val="EFE9DA"/>
          </a:solidFill>
          <a:ln w="15875">
            <a:solidFill>
              <a:srgbClr val="123B2F"/>
            </a:solidFill>
          </a:ln>
        </p:spPr>
      </p:sp>
      <p:sp>
        <p:nvSpPr>
          <p:cNvPr id="2" name="top-label"/>
          <p:cNvSpPr txBox="1"/>
          <p:nvPr/>
        </p:nvSpPr>
        <p:spPr>
          <a:xfrm>
            <a:off x="609600" y="431800"/>
            <a:ext cx="6350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950" kern="0" spc="200" noProof="1">
                <a:solidFill>
                  <a:srgbClr val="6E685B"/>
                </a:solidFill>
                <a:latin typeface="IBM Plex Mono"/>
                <a:ea typeface="IBM Plex Mono"/>
              </a:rPr>
              <a:t>РОЛИ · ЧАСТЬ 1</a:t>
            </a:r>
            <a:endParaRPr lang="en-US" sz="950" noProof="1"/>
          </a:p>
        </p:txBody>
      </p:sp>
      <p:sp>
        <p:nvSpPr>
          <p:cNvPr id="4" name="rule"/>
          <p:cNvSpPr/>
          <p:nvPr/>
        </p:nvSpPr>
        <p:spPr>
          <a:xfrm>
            <a:off x="609600" y="711200"/>
            <a:ext cx="10972800" cy="12700"/>
          </a:xfrm>
          <a:prstGeom prst="rect">
            <a:avLst/>
          </a:prstGeom>
          <a:solidFill>
            <a:srgbClr val="DCD5C3"/>
          </a:solidFill>
          <a:ln>
            <a:noFill/>
          </a:ln>
        </p:spPr>
      </p:sp>
      <p:sp>
        <p:nvSpPr>
          <p:cNvPr id="5" name="title"/>
          <p:cNvSpPr txBox="1"/>
          <p:nvPr/>
        </p:nvSpPr>
        <p:spPr>
          <a:xfrm>
            <a:off x="609600" y="965200"/>
            <a:ext cx="10972800" cy="431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300" b="1" noProof="1">
                <a:solidFill>
                  <a:srgbClr val="123B2F"/>
                </a:solidFill>
                <a:latin typeface="MiSans"/>
                <a:ea typeface="MiSans"/>
              </a:rPr>
              <a:t>Контур управления и заказа: кто задаёт рамки и принимает результат</a:t>
            </a:r>
            <a:endParaRPr lang="en-US" sz="2300" noProof="1"/>
          </a:p>
        </p:txBody>
      </p:sp>
      <p:sp>
        <p:nvSpPr>
          <p:cNvPr id="6" name="r1-c"/>
          <p:cNvSpPr/>
          <p:nvPr/>
        </p:nvSpPr>
        <p:spPr>
          <a:xfrm>
            <a:off x="609600" y="1651000"/>
            <a:ext cx="660400" cy="660400"/>
          </a:xfrm>
          <a:prstGeom prst="ellipse">
            <a:avLst/>
          </a:prstGeom>
          <a:solidFill>
            <a:srgbClr val="EFE9DA"/>
          </a:solidFill>
          <a:ln w="15875">
            <a:solidFill>
              <a:srgbClr val="123B2F"/>
            </a:solidFill>
          </a:ln>
        </p:spPr>
      </p:sp>
      <p:sp>
        <p:nvSpPr>
          <p:cNvPr id="7" name="r1-i"/>
          <p:cNvSpPr txBox="1"/>
          <p:nvPr/>
        </p:nvSpPr>
        <p:spPr>
          <a:xfrm>
            <a:off x="609600" y="1651000"/>
            <a:ext cx="660400" cy="660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b="1" noProof="1">
                <a:solidFill>
                  <a:srgbClr val="123B2F"/>
                </a:solidFill>
                <a:latin typeface="MiSans"/>
                <a:ea typeface="MiSans"/>
              </a:rPr>
              <a:t>D.Zh.</a:t>
            </a:r>
            <a:endParaRPr lang="en-US" sz="1400" noProof="1"/>
          </a:p>
        </p:txBody>
      </p:sp>
      <p:sp>
        <p:nvSpPr>
          <p:cNvPr id="8" name="r1-n"/>
          <p:cNvSpPr txBox="1"/>
          <p:nvPr/>
        </p:nvSpPr>
        <p:spPr>
          <a:xfrm>
            <a:off x="1498600" y="1651000"/>
            <a:ext cx="3098800" cy="711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1450" b="1" noProof="1">
                <a:solidFill>
                  <a:srgbClr val="123B2F"/>
                </a:solidFill>
                <a:latin typeface="MiSans"/>
                <a:ea typeface="MiSans"/>
              </a:rPr>
              <a:t>D.Zh.</a:t>
            </a:r>
            <a:endParaRPr lang="en-US" sz="1600" noProof="1"/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lang="en-US" sz="1100" noProof="1">
                <a:solidFill>
                  <a:srgbClr val="B08D3E"/>
                </a:solidFill>
                <a:latin typeface="MiSans"/>
                <a:ea typeface="MiSans"/>
              </a:rPr>
              <a:t>Спонсор проекта · заказчик</a:t>
            </a:r>
            <a:endParaRPr lang="en-US" sz="1600" noProof="1"/>
          </a:p>
        </p:txBody>
      </p:sp>
      <p:sp>
        <p:nvSpPr>
          <p:cNvPr id="9" name="r1-d"/>
          <p:cNvSpPr txBox="1"/>
          <p:nvPr/>
        </p:nvSpPr>
        <p:spPr>
          <a:xfrm>
            <a:off x="4851400" y="1600200"/>
            <a:ext cx="6731000" cy="838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5000"/>
              </a:lnSpc>
            </a:pPr>
            <a:r>
              <a:rPr lang="en-US" sz="1150" noProof="1">
                <a:solidFill>
                  <a:srgbClr val="33302A"/>
                </a:solidFill>
                <a:latin typeface="MiSans"/>
                <a:ea typeface="MiSans"/>
              </a:rPr>
              <a:t>Владелец бизнес-цели и бюджета проекта. Утверждает целевую модель системы, рамки и ключевые изменения; принимает результаты этапов и снимает эскалации, выходящие за полномочия проектного менеджера.</a:t>
            </a:r>
            <a:endParaRPr lang="en-US" sz="1150" noProof="1"/>
          </a:p>
        </p:txBody>
      </p:sp>
      <p:sp>
        <p:nvSpPr>
          <p:cNvPr id="10" name="sep1"/>
          <p:cNvSpPr/>
          <p:nvPr/>
        </p:nvSpPr>
        <p:spPr>
          <a:xfrm>
            <a:off x="609600" y="2463800"/>
            <a:ext cx="10972800" cy="12700"/>
          </a:xfrm>
          <a:prstGeom prst="rect">
            <a:avLst/>
          </a:prstGeom>
          <a:solidFill>
            <a:srgbClr val="DCD5C3"/>
          </a:solidFill>
          <a:ln>
            <a:noFill/>
          </a:ln>
        </p:spPr>
      </p:sp>
      <p:sp>
        <p:nvSpPr>
          <p:cNvPr id="11" name="r2-c"/>
          <p:cNvSpPr/>
          <p:nvPr/>
        </p:nvSpPr>
        <p:spPr>
          <a:xfrm>
            <a:off x="609600" y="2616200"/>
            <a:ext cx="660400" cy="660400"/>
          </a:xfrm>
          <a:prstGeom prst="ellipse">
            <a:avLst/>
          </a:prstGeom>
          <a:solidFill>
            <a:srgbClr val="EFE9DA"/>
          </a:solidFill>
          <a:ln w="15875">
            <a:solidFill>
              <a:srgbClr val="123B2F"/>
            </a:solidFill>
          </a:ln>
        </p:spPr>
      </p:sp>
      <p:sp>
        <p:nvSpPr>
          <p:cNvPr id="12" name="r2-i"/>
          <p:cNvSpPr txBox="1"/>
          <p:nvPr/>
        </p:nvSpPr>
        <p:spPr>
          <a:xfrm>
            <a:off x="609600" y="2616200"/>
            <a:ext cx="660400" cy="660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b="1" noProof="1">
                <a:solidFill>
                  <a:srgbClr val="123B2F"/>
                </a:solidFill>
                <a:latin typeface="MiSans"/>
                <a:ea typeface="MiSans"/>
              </a:rPr>
              <a:t>A.O.</a:t>
            </a:r>
            <a:endParaRPr lang="en-US" sz="1400" noProof="1"/>
          </a:p>
        </p:txBody>
      </p:sp>
      <p:sp>
        <p:nvSpPr>
          <p:cNvPr id="13" name="r2-n"/>
          <p:cNvSpPr txBox="1"/>
          <p:nvPr/>
        </p:nvSpPr>
        <p:spPr>
          <a:xfrm>
            <a:off x="1498600" y="2616200"/>
            <a:ext cx="3098800" cy="711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1450" b="1" noProof="1">
                <a:solidFill>
                  <a:srgbClr val="123B2F"/>
                </a:solidFill>
                <a:latin typeface="MiSans"/>
                <a:ea typeface="MiSans"/>
              </a:rPr>
              <a:t>A.O.</a:t>
            </a:r>
            <a:endParaRPr lang="en-US" sz="1600" noProof="1"/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lang="en-US" sz="1100" noProof="1">
                <a:solidFill>
                  <a:srgbClr val="B08D3E"/>
                </a:solidFill>
                <a:latin typeface="MiSans"/>
                <a:ea typeface="MiSans"/>
              </a:rPr>
              <a:t>Проектный менеджер · методолог</a:t>
            </a:r>
            <a:endParaRPr lang="en-US" sz="1600" noProof="1"/>
          </a:p>
        </p:txBody>
      </p:sp>
      <p:sp>
        <p:nvSpPr>
          <p:cNvPr id="14" name="r2-d"/>
          <p:cNvSpPr txBox="1"/>
          <p:nvPr/>
        </p:nvSpPr>
        <p:spPr>
          <a:xfrm>
            <a:off x="4851400" y="2565400"/>
            <a:ext cx="6731000" cy="838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5000"/>
              </a:lnSpc>
            </a:pPr>
            <a:r>
              <a:rPr lang="en-US" sz="1150" noProof="1">
                <a:solidFill>
                  <a:srgbClr val="33302A"/>
                </a:solidFill>
                <a:latin typeface="MiSans"/>
                <a:ea typeface="MiSans"/>
              </a:rPr>
              <a:t>Ведёт план, ресурсы, риски и коммуникации проекта. Отвечает за методологию бюджетирования затрат на персонал и согласование требований с заказчиками; контролирует сроки, качество и </a:t>
            </a:r>
            <a:r>
              <a:rPr lang="ru-RU" sz="1150" noProof="1">
                <a:solidFill>
                  <a:srgbClr val="33302A"/>
                </a:solidFill>
                <a:latin typeface="MiSans"/>
                <a:ea typeface="MiSans"/>
              </a:rPr>
              <a:t>состав результатов проекта</a:t>
            </a:r>
            <a:r>
              <a:rPr lang="en-US" sz="1150" noProof="1">
                <a:solidFill>
                  <a:srgbClr val="33302A"/>
                </a:solidFill>
                <a:latin typeface="MiSans"/>
                <a:ea typeface="MiSans"/>
              </a:rPr>
              <a:t>.</a:t>
            </a:r>
            <a:endParaRPr lang="en-US" sz="1150" noProof="1"/>
          </a:p>
        </p:txBody>
      </p:sp>
      <p:sp>
        <p:nvSpPr>
          <p:cNvPr id="15" name="sep2"/>
          <p:cNvSpPr/>
          <p:nvPr/>
        </p:nvSpPr>
        <p:spPr>
          <a:xfrm>
            <a:off x="609600" y="3429000"/>
            <a:ext cx="10972800" cy="12700"/>
          </a:xfrm>
          <a:prstGeom prst="rect">
            <a:avLst/>
          </a:prstGeom>
          <a:solidFill>
            <a:srgbClr val="DCD5C3"/>
          </a:solidFill>
          <a:ln>
            <a:noFill/>
          </a:ln>
        </p:spPr>
      </p:sp>
      <p:sp>
        <p:nvSpPr>
          <p:cNvPr id="20" name="sep3"/>
          <p:cNvSpPr/>
          <p:nvPr/>
        </p:nvSpPr>
        <p:spPr>
          <a:xfrm>
            <a:off x="609600" y="4394200"/>
            <a:ext cx="10972800" cy="12700"/>
          </a:xfrm>
          <a:prstGeom prst="rect">
            <a:avLst/>
          </a:prstGeom>
          <a:solidFill>
            <a:srgbClr val="DCD5C3"/>
          </a:solidFill>
          <a:ln>
            <a:noFill/>
          </a:ln>
        </p:spPr>
      </p:sp>
      <p:sp>
        <p:nvSpPr>
          <p:cNvPr id="25" name="sep4"/>
          <p:cNvSpPr/>
          <p:nvPr/>
        </p:nvSpPr>
        <p:spPr>
          <a:xfrm>
            <a:off x="609600" y="5359400"/>
            <a:ext cx="10972800" cy="12700"/>
          </a:xfrm>
          <a:prstGeom prst="rect">
            <a:avLst/>
          </a:prstGeom>
          <a:solidFill>
            <a:srgbClr val="DCD5C3"/>
          </a:solidFill>
          <a:ln>
            <a:noFill/>
          </a:ln>
        </p:spPr>
      </p:sp>
      <p:sp>
        <p:nvSpPr>
          <p:cNvPr id="26" name="r5-c"/>
          <p:cNvSpPr/>
          <p:nvPr/>
        </p:nvSpPr>
        <p:spPr>
          <a:xfrm>
            <a:off x="609600" y="5511800"/>
            <a:ext cx="660400" cy="660400"/>
          </a:xfrm>
          <a:prstGeom prst="ellipse">
            <a:avLst/>
          </a:prstGeom>
          <a:solidFill>
            <a:srgbClr val="EFE9DA"/>
          </a:solidFill>
          <a:ln w="15875">
            <a:solidFill>
              <a:srgbClr val="123B2F"/>
            </a:solidFill>
          </a:ln>
        </p:spPr>
      </p:sp>
      <p:sp>
        <p:nvSpPr>
          <p:cNvPr id="27" name="r5-i"/>
          <p:cNvSpPr txBox="1"/>
          <p:nvPr/>
        </p:nvSpPr>
        <p:spPr>
          <a:xfrm>
            <a:off x="609600" y="5511800"/>
            <a:ext cx="660400" cy="660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b="1" noProof="1">
                <a:solidFill>
                  <a:srgbClr val="123B2F"/>
                </a:solidFill>
                <a:latin typeface="MiSans"/>
                <a:ea typeface="MiSans"/>
              </a:rPr>
              <a:t>E.E.</a:t>
            </a:r>
            <a:endParaRPr lang="en-US" sz="1400" noProof="1"/>
          </a:p>
        </p:txBody>
      </p:sp>
      <p:sp>
        <p:nvSpPr>
          <p:cNvPr id="28" name="r5-n"/>
          <p:cNvSpPr txBox="1"/>
          <p:nvPr/>
        </p:nvSpPr>
        <p:spPr>
          <a:xfrm>
            <a:off x="1498600" y="5511800"/>
            <a:ext cx="3098800" cy="711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1450" b="1" noProof="1">
                <a:solidFill>
                  <a:srgbClr val="123B2F"/>
                </a:solidFill>
                <a:latin typeface="MiSans"/>
                <a:ea typeface="MiSans"/>
              </a:rPr>
              <a:t>E.E.</a:t>
            </a:r>
            <a:endParaRPr lang="en-US" sz="1600" noProof="1"/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lang="en-US" sz="1100" noProof="1">
                <a:solidFill>
                  <a:srgbClr val="B08D3E"/>
                </a:solidFill>
                <a:latin typeface="MiSans"/>
                <a:ea typeface="MiSans"/>
              </a:rPr>
              <a:t>Консультант-методист · заказчик · тестировщик</a:t>
            </a:r>
            <a:endParaRPr lang="en-US" sz="1600" noProof="1"/>
          </a:p>
        </p:txBody>
      </p:sp>
      <p:sp>
        <p:nvSpPr>
          <p:cNvPr id="29" name="r5-d"/>
          <p:cNvSpPr txBox="1"/>
          <p:nvPr/>
        </p:nvSpPr>
        <p:spPr>
          <a:xfrm>
            <a:off x="4851400" y="5461000"/>
            <a:ext cx="6731000" cy="838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5000"/>
              </a:lnSpc>
            </a:pPr>
            <a:r>
              <a:rPr lang="ru-RU" sz="1150" noProof="1">
                <a:solidFill>
                  <a:srgbClr val="33302A"/>
                </a:solidFill>
                <a:latin typeface="MiSans"/>
                <a:ea typeface="MiSans"/>
              </a:rPr>
              <a:t>Представитель заказчика</a:t>
            </a:r>
            <a:r>
              <a:rPr lang="en-US" sz="1150" noProof="1">
                <a:solidFill>
                  <a:srgbClr val="33302A"/>
                </a:solidFill>
                <a:latin typeface="MiSans"/>
                <a:ea typeface="MiSans"/>
              </a:rPr>
              <a:t>. Эксперт по бизнес-требованиям и критериям приёмки. Методически проверяет решения команды, проводит функциональное тестирование и координирует приёмочные испытания с заказчиком.</a:t>
            </a:r>
            <a:endParaRPr lang="en-US" sz="1150" noProof="1"/>
          </a:p>
        </p:txBody>
      </p:sp>
      <p:sp>
        <p:nvSpPr>
          <p:cNvPr id="30" name="sep5"/>
          <p:cNvSpPr/>
          <p:nvPr/>
        </p:nvSpPr>
        <p:spPr>
          <a:xfrm>
            <a:off x="609600" y="6324600"/>
            <a:ext cx="10972800" cy="12700"/>
          </a:xfrm>
          <a:prstGeom prst="rect">
            <a:avLst/>
          </a:prstGeom>
          <a:solidFill>
            <a:srgbClr val="DCD5C3"/>
          </a:solidFill>
          <a:ln>
            <a:noFill/>
          </a:ln>
        </p:spPr>
      </p:sp>
      <p:sp>
        <p:nvSpPr>
          <p:cNvPr id="31" name="footer"/>
          <p:cNvSpPr txBox="1"/>
          <p:nvPr/>
        </p:nvSpPr>
        <p:spPr>
          <a:xfrm>
            <a:off x="609600" y="6502400"/>
            <a:ext cx="584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900" kern="0" spc="200" noProof="1">
                <a:solidFill>
                  <a:srgbClr val="6E685B"/>
                </a:solidFill>
                <a:latin typeface="IBM Plex Mono"/>
                <a:ea typeface="IBM Plex Mono"/>
              </a:rPr>
              <a:t>БЮДЖЕТНАЯ СИСТЕМА · ЗАТРАТЫ НА ПЕРСОНАЛ · РОЛИ КОМАНДЫ</a:t>
            </a:r>
            <a:endParaRPr lang="en-US" sz="900" noProof="1"/>
          </a:p>
        </p:txBody>
      </p:sp>
      <p:sp>
        <p:nvSpPr>
          <p:cNvPr id="32" name="r1-i">
            <a:extLst>
              <a:ext uri="{FF2B5EF4-FFF2-40B4-BE49-F238E27FC236}">
                <a16:creationId xmlns:a16="http://schemas.microsoft.com/office/drawing/2014/main" id="{47C0469F-E0CD-48CB-B652-433EE9A3F6C7}"/>
              </a:ext>
            </a:extLst>
          </p:cNvPr>
          <p:cNvSpPr txBox="1"/>
          <p:nvPr/>
        </p:nvSpPr>
        <p:spPr>
          <a:xfrm>
            <a:off x="614310" y="3581400"/>
            <a:ext cx="660400" cy="660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b="1" noProof="1">
                <a:solidFill>
                  <a:srgbClr val="123B2F"/>
                </a:solidFill>
                <a:latin typeface="MiSans"/>
                <a:ea typeface="MiSans"/>
              </a:rPr>
              <a:t>V.D.</a:t>
            </a:r>
            <a:endParaRPr lang="en-US" sz="1400" noProof="1"/>
          </a:p>
        </p:txBody>
      </p:sp>
      <p:sp>
        <p:nvSpPr>
          <p:cNvPr id="33" name="r1-n">
            <a:extLst>
              <a:ext uri="{FF2B5EF4-FFF2-40B4-BE49-F238E27FC236}">
                <a16:creationId xmlns:a16="http://schemas.microsoft.com/office/drawing/2014/main" id="{24A8A6FF-DEC5-436D-B793-DBB83945A27D}"/>
              </a:ext>
            </a:extLst>
          </p:cNvPr>
          <p:cNvSpPr txBox="1"/>
          <p:nvPr/>
        </p:nvSpPr>
        <p:spPr>
          <a:xfrm>
            <a:off x="1498600" y="3545403"/>
            <a:ext cx="3098800" cy="711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1450" b="1" noProof="1">
                <a:solidFill>
                  <a:srgbClr val="123B2F"/>
                </a:solidFill>
                <a:latin typeface="MiSans"/>
                <a:ea typeface="MiSans"/>
              </a:rPr>
              <a:t>V.D.</a:t>
            </a:r>
            <a:endParaRPr lang="en-US" sz="1600" noProof="1"/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lang="en-US" sz="1100" noProof="1">
                <a:solidFill>
                  <a:srgbClr val="B08D3E"/>
                </a:solidFill>
                <a:latin typeface="MiSans"/>
                <a:ea typeface="MiSans"/>
              </a:rPr>
              <a:t>Техлид · модель данных · техписатель</a:t>
            </a:r>
            <a:endParaRPr lang="en-US" sz="1600" noProof="1"/>
          </a:p>
        </p:txBody>
      </p:sp>
      <p:sp>
        <p:nvSpPr>
          <p:cNvPr id="34" name="r1-d">
            <a:extLst>
              <a:ext uri="{FF2B5EF4-FFF2-40B4-BE49-F238E27FC236}">
                <a16:creationId xmlns:a16="http://schemas.microsoft.com/office/drawing/2014/main" id="{733A7542-1475-4C7D-B59A-F2DC0DE566F7}"/>
              </a:ext>
            </a:extLst>
          </p:cNvPr>
          <p:cNvSpPr txBox="1"/>
          <p:nvPr/>
        </p:nvSpPr>
        <p:spPr>
          <a:xfrm>
            <a:off x="4851400" y="3494603"/>
            <a:ext cx="6731000" cy="838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5000"/>
              </a:lnSpc>
            </a:pPr>
            <a:r>
              <a:rPr lang="en-US" sz="1150" noProof="1">
                <a:solidFill>
                  <a:srgbClr val="33302A"/>
                </a:solidFill>
                <a:latin typeface="MiSans"/>
                <a:ea typeface="MiSans"/>
              </a:rPr>
              <a:t>Отвечает за архитектуру решения и технические стандарты. Проектирует модель данных бюджетной системы, проводит ревизию разработки, ведёт техническую документацию — от модели данных до инструкций.</a:t>
            </a:r>
            <a:endParaRPr lang="en-US" sz="1150" noProof="1"/>
          </a:p>
        </p:txBody>
      </p:sp>
      <p:sp>
        <p:nvSpPr>
          <p:cNvPr id="36" name="r3-i">
            <a:extLst>
              <a:ext uri="{FF2B5EF4-FFF2-40B4-BE49-F238E27FC236}">
                <a16:creationId xmlns:a16="http://schemas.microsoft.com/office/drawing/2014/main" id="{4A89E407-C1FC-410E-BF26-181C0BE89F27}"/>
              </a:ext>
            </a:extLst>
          </p:cNvPr>
          <p:cNvSpPr txBox="1"/>
          <p:nvPr/>
        </p:nvSpPr>
        <p:spPr>
          <a:xfrm>
            <a:off x="658045" y="4533900"/>
            <a:ext cx="660400" cy="660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b="1" noProof="1">
                <a:solidFill>
                  <a:srgbClr val="123B2F"/>
                </a:solidFill>
                <a:latin typeface="MiSans"/>
                <a:ea typeface="MiSans"/>
              </a:rPr>
              <a:t>S.O.</a:t>
            </a:r>
            <a:endParaRPr lang="en-US" sz="1400" noProof="1"/>
          </a:p>
        </p:txBody>
      </p:sp>
      <p:sp>
        <p:nvSpPr>
          <p:cNvPr id="37" name="r3-n">
            <a:extLst>
              <a:ext uri="{FF2B5EF4-FFF2-40B4-BE49-F238E27FC236}">
                <a16:creationId xmlns:a16="http://schemas.microsoft.com/office/drawing/2014/main" id="{D8E81382-B49C-4E00-B0CF-372B0CA8775D}"/>
              </a:ext>
            </a:extLst>
          </p:cNvPr>
          <p:cNvSpPr txBox="1"/>
          <p:nvPr/>
        </p:nvSpPr>
        <p:spPr>
          <a:xfrm>
            <a:off x="1547045" y="4533900"/>
            <a:ext cx="3098800" cy="711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1450" b="1" noProof="1">
                <a:solidFill>
                  <a:srgbClr val="123B2F"/>
                </a:solidFill>
                <a:latin typeface="MiSans"/>
                <a:ea typeface="MiSans"/>
              </a:rPr>
              <a:t>S.O.</a:t>
            </a:r>
            <a:endParaRPr lang="en-US" sz="1600" noProof="1"/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lang="en-US" sz="1100" noProof="1">
                <a:solidFill>
                  <a:srgbClr val="B08D3E"/>
                </a:solidFill>
                <a:latin typeface="MiSans"/>
                <a:ea typeface="MiSans"/>
              </a:rPr>
              <a:t>Client representative · заказчик</a:t>
            </a:r>
            <a:endParaRPr lang="en-US" sz="1600" noProof="1"/>
          </a:p>
        </p:txBody>
      </p:sp>
      <p:sp>
        <p:nvSpPr>
          <p:cNvPr id="38" name="r3-d">
            <a:extLst>
              <a:ext uri="{FF2B5EF4-FFF2-40B4-BE49-F238E27FC236}">
                <a16:creationId xmlns:a16="http://schemas.microsoft.com/office/drawing/2014/main" id="{ED78906E-55D4-4D73-BB45-A8E7164D20D0}"/>
              </a:ext>
            </a:extLst>
          </p:cNvPr>
          <p:cNvSpPr txBox="1"/>
          <p:nvPr/>
        </p:nvSpPr>
        <p:spPr>
          <a:xfrm>
            <a:off x="4899845" y="4483100"/>
            <a:ext cx="6731000" cy="838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5000"/>
              </a:lnSpc>
            </a:pPr>
            <a:r>
              <a:rPr lang="en-US" sz="1150" noProof="1">
                <a:solidFill>
                  <a:srgbClr val="33302A"/>
                </a:solidFill>
                <a:latin typeface="MiSans"/>
                <a:ea typeface="MiSans"/>
              </a:rPr>
              <a:t>Представитель заказчика. Связывает проект с действующим бюджетным процессом: собирает требования финансовой функции, согласует регламенты, организует пилотных пользователей и внедрение.</a:t>
            </a:r>
            <a:endParaRPr lang="en-US" sz="1150" noProof="1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4-n">
            <a:extLst>
              <a:ext uri="{FF2B5EF4-FFF2-40B4-BE49-F238E27FC236}">
                <a16:creationId xmlns:a16="http://schemas.microsoft.com/office/drawing/2014/main" id="{C2EE662D-F57E-409B-A990-2DD024C7B8BB}"/>
              </a:ext>
            </a:extLst>
          </p:cNvPr>
          <p:cNvSpPr txBox="1"/>
          <p:nvPr/>
        </p:nvSpPr>
        <p:spPr>
          <a:xfrm>
            <a:off x="1498600" y="2566412"/>
            <a:ext cx="3098800" cy="711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1450" b="1" noProof="1">
                <a:solidFill>
                  <a:srgbClr val="123B2F"/>
                </a:solidFill>
                <a:latin typeface="MiSans"/>
                <a:ea typeface="MiSans"/>
              </a:rPr>
              <a:t>Yu.R.</a:t>
            </a:r>
            <a:endParaRPr lang="en-US" sz="1600" noProof="1"/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lang="en-US" sz="1100" noProof="1">
                <a:solidFill>
                  <a:srgbClr val="B08D3E"/>
                </a:solidFill>
                <a:latin typeface="MiSans"/>
                <a:ea typeface="MiSans"/>
              </a:rPr>
              <a:t>Заказчик · методолог · аналитик данных</a:t>
            </a:r>
            <a:endParaRPr lang="en-US" sz="1600" noProof="1"/>
          </a:p>
        </p:txBody>
      </p:sp>
      <p:sp>
        <p:nvSpPr>
          <p:cNvPr id="13" name="r2-n"/>
          <p:cNvSpPr txBox="1"/>
          <p:nvPr/>
        </p:nvSpPr>
        <p:spPr>
          <a:xfrm>
            <a:off x="1498600" y="1599360"/>
            <a:ext cx="3098800" cy="711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1450" b="1" noProof="1">
                <a:solidFill>
                  <a:srgbClr val="123B2F"/>
                </a:solidFill>
                <a:latin typeface="MiSans"/>
                <a:ea typeface="MiSans"/>
              </a:rPr>
              <a:t>E.A.</a:t>
            </a:r>
            <a:endParaRPr lang="en-US" sz="1600" noProof="1"/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lang="en-US" sz="1100" noProof="1">
                <a:solidFill>
                  <a:srgbClr val="B08D3E"/>
                </a:solidFill>
                <a:latin typeface="MiSans"/>
                <a:ea typeface="MiSans"/>
              </a:rPr>
              <a:t>Разработчик БД, кубов и витрин</a:t>
            </a:r>
            <a:endParaRPr lang="en-US" sz="1600" noProof="1"/>
          </a:p>
        </p:txBody>
      </p:sp>
      <p:sp>
        <p:nvSpPr>
          <p:cNvPr id="2" name="top-label"/>
          <p:cNvSpPr txBox="1"/>
          <p:nvPr/>
        </p:nvSpPr>
        <p:spPr>
          <a:xfrm>
            <a:off x="609600" y="431800"/>
            <a:ext cx="6350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950" kern="0" spc="200" noProof="1">
                <a:solidFill>
                  <a:srgbClr val="6E685B"/>
                </a:solidFill>
                <a:latin typeface="IBM Plex Mono"/>
                <a:ea typeface="IBM Plex Mono"/>
              </a:rPr>
              <a:t>РОЛИ · ЧАСТЬ 2</a:t>
            </a:r>
            <a:endParaRPr lang="en-US" sz="950" noProof="1"/>
          </a:p>
        </p:txBody>
      </p:sp>
      <p:sp>
        <p:nvSpPr>
          <p:cNvPr id="4" name="rule"/>
          <p:cNvSpPr/>
          <p:nvPr/>
        </p:nvSpPr>
        <p:spPr>
          <a:xfrm>
            <a:off x="609600" y="711200"/>
            <a:ext cx="10972800" cy="12700"/>
          </a:xfrm>
          <a:prstGeom prst="rect">
            <a:avLst/>
          </a:prstGeom>
          <a:solidFill>
            <a:srgbClr val="DCD5C3"/>
          </a:solidFill>
          <a:ln>
            <a:noFill/>
          </a:ln>
        </p:spPr>
      </p:sp>
      <p:sp>
        <p:nvSpPr>
          <p:cNvPr id="5" name="title"/>
          <p:cNvSpPr txBox="1"/>
          <p:nvPr/>
        </p:nvSpPr>
        <p:spPr>
          <a:xfrm>
            <a:off x="609600" y="965200"/>
            <a:ext cx="10972800" cy="431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300" b="1" noProof="1">
                <a:solidFill>
                  <a:srgbClr val="123B2F"/>
                </a:solidFill>
                <a:latin typeface="MiSans"/>
                <a:ea typeface="MiSans"/>
              </a:rPr>
              <a:t>Контур данных и разработки: как решение строится и живёт</a:t>
            </a:r>
            <a:endParaRPr lang="en-US" sz="2300" noProof="1"/>
          </a:p>
        </p:txBody>
      </p:sp>
      <p:sp>
        <p:nvSpPr>
          <p:cNvPr id="10" name="sep1"/>
          <p:cNvSpPr/>
          <p:nvPr/>
        </p:nvSpPr>
        <p:spPr>
          <a:xfrm>
            <a:off x="609600" y="1528164"/>
            <a:ext cx="10972800" cy="12700"/>
          </a:xfrm>
          <a:prstGeom prst="rect">
            <a:avLst/>
          </a:prstGeom>
          <a:solidFill>
            <a:srgbClr val="DCD5C3"/>
          </a:solidFill>
          <a:ln>
            <a:noFill/>
          </a:ln>
        </p:spPr>
      </p:sp>
      <p:sp>
        <p:nvSpPr>
          <p:cNvPr id="11" name="r2-c"/>
          <p:cNvSpPr/>
          <p:nvPr/>
        </p:nvSpPr>
        <p:spPr>
          <a:xfrm>
            <a:off x="609600" y="1604468"/>
            <a:ext cx="660400" cy="660400"/>
          </a:xfrm>
          <a:prstGeom prst="ellipse">
            <a:avLst/>
          </a:prstGeom>
          <a:solidFill>
            <a:srgbClr val="EFE9DA"/>
          </a:solidFill>
          <a:ln w="15875">
            <a:solidFill>
              <a:srgbClr val="123B2F"/>
            </a:solidFill>
          </a:ln>
        </p:spPr>
      </p:sp>
      <p:sp>
        <p:nvSpPr>
          <p:cNvPr id="12" name="r2-i"/>
          <p:cNvSpPr txBox="1"/>
          <p:nvPr/>
        </p:nvSpPr>
        <p:spPr>
          <a:xfrm>
            <a:off x="609600" y="1596918"/>
            <a:ext cx="660400" cy="660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b="1" noProof="1">
                <a:solidFill>
                  <a:srgbClr val="123B2F"/>
                </a:solidFill>
                <a:latin typeface="MiSans"/>
                <a:ea typeface="MiSans"/>
              </a:rPr>
              <a:t>E.A.</a:t>
            </a:r>
            <a:endParaRPr lang="en-US" sz="1400" noProof="1"/>
          </a:p>
        </p:txBody>
      </p:sp>
      <p:sp>
        <p:nvSpPr>
          <p:cNvPr id="14" name="r2-d"/>
          <p:cNvSpPr txBox="1"/>
          <p:nvPr/>
        </p:nvSpPr>
        <p:spPr>
          <a:xfrm>
            <a:off x="4851400" y="1577576"/>
            <a:ext cx="6731000" cy="838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5000"/>
              </a:lnSpc>
            </a:pPr>
            <a:r>
              <a:rPr lang="en-US" sz="1150" noProof="1">
                <a:solidFill>
                  <a:srgbClr val="33302A"/>
                </a:solidFill>
                <a:latin typeface="MiSans"/>
                <a:ea typeface="MiSans"/>
              </a:rPr>
              <a:t>Разрабатывает базы данных и ETL-процессы, строит OLAP-кубы и аналитические витрины для отчётности по затратам на персонал. Отвечает за производительность и корректность расчётов на больших массивах.</a:t>
            </a:r>
            <a:endParaRPr lang="en-US" sz="1150" noProof="1"/>
          </a:p>
        </p:txBody>
      </p:sp>
      <p:sp>
        <p:nvSpPr>
          <p:cNvPr id="15" name="sep2"/>
          <p:cNvSpPr/>
          <p:nvPr/>
        </p:nvSpPr>
        <p:spPr>
          <a:xfrm>
            <a:off x="609600" y="3276600"/>
            <a:ext cx="10972800" cy="12700"/>
          </a:xfrm>
          <a:prstGeom prst="rect">
            <a:avLst/>
          </a:prstGeom>
          <a:solidFill>
            <a:srgbClr val="DCD5C3"/>
          </a:solidFill>
          <a:ln>
            <a:noFill/>
          </a:ln>
        </p:spPr>
      </p:sp>
      <p:sp>
        <p:nvSpPr>
          <p:cNvPr id="16" name="r3-c"/>
          <p:cNvSpPr/>
          <p:nvPr/>
        </p:nvSpPr>
        <p:spPr>
          <a:xfrm>
            <a:off x="609600" y="3429000"/>
            <a:ext cx="660400" cy="660400"/>
          </a:xfrm>
          <a:prstGeom prst="ellipse">
            <a:avLst/>
          </a:prstGeom>
          <a:solidFill>
            <a:srgbClr val="EFE9DA"/>
          </a:solidFill>
          <a:ln w="15875">
            <a:solidFill>
              <a:srgbClr val="123B2F"/>
            </a:solidFill>
          </a:ln>
        </p:spPr>
      </p:sp>
      <p:sp>
        <p:nvSpPr>
          <p:cNvPr id="17" name="r3-i"/>
          <p:cNvSpPr txBox="1"/>
          <p:nvPr/>
        </p:nvSpPr>
        <p:spPr>
          <a:xfrm>
            <a:off x="609600" y="3429000"/>
            <a:ext cx="660400" cy="660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b="1" noProof="1">
                <a:solidFill>
                  <a:srgbClr val="123B2F"/>
                </a:solidFill>
                <a:latin typeface="MiSans"/>
                <a:ea typeface="MiSans"/>
              </a:rPr>
              <a:t>A.Kor.</a:t>
            </a:r>
            <a:endParaRPr lang="en-US" sz="1200" noProof="1"/>
          </a:p>
        </p:txBody>
      </p:sp>
      <p:sp>
        <p:nvSpPr>
          <p:cNvPr id="18" name="r3-n"/>
          <p:cNvSpPr txBox="1"/>
          <p:nvPr/>
        </p:nvSpPr>
        <p:spPr>
          <a:xfrm>
            <a:off x="1498600" y="3429000"/>
            <a:ext cx="3098800" cy="711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1450" b="1" noProof="1">
                <a:solidFill>
                  <a:srgbClr val="123B2F"/>
                </a:solidFill>
                <a:latin typeface="MiSans"/>
                <a:ea typeface="MiSans"/>
              </a:rPr>
              <a:t>A.Kor.</a:t>
            </a:r>
            <a:endParaRPr lang="en-US" sz="1600" noProof="1"/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lang="en-US" sz="1100" noProof="1">
                <a:solidFill>
                  <a:srgbClr val="B08D3E"/>
                </a:solidFill>
                <a:latin typeface="MiSans"/>
                <a:ea typeface="MiSans"/>
              </a:rPr>
              <a:t>Разработчик интерфейсов HCM</a:t>
            </a:r>
            <a:r>
              <a:rPr lang="ru-RU" sz="1100" noProof="1">
                <a:solidFill>
                  <a:srgbClr val="B08D3E"/>
                </a:solidFill>
                <a:latin typeface="MiSans"/>
                <a:ea typeface="MiSans"/>
              </a:rPr>
              <a:t>С и бюджетной системы</a:t>
            </a:r>
            <a:endParaRPr lang="en-US" sz="1600" noProof="1"/>
          </a:p>
        </p:txBody>
      </p:sp>
      <p:sp>
        <p:nvSpPr>
          <p:cNvPr id="19" name="r3-d"/>
          <p:cNvSpPr txBox="1"/>
          <p:nvPr/>
        </p:nvSpPr>
        <p:spPr>
          <a:xfrm>
            <a:off x="4851400" y="3378200"/>
            <a:ext cx="6731000" cy="838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5000"/>
              </a:lnSpc>
            </a:pPr>
            <a:r>
              <a:rPr lang="en-US" sz="1150" noProof="1">
                <a:solidFill>
                  <a:srgbClr val="33302A"/>
                </a:solidFill>
                <a:latin typeface="MiSans"/>
                <a:ea typeface="MiSans"/>
              </a:rPr>
              <a:t>Разрабатывает пользовательские интерфейсы HCM</a:t>
            </a:r>
            <a:r>
              <a:rPr lang="ru-RU" sz="1150" noProof="1">
                <a:solidFill>
                  <a:srgbClr val="33302A"/>
                </a:solidFill>
                <a:latin typeface="MiSans"/>
                <a:ea typeface="MiSans"/>
              </a:rPr>
              <a:t>С</a:t>
            </a:r>
            <a:r>
              <a:rPr lang="en-US" sz="1150" noProof="1">
                <a:solidFill>
                  <a:srgbClr val="33302A"/>
                </a:solidFill>
                <a:latin typeface="MiSans"/>
                <a:ea typeface="MiSans"/>
              </a:rPr>
              <a:t> и бюджетной системы, реализует интеграционные связки между ними. Совместно с бизнес-аналитиком отрабатывает UX-сценарии планирования и согласования.</a:t>
            </a:r>
            <a:endParaRPr lang="en-US" sz="1150" noProof="1"/>
          </a:p>
        </p:txBody>
      </p:sp>
      <p:sp>
        <p:nvSpPr>
          <p:cNvPr id="20" name="sep3"/>
          <p:cNvSpPr/>
          <p:nvPr/>
        </p:nvSpPr>
        <p:spPr>
          <a:xfrm>
            <a:off x="609600" y="4241800"/>
            <a:ext cx="10972800" cy="12700"/>
          </a:xfrm>
          <a:prstGeom prst="rect">
            <a:avLst/>
          </a:prstGeom>
          <a:solidFill>
            <a:srgbClr val="DCD5C3"/>
          </a:solidFill>
          <a:ln>
            <a:noFill/>
          </a:ln>
        </p:spPr>
      </p:sp>
      <p:sp>
        <p:nvSpPr>
          <p:cNvPr id="21" name="r4-c"/>
          <p:cNvSpPr/>
          <p:nvPr/>
        </p:nvSpPr>
        <p:spPr>
          <a:xfrm>
            <a:off x="609600" y="4394200"/>
            <a:ext cx="660400" cy="660400"/>
          </a:xfrm>
          <a:prstGeom prst="ellipse">
            <a:avLst/>
          </a:prstGeom>
          <a:solidFill>
            <a:srgbClr val="EFE9DA"/>
          </a:solidFill>
          <a:ln w="15875">
            <a:solidFill>
              <a:srgbClr val="123B2F"/>
            </a:solidFill>
          </a:ln>
        </p:spPr>
      </p:sp>
      <p:sp>
        <p:nvSpPr>
          <p:cNvPr id="22" name="r4-i"/>
          <p:cNvSpPr txBox="1"/>
          <p:nvPr/>
        </p:nvSpPr>
        <p:spPr>
          <a:xfrm>
            <a:off x="609600" y="4394200"/>
            <a:ext cx="660400" cy="660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b="1" noProof="1">
                <a:solidFill>
                  <a:srgbClr val="123B2F"/>
                </a:solidFill>
                <a:latin typeface="MiSans"/>
                <a:ea typeface="MiSans"/>
              </a:rPr>
              <a:t>A.Kol.</a:t>
            </a:r>
            <a:endParaRPr lang="en-US" sz="1200" noProof="1"/>
          </a:p>
        </p:txBody>
      </p:sp>
      <p:sp>
        <p:nvSpPr>
          <p:cNvPr id="23" name="r4-n"/>
          <p:cNvSpPr txBox="1"/>
          <p:nvPr/>
        </p:nvSpPr>
        <p:spPr>
          <a:xfrm>
            <a:off x="1498600" y="4394200"/>
            <a:ext cx="3098800" cy="711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1450" b="1" noProof="1">
                <a:solidFill>
                  <a:srgbClr val="123B2F"/>
                </a:solidFill>
                <a:latin typeface="MiSans"/>
                <a:ea typeface="MiSans"/>
              </a:rPr>
              <a:t>A.Kol.</a:t>
            </a:r>
            <a:endParaRPr lang="en-US" sz="1600" noProof="1"/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lang="en-US" sz="1100" noProof="1">
                <a:solidFill>
                  <a:srgbClr val="B08D3E"/>
                </a:solidFill>
                <a:latin typeface="MiSans"/>
                <a:ea typeface="MiSans"/>
              </a:rPr>
              <a:t>Бизнес-аналитик</a:t>
            </a:r>
            <a:endParaRPr lang="en-US" sz="1600" noProof="1"/>
          </a:p>
        </p:txBody>
      </p:sp>
      <p:sp>
        <p:nvSpPr>
          <p:cNvPr id="24" name="r4-d"/>
          <p:cNvSpPr txBox="1"/>
          <p:nvPr/>
        </p:nvSpPr>
        <p:spPr>
          <a:xfrm>
            <a:off x="4851400" y="4343400"/>
            <a:ext cx="6731000" cy="838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5000"/>
              </a:lnSpc>
            </a:pPr>
            <a:r>
              <a:rPr lang="en-US" sz="1150" noProof="1">
                <a:solidFill>
                  <a:srgbClr val="33302A"/>
                </a:solidFill>
                <a:latin typeface="MiSans"/>
                <a:ea typeface="MiSans"/>
              </a:rPr>
              <a:t>Собирает и формализует требования, моделирует процессы бюджетирования, готовит постановки для разработки. Обеспечивает </a:t>
            </a:r>
            <a:r>
              <a:rPr lang="ru-RU" sz="1150" noProof="1">
                <a:solidFill>
                  <a:srgbClr val="33302A"/>
                </a:solidFill>
                <a:latin typeface="MiSans"/>
                <a:ea typeface="MiSans"/>
              </a:rPr>
              <a:t>прослеживаемость</a:t>
            </a:r>
            <a:r>
              <a:rPr lang="en-US" sz="1150" noProof="1">
                <a:solidFill>
                  <a:srgbClr val="33302A"/>
                </a:solidFill>
                <a:latin typeface="MiSans"/>
                <a:ea typeface="MiSans"/>
              </a:rPr>
              <a:t>: от требования заказчика до проверки результата на приёмке.</a:t>
            </a:r>
            <a:endParaRPr lang="en-US" sz="1150" noProof="1"/>
          </a:p>
        </p:txBody>
      </p:sp>
      <p:sp>
        <p:nvSpPr>
          <p:cNvPr id="25" name="sep4"/>
          <p:cNvSpPr/>
          <p:nvPr/>
        </p:nvSpPr>
        <p:spPr>
          <a:xfrm>
            <a:off x="609600" y="5207000"/>
            <a:ext cx="10972800" cy="12700"/>
          </a:xfrm>
          <a:prstGeom prst="rect">
            <a:avLst/>
          </a:prstGeom>
          <a:solidFill>
            <a:srgbClr val="DCD5C3"/>
          </a:solidFill>
          <a:ln>
            <a:noFill/>
          </a:ln>
        </p:spPr>
      </p:sp>
      <p:sp>
        <p:nvSpPr>
          <p:cNvPr id="26" name="r5-c"/>
          <p:cNvSpPr/>
          <p:nvPr/>
        </p:nvSpPr>
        <p:spPr>
          <a:xfrm>
            <a:off x="609600" y="5359400"/>
            <a:ext cx="660400" cy="660400"/>
          </a:xfrm>
          <a:prstGeom prst="ellipse">
            <a:avLst/>
          </a:prstGeom>
          <a:solidFill>
            <a:srgbClr val="EFE9DA"/>
          </a:solidFill>
          <a:ln w="15875">
            <a:solidFill>
              <a:srgbClr val="123B2F"/>
            </a:solidFill>
          </a:ln>
        </p:spPr>
      </p:sp>
      <p:sp>
        <p:nvSpPr>
          <p:cNvPr id="27" name="r5-i"/>
          <p:cNvSpPr txBox="1"/>
          <p:nvPr/>
        </p:nvSpPr>
        <p:spPr>
          <a:xfrm>
            <a:off x="609600" y="5359400"/>
            <a:ext cx="660400" cy="660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b="1" noProof="1">
                <a:solidFill>
                  <a:srgbClr val="123B2F"/>
                </a:solidFill>
                <a:latin typeface="MiSans"/>
                <a:ea typeface="MiSans"/>
              </a:rPr>
              <a:t>E.P.</a:t>
            </a:r>
            <a:endParaRPr lang="en-US" sz="1400" noProof="1"/>
          </a:p>
        </p:txBody>
      </p:sp>
      <p:sp>
        <p:nvSpPr>
          <p:cNvPr id="28" name="r5-n"/>
          <p:cNvSpPr txBox="1"/>
          <p:nvPr/>
        </p:nvSpPr>
        <p:spPr>
          <a:xfrm>
            <a:off x="1498600" y="5359400"/>
            <a:ext cx="3098800" cy="711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1450" b="1" noProof="1">
                <a:solidFill>
                  <a:srgbClr val="123B2F"/>
                </a:solidFill>
                <a:latin typeface="MiSans"/>
                <a:ea typeface="MiSans"/>
              </a:rPr>
              <a:t>E.P.</a:t>
            </a:r>
            <a:endParaRPr lang="en-US" sz="1600" noProof="1"/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lang="en-US" sz="1100" noProof="1">
                <a:solidFill>
                  <a:srgbClr val="B08D3E"/>
                </a:solidFill>
                <a:latin typeface="MiSans"/>
                <a:ea typeface="MiSans"/>
              </a:rPr>
              <a:t>Поддержка проекта</a:t>
            </a:r>
            <a:endParaRPr lang="en-US" sz="1600" noProof="1"/>
          </a:p>
        </p:txBody>
      </p:sp>
      <p:sp>
        <p:nvSpPr>
          <p:cNvPr id="29" name="r5-d"/>
          <p:cNvSpPr txBox="1"/>
          <p:nvPr/>
        </p:nvSpPr>
        <p:spPr>
          <a:xfrm>
            <a:off x="4851400" y="5394052"/>
            <a:ext cx="6731000" cy="49773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5000"/>
              </a:lnSpc>
            </a:pPr>
            <a:r>
              <a:rPr lang="en-US" sz="1150" noProof="1">
                <a:solidFill>
                  <a:srgbClr val="33302A"/>
                </a:solidFill>
                <a:latin typeface="MiSans"/>
                <a:ea typeface="MiSans"/>
              </a:rPr>
              <a:t>Операционная поддержка команды:</a:t>
            </a:r>
            <a:r>
              <a:rPr lang="ru-RU" sz="1150" noProof="1">
                <a:solidFill>
                  <a:srgbClr val="33302A"/>
                </a:solidFill>
                <a:latin typeface="MiSans"/>
                <a:ea typeface="MiSans"/>
              </a:rPr>
              <a:t> выверка данных</a:t>
            </a:r>
            <a:r>
              <a:rPr lang="en-US" sz="1150" noProof="1">
                <a:solidFill>
                  <a:srgbClr val="33302A"/>
                </a:solidFill>
                <a:latin typeface="MiSans"/>
                <a:ea typeface="MiSans"/>
              </a:rPr>
              <a:t>,</a:t>
            </a:r>
            <a:r>
              <a:rPr lang="ru-RU" sz="1150" noProof="1">
                <a:solidFill>
                  <a:srgbClr val="33302A"/>
                </a:solidFill>
                <a:latin typeface="MiSans"/>
                <a:ea typeface="MiSans"/>
              </a:rPr>
              <a:t> </a:t>
            </a:r>
            <a:r>
              <a:rPr lang="en-US" sz="1150" noProof="1">
                <a:solidFill>
                  <a:srgbClr val="33302A"/>
                </a:solidFill>
                <a:latin typeface="MiSans"/>
                <a:ea typeface="MiSans"/>
              </a:rPr>
              <a:t>ad-hoc </a:t>
            </a:r>
            <a:r>
              <a:rPr lang="ru-RU" sz="1150" noProof="1">
                <a:solidFill>
                  <a:srgbClr val="33302A"/>
                </a:solidFill>
                <a:latin typeface="MiSans"/>
                <a:ea typeface="MiSans"/>
              </a:rPr>
              <a:t>задачи </a:t>
            </a:r>
            <a:endParaRPr lang="en-US" sz="1150" noProof="1"/>
          </a:p>
        </p:txBody>
      </p:sp>
      <p:sp>
        <p:nvSpPr>
          <p:cNvPr id="30" name="sep5"/>
          <p:cNvSpPr/>
          <p:nvPr/>
        </p:nvSpPr>
        <p:spPr>
          <a:xfrm>
            <a:off x="609600" y="6172200"/>
            <a:ext cx="10972800" cy="12700"/>
          </a:xfrm>
          <a:prstGeom prst="rect">
            <a:avLst/>
          </a:prstGeom>
          <a:solidFill>
            <a:srgbClr val="DCD5C3"/>
          </a:solidFill>
          <a:ln>
            <a:noFill/>
          </a:ln>
        </p:spPr>
      </p:sp>
      <p:sp>
        <p:nvSpPr>
          <p:cNvPr id="31" name="footer"/>
          <p:cNvSpPr txBox="1"/>
          <p:nvPr/>
        </p:nvSpPr>
        <p:spPr>
          <a:xfrm>
            <a:off x="609600" y="6502400"/>
            <a:ext cx="584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900" kern="0" spc="200" noProof="1">
                <a:solidFill>
                  <a:srgbClr val="6E685B"/>
                </a:solidFill>
                <a:latin typeface="IBM Plex Mono"/>
                <a:ea typeface="IBM Plex Mono"/>
              </a:rPr>
              <a:t>БЮДЖЕТНАЯ СИСТЕМА · ЗАТРАТЫ НА ПЕРСОНАЛ · РОЛИ КОМАНДЫ</a:t>
            </a:r>
            <a:endParaRPr lang="en-US" sz="900" noProof="1"/>
          </a:p>
        </p:txBody>
      </p:sp>
      <p:sp>
        <p:nvSpPr>
          <p:cNvPr id="37" name="r4-d">
            <a:extLst>
              <a:ext uri="{FF2B5EF4-FFF2-40B4-BE49-F238E27FC236}">
                <a16:creationId xmlns:a16="http://schemas.microsoft.com/office/drawing/2014/main" id="{4DA85D58-14A6-46CA-A44E-7FD513A0235A}"/>
              </a:ext>
            </a:extLst>
          </p:cNvPr>
          <p:cNvSpPr txBox="1"/>
          <p:nvPr/>
        </p:nvSpPr>
        <p:spPr>
          <a:xfrm>
            <a:off x="4851400" y="2515612"/>
            <a:ext cx="6731000" cy="838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5000"/>
              </a:lnSpc>
            </a:pPr>
            <a:r>
              <a:rPr lang="en-US" sz="1150" noProof="1">
                <a:solidFill>
                  <a:srgbClr val="33302A"/>
                </a:solidFill>
                <a:latin typeface="MiSans"/>
                <a:ea typeface="MiSans"/>
              </a:rPr>
              <a:t>Методолог со стороны заказчика. Формирует правила планирования затрат на персонал, анализирует массивы данных, проверяет корректность расчётов и их сходимость с учётными системами.</a:t>
            </a:r>
            <a:endParaRPr lang="en-US" sz="1150" noProof="1"/>
          </a:p>
        </p:txBody>
      </p:sp>
      <p:sp>
        <p:nvSpPr>
          <p:cNvPr id="38" name="r2-c">
            <a:extLst>
              <a:ext uri="{FF2B5EF4-FFF2-40B4-BE49-F238E27FC236}">
                <a16:creationId xmlns:a16="http://schemas.microsoft.com/office/drawing/2014/main" id="{9BFB8C7B-C389-4654-A997-938DA41FEB6C}"/>
              </a:ext>
            </a:extLst>
          </p:cNvPr>
          <p:cNvSpPr/>
          <p:nvPr/>
        </p:nvSpPr>
        <p:spPr>
          <a:xfrm>
            <a:off x="609600" y="2470150"/>
            <a:ext cx="660400" cy="660400"/>
          </a:xfrm>
          <a:prstGeom prst="ellipse">
            <a:avLst/>
          </a:prstGeom>
          <a:solidFill>
            <a:srgbClr val="EFE9DA"/>
          </a:solidFill>
          <a:ln w="15875">
            <a:solidFill>
              <a:srgbClr val="123B2F"/>
            </a:solidFill>
          </a:ln>
        </p:spPr>
        <p:txBody>
          <a:bodyPr/>
          <a:lstStyle/>
          <a:p>
            <a:endParaRPr lang="ru-RU" dirty="0"/>
          </a:p>
        </p:txBody>
      </p:sp>
      <p:sp>
        <p:nvSpPr>
          <p:cNvPr id="35" name="r4-i">
            <a:extLst>
              <a:ext uri="{FF2B5EF4-FFF2-40B4-BE49-F238E27FC236}">
                <a16:creationId xmlns:a16="http://schemas.microsoft.com/office/drawing/2014/main" id="{59D96C6D-12C8-48E0-9D1E-0F1AE2E2E5CF}"/>
              </a:ext>
            </a:extLst>
          </p:cNvPr>
          <p:cNvSpPr txBox="1"/>
          <p:nvPr/>
        </p:nvSpPr>
        <p:spPr>
          <a:xfrm>
            <a:off x="609600" y="2476500"/>
            <a:ext cx="660400" cy="660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300" b="1" noProof="1">
                <a:solidFill>
                  <a:srgbClr val="123B2F"/>
                </a:solidFill>
                <a:latin typeface="MiSans"/>
                <a:ea typeface="MiSans"/>
              </a:rPr>
              <a:t>Yu.R.</a:t>
            </a:r>
            <a:endParaRPr lang="en-US" sz="1300" noProof="1"/>
          </a:p>
        </p:txBody>
      </p:sp>
      <p:sp>
        <p:nvSpPr>
          <p:cNvPr id="39" name="sep2">
            <a:extLst>
              <a:ext uri="{FF2B5EF4-FFF2-40B4-BE49-F238E27FC236}">
                <a16:creationId xmlns:a16="http://schemas.microsoft.com/office/drawing/2014/main" id="{9F667228-F019-4413-BA7D-717B57EF86E3}"/>
              </a:ext>
            </a:extLst>
          </p:cNvPr>
          <p:cNvSpPr/>
          <p:nvPr/>
        </p:nvSpPr>
        <p:spPr>
          <a:xfrm>
            <a:off x="762000" y="2417708"/>
            <a:ext cx="10972800" cy="12700"/>
          </a:xfrm>
          <a:prstGeom prst="rect">
            <a:avLst/>
          </a:prstGeom>
          <a:solidFill>
            <a:srgbClr val="DCD5C3"/>
          </a:solidFill>
          <a:ln>
            <a:noFill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PPTD">
  <a:themeElements>
    <a:clrScheme name="PPTD">
      <a:dk1>
        <a:srgbClr val="000000"/>
      </a:dk1>
      <a:lt1>
        <a:srgbClr val="FFFFFF"/>
      </a:lt1>
      <a:dk2>
        <a:srgbClr val="1F2937"/>
      </a:dk2>
      <a:lt2>
        <a:srgbClr val="F3F4F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PTD">
      <a:majorFont>
        <a:latin typeface="MiSans"/>
        <a:ea typeface="MiSans"/>
        <a:cs typeface="MiSans"/>
      </a:majorFont>
      <a:minorFont>
        <a:latin typeface="MiSans"/>
        <a:ea typeface="MiSans"/>
        <a:cs typeface="MiSans"/>
      </a:minorFont>
    </a:fontScheme>
    <a:fmtScheme name="PPTD">
      <a:fillStyleLst>
        <a:solidFill>
          <a:schemeClr val="accent1"/>
        </a:solidFill>
        <a:solidFill>
          <a:schemeClr val="accent2"/>
        </a:solidFill>
        <a:solidFill>
          <a:schemeClr val="accent3"/>
        </a:solidFill>
      </a:fillStyleLst>
      <a:lnStyleLst>
        <a:ln w="6350" cap="flat" cmpd="sng" algn="ctr">
          <a:solidFill>
            <a:schemeClr val="accent1"/>
          </a:solidFill>
          <a:prstDash val="solid"/>
        </a:ln>
        <a:ln w="12700" cap="flat" cmpd="sng" algn="ctr">
          <a:solidFill>
            <a:schemeClr val="accent1"/>
          </a:solidFill>
          <a:prstDash val="solid"/>
        </a:ln>
        <a:ln w="19050" cap="flat" cmpd="sng" algn="ctr">
          <a:solidFill>
            <a:schemeClr val="accent1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lt1"/>
        </a:solidFill>
        <a:solidFill>
          <a:schemeClr val="lt2"/>
        </a:solidFill>
        <a:solidFill>
          <a:schemeClr val="dk1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486</Words>
  <Application>Microsoft Office PowerPoint</Application>
  <PresentationFormat>Широкоэкранный</PresentationFormat>
  <Paragraphs>60</Paragraphs>
  <Slides>3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</vt:i4>
      </vt:variant>
    </vt:vector>
  </HeadingPairs>
  <TitlesOfParts>
    <vt:vector size="6" baseType="lpstr">
      <vt:lpstr>IBM Plex Mono</vt:lpstr>
      <vt:lpstr>MiSans</vt:lpstr>
      <vt:lpstr>PPTD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Роли проектной команды — бюджетная система по затратам на персонал</dc:title>
  <dc:creator>Anna Obycheva</dc:creator>
  <cp:lastModifiedBy>Анна Барыбина</cp:lastModifiedBy>
  <cp:revision>4</cp:revision>
  <dcterms:modified xsi:type="dcterms:W3CDTF">2026-08-18T11:47:40Z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/>
  </property>
</Properties>
</file>
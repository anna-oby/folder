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слайд. Важно сразу задать рамку: цель встречи — не разбор персональной ответственности, а согласование процесса, который снизит риски для HR КИБ и снимет неоднозначность для всех функций.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использовать как повестку и как список решений, которые должны быть получены на встрече. Важно подчеркнуть: нужно не просто обсудить проблему, а выйти с зафиксированными критериями и владельцами.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слайда — показать, что проблема системная: данные распределены по источникам, они обновляются по-разному, а доступы фрагментированы. Поэтому даже добросовестные участники процесса могут иметь разные версии реальности.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аккуратно показать, что база для решения уже есть. Но текущий файл — это рабочий инструмент для разового запроса, а не управляемый мастер-справочник: в нем смешаны разные типы данных и разные владельцы.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важно прямо, но нейтрально назвать проблему. Формулировка избегает обвинений: процесс сложился исторически и теперь требует формализации. Роль HRD/Senior HRBP не оспаривается, наоборот — предлагается закрепить ее как бизнес-решение.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переводит вопрос из операционного спора в язык рисков. Это помогает вовлечь HRD и руководителей функций: проблема не в конкретном поле в таблице, а в рисках отчетности, выплат, бюджета и регуляторных обязательств.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политически ключевой слайд. Он оставляет за HRD/Senior HRBP роль владельцев решений, но снимает риск “одного канала”: любой значимый сигнал можно инициировать, а решение подтверждает уполномоченный владелец.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решение не сводится к “давайте заведем еще один Excel”. Нужна связка реестра, событий, чек-листа и RACI. Автоматизация может быть поэтапной, но логика должна быть согласована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нужен для первого решения: не спорить о том, “наше” юрлицо или нет вообще, а разделить контуры. Это позволит политически корректно принять решение и избежать ложных конфликтов между отчетностью и операционной поддержкой.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— перевести “колодец” из неформального знания в управляемый атрибут. Важный политический момент: не навязывать конкретный справочник, а вынести на утверждение критерии и оставить опцию “иной вариант”.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помогает снять опасение, что процесс создаст огромную бюрократию. Мы предлагаем разделить данные: не все должно быть онлайн, но критичные поля должны быть актуальны всегда.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предлагается workflow. Важно подчеркнуть, что событие может запускать полный или частичный чек-лист. Например, переименование требует истории названия и обновления систем, но не всегда полного подключения Payroll/Admin.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проектная RACI, не финальное решение. Ее задача — спровоцировать управленческое решение: кто A, кто R, кто C/I. Важно не пытаться утвердить всю таблицу без обсуждения, а получить корректировки от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открыть в конце основной дискуссии и пройти по пунктам. Он помогает избежать ситуации, когда все согласились “в целом”, но конкретные решения не зафиксированы.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— для протокола. Он помогает закрепить, какие решения должны быть вынесены после встречи. Если не все будет согласовано, важно зафиксировать, кто дорабатывает и к какому сроку.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можно показывать только если будет время. Основная цель — показать, что обсуждаемые решения позже лягут в карточку юрлица и требования к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00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51960" y="1143000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Юрлица в контуре HR КИБ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79392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к встрече с HRD, Senior HRBP и руководителями HR-функций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79392" y="276148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согласовать управляемую логику ведения юрлиц, критерии КИБ/«колодцев», критичные данные и ответственность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3977640"/>
            <a:ext cx="4023360" cy="292608"/>
          </a:xfrm>
          <a:prstGeom prst="rect">
            <a:avLst/>
          </a:prstGeom>
          <a:solidFill>
            <a:srgbClr val="EAF7F5"/>
          </a:solidFill>
          <a:ln>
            <a:solidFill>
              <a:srgbClr val="EAF7F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Встреча для решений, не для поиска виноватых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6016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получить по итогам встречи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фокус: зафиксировать правила игры и варианты решений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533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2344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КИБ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05072" y="12527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юрлицо считается относящимся к HR КИБ: для отчетности, поддержки и управленческого контура.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50392" y="1691640"/>
            <a:ext cx="0" cy="384048"/>
          </a:xfrm>
          <a:prstGeom prst="line">
            <a:avLst/>
          </a:prstGeom>
          <a:noFill/>
          <a:ln w="12700">
            <a:solidFill>
              <a:srgbClr val="DD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4884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219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«колодцев»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05072" y="21214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относить юрлица к группам / подгруппам и что делать с «не в группе».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50392" y="2560320"/>
            <a:ext cx="0" cy="384048"/>
          </a:xfrm>
          <a:prstGeom prst="line">
            <a:avLst/>
          </a:prstGeom>
          <a:noFill/>
          <a:ln w="12700">
            <a:solidFill>
              <a:srgbClr val="DD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01752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090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971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данные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05072" y="29900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поля должны быть актуальны постоянно, а какие можно собирать под запрос.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0392" y="3429000"/>
            <a:ext cx="0" cy="384048"/>
          </a:xfrm>
          <a:prstGeom prst="line">
            <a:avLst/>
          </a:prstGeom>
          <a:noFill/>
          <a:ln w="12700">
            <a:solidFill>
              <a:srgbClr val="DD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862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9593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840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005072" y="38587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принимает решение, кто поддерживает данные, кто контролирует исполнение.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0392" y="4297680"/>
            <a:ext cx="0" cy="384048"/>
          </a:xfrm>
          <a:prstGeom prst="line">
            <a:avLst/>
          </a:prstGeom>
          <a:noFill/>
          <a:ln w="12700">
            <a:solidFill>
              <a:srgbClr val="DD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754880"/>
            <a:ext cx="384048" cy="384048"/>
          </a:xfrm>
          <a:prstGeom prst="ellipse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828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4709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/ иной вариант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005072" y="4727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предложенную модель, скорректировать ее или выбрать альтернативный подход.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обсуждения: фиксируем не «кто виноват», а где сейчас не хватает формального механизма, чтобы сигнал, данные и задачи приходили вовремя.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картина: структура сложнее, чем один справочник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Юрлица живут в разных источниках, с разной регулярностью обновления и разными правами доступа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частота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143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HR-процессы, которые зависят от данных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0" y="1143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доступа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109728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633472"/>
            <a:ext cx="109728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3584448"/>
            <a:ext cx="109728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3880" y="2633472"/>
            <a:ext cx="73152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8368" y="1417320"/>
            <a:ext cx="2560320" cy="658368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HR Admin / Payroll поддержка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59152"/>
            <a:ext cx="2560320" cy="658368"/>
          </a:xfrm>
          <a:prstGeom prst="rect">
            <a:avLst/>
          </a:prstGeom>
          <a:solidFill>
            <a:srgbClr val="FFF5DD"/>
          </a:solidFill>
          <a:ln w="12700">
            <a:solidFill>
              <a:srgbClr val="F4D2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Аутсорс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данные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отдельному контуру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310128"/>
            <a:ext cx="2560320" cy="658368"/>
          </a:xfrm>
          <a:prstGeom prst="rect">
            <a:avLst/>
          </a:prstGeom>
          <a:solidFill>
            <a:srgbClr val="F1F3FF"/>
          </a:solidFill>
          <a:ln w="12700">
            <a:solidFill>
              <a:srgbClr val="D8DC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Иные системы / датасеты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ежемесячно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неполный контур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490472"/>
            <a:ext cx="352044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6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HRPT / локальная HRIS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+ управленческие HR-атрибуты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полей ведется вручную или требует подтверждения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0288" y="4297680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отчетность КИБ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27648" y="4297680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ФОТ / HC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0288" y="4690872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7648" y="4690872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0288" y="5084064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/ льготы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7648" y="5084064"/>
            <a:ext cx="160020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доступы / HRIS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06840" y="1609344"/>
            <a:ext cx="2423160" cy="1371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зависят от роли, периметра и «колодца»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контур видят не все участники процесса.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3319272"/>
            <a:ext cx="2423160" cy="1170432"/>
          </a:xfrm>
          <a:prstGeom prst="rect">
            <a:avLst/>
          </a:prstGeom>
          <a:solidFill>
            <a:srgbClr val="FFF0ED"/>
          </a:solidFill>
          <a:ln w="12700">
            <a:solidFill>
              <a:srgbClr val="F0B7A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Следствие: разные участники видят разные фрагменты картины и могут по-разному трактовать, что значит «наше юрлицо».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614416"/>
            <a:ext cx="10789920" cy="457200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единая логика: source of record по полям + события изменений + обязательный чек-лист действий.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показывает рабочий реестр юрлиц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Обезличенный файл уже содержит основу для будущей матрицы данных и ответственности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240280" cy="658368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01952"/>
            <a:ext cx="22402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юрлиц / объектов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рабочем перечне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74720" y="1234440"/>
            <a:ext cx="2240280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0" y="1901952"/>
            <a:ext cx="22402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полей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ручном запросе менеджмента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234440"/>
            <a:ext cx="2240280" cy="658368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63640" y="1901952"/>
            <a:ext cx="22402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 владельцев данных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второй строке реестра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0" y="1234440"/>
            <a:ext cx="2240280" cy="658368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52560" y="1901952"/>
            <a:ext cx="224028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логических блока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одной плоской таблице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блоки, которые сейчас смешаны в одной таблице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73552"/>
            <a:ext cx="2331720" cy="36576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7588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/ ОГРН, наименование, численность, директор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3520440" y="3273552"/>
            <a:ext cx="2331720" cy="36576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контур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67588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периметр, «колодец», участие, консолидация, отчетность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309360" y="3273552"/>
            <a:ext cx="2331720" cy="36576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HR-поддержка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67588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Payroll, HR Admin, аутсорс, выплаты, КЭДО, квотирование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9098280" y="3273552"/>
            <a:ext cx="2331720" cy="36576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Пояснения и исключения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3675888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назначение, комментарии, проектные компании, спорные случаи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85800" y="4663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Владельцы полей из текущего реестра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98348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88920" y="4997196"/>
            <a:ext cx="224028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498348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49808" y="5148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88920" y="5161788"/>
            <a:ext cx="18669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514807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49808" y="531266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788920" y="5326380"/>
            <a:ext cx="149352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531266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49808" y="547725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788920" y="5490972"/>
            <a:ext cx="1493520" cy="73152"/>
          </a:xfrm>
          <a:prstGeom prst="rect">
            <a:avLst/>
          </a:prstGeom>
          <a:solidFill>
            <a:srgbClr val="DDE5EA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547725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49808" y="564184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+ HRBP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788920" y="5655564"/>
            <a:ext cx="1120140" cy="73152"/>
          </a:xfrm>
          <a:prstGeom prst="rect">
            <a:avLst/>
          </a:prstGeom>
          <a:solidFill>
            <a:srgbClr val="DDE5EA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564184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749808" y="58064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788920" y="5820156"/>
            <a:ext cx="746760" cy="73152"/>
          </a:xfrm>
          <a:prstGeom prst="rect">
            <a:avLst/>
          </a:prstGeom>
          <a:solidFill>
            <a:srgbClr val="DDE5EA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580644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49808" y="59710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788920" y="5984748"/>
            <a:ext cx="373380" cy="73152"/>
          </a:xfrm>
          <a:prstGeom prst="rect">
            <a:avLst/>
          </a:prstGeom>
          <a:solidFill>
            <a:srgbClr val="DDE5EA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5971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49808" y="61356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+ HRBP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788920" y="6149340"/>
            <a:ext cx="373380" cy="73152"/>
          </a:xfrm>
          <a:prstGeom prst="rect">
            <a:avLst/>
          </a:prstGeom>
          <a:solidFill>
            <a:srgbClr val="DDE5EA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61356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989320" y="4773168"/>
            <a:ext cx="5257800" cy="941832"/>
          </a:xfrm>
          <a:prstGeom prst="rect">
            <a:avLst/>
          </a:prstGeom>
          <a:solidFill>
            <a:srgbClr val="FFF5DD"/>
          </a:solidFill>
          <a:ln w="12700">
            <a:solidFill>
              <a:srgbClr val="F4D2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перечень полей уже отражает реальные потребности менеджмента, но должен быть преобразован в управляемую модель: поле → владелец → источник → частота → история → права доступа.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процесс сейчас ломается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проблема — не отсутствие усилий, а отсутствие формально закрепленной логики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37360" y="1847088"/>
            <a:ext cx="91440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40480" y="1847088"/>
            <a:ext cx="91440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43600" y="1847088"/>
            <a:ext cx="91440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46720" y="1847088"/>
            <a:ext cx="91440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1078992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152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169164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121408"/>
            <a:ext cx="1901952" cy="1325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/ измененное юрлицо появляется из HRD, HRBP, бизнеса, Legal или иных источников.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2926080" y="1078992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1152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1572768"/>
            <a:ext cx="169164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Интерпретация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79192" y="2121408"/>
            <a:ext cx="1901952" cy="1325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всегда ясно, относится ли юрлицо к КИБ и в каком смысле: отчетность, поддержка, бюджет, HRIS.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5029200" y="1078992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1152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572768"/>
            <a:ext cx="169164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82312" y="2121408"/>
            <a:ext cx="1901952" cy="1325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приходит полный набор полей: периметр, «колодец», поддержка, даты, регуляторные признаки.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7132320" y="1078992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1464" y="1152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1572768"/>
            <a:ext cx="169164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85432" y="2121408"/>
            <a:ext cx="1901952" cy="1325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Payroll, Admin, Reward, HRIS могут не понимать, что именно и к какой дате нужно сделать.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9235440" y="1078992"/>
            <a:ext cx="384048" cy="384048"/>
          </a:xfrm>
          <a:prstGeom prst="ellipse">
            <a:avLst/>
          </a:prstGeom>
          <a:solidFill>
            <a:srgbClr val="D85C4A"/>
          </a:solidFill>
          <a:ln w="12700">
            <a:solidFill>
              <a:srgbClr val="D85C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4584" y="1152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1572768"/>
            <a:ext cx="1691640" cy="34747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88552" y="2121408"/>
            <a:ext cx="1901952" cy="132588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единого статуса готовности, истории изменений и точки эскалации.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22960" y="4160520"/>
            <a:ext cx="3200400" cy="32918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Политически корректная формулировка проблемы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535424"/>
            <a:ext cx="106070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исторически сложился как набор договоренностей и ручных сверок. При росте сложности юридической структуры этого уже недостаточно: нужна формальная точка решения, резервные триггеры и обязательный минимум данных.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577840"/>
            <a:ext cx="10607040" cy="420624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встречи: закрепить процесс так, чтобы HRD / Senior HRBP сохраняли роль владельцев бизнес-решения, а HR-функции получали сигнал и данные вовремя.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важно: риски от позднего или неполного подключения юрлица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риск возникает не в одном подразделении, а на стыке данных, решений и исполнения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64592" cy="1005840"/>
          </a:xfrm>
          <a:prstGeom prst="rect">
            <a:avLst/>
          </a:prstGeom>
          <a:solidFill>
            <a:srgbClr val="D85C4A"/>
          </a:solidFill>
          <a:ln w="12700">
            <a:solidFill>
              <a:srgbClr val="D85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14300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Отчетность и штрафы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" y="152704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поздно узнали о юрлице → не успели включить в обязательную или управленческую отчетность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164592" cy="1005840"/>
          </a:xfrm>
          <a:prstGeom prst="rect">
            <a:avLst/>
          </a:prstGeom>
          <a:solidFill>
            <a:srgbClr val="D85C4A"/>
          </a:solidFill>
          <a:ln w="12700">
            <a:solidFill>
              <a:srgbClr val="D85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14300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/ выплаты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3952" y="152704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неясен статус поддержки, зарплатный проект или способ передачи в бухгалтерию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164592" cy="1005840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46888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ФОТ / HC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85292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пропущено или неверно классифицировано → искажение бюджета и план-факт анализа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164592" cy="1005840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46888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Регуляторные признаки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85292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лицензия, госучастие, обязательное обучение или закупочный режим не отражены вовремя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164592" cy="100584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79476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Менеджмент-запросы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" y="417880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 быстро подтвердить состав КИБ или статус конкретных юрлиц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164592" cy="100584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794760"/>
            <a:ext cx="1874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4178808"/>
            <a:ext cx="4553712" cy="566928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периметры видимости → риск неполного анализа или ручной передачи данных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5532120"/>
            <a:ext cx="10149840" cy="457200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риск уровня governance: разные команды могут работать с разной версией состава «наших» юрлиц.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принцип: решение и исполнение должны быть разделены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HRD / Senior HRBP — владельцы бизнес-логики; процесс — гарантия, что сигнал не потеряется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606040" y="2514600"/>
            <a:ext cx="19659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514600"/>
            <a:ext cx="201168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2514600" cy="205740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Сигнал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прийти от HRD / Senior HRBP, HRBP, Legal, Business Management, Payroll, HRIS или другого источника.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89888"/>
            <a:ext cx="2514600" cy="2057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Бизнес-решение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00600" y="226771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Принадлежность к КИБ, периметр, «колодец», модель поддержки. Решение подтверждают HRD / Senior HRBP.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41080" y="1389888"/>
            <a:ext cx="2514600" cy="2057400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Исполнение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0" y="2286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HRIS, Payroll, Admin, Reward и другие функции выполняют задачи по чек-листу и фиксируют статус готовности.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2560320" cy="32918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меняется в целевой модели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49884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4572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456285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может быть инициирован несколькими источниками, но бизнес-решение подтверждается уполномоченными ролями;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882896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4956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494690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не принимается «в работу целиком» без минимального набора критичных данных;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266944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340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5330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подтверждение не получено в срок, включается эскалация, а не ручной поиск ответственного;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5650992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5724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5715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изменение имеет дату действия, основание и историю.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проект решения: Legal Structure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новая таблица, а управляемый процесс мастер-данных и событий по юрлицам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617720" y="1965960"/>
            <a:ext cx="2926080" cy="2926080"/>
          </a:xfrm>
          <a:prstGeom prst="ellipse">
            <a:avLst/>
          </a:prstGeom>
          <a:solidFill>
            <a:srgbClr val="123044"/>
          </a:solidFill>
          <a:ln w="12700">
            <a:solidFill>
              <a:srgbClr val="1230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01768" y="2542032"/>
            <a:ext cx="21396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324612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Master-реестр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3246120" cy="731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карточка юрлица, source of record по полям, история изменений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183880" y="1234440"/>
            <a:ext cx="3246120" cy="41148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workflow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1709928"/>
            <a:ext cx="3246120" cy="731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юрлицо, переименование, смена периметра, аутсорс, ликвидация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13232" y="4736592"/>
            <a:ext cx="3246120" cy="411480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readiness checklist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5212080"/>
            <a:ext cx="3246120" cy="731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Payroll, HR Admin, HRIS, Reward, отчетности и владельцев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183880" y="4736592"/>
            <a:ext cx="3246120" cy="411480"/>
          </a:xfrm>
          <a:prstGeom prst="rect">
            <a:avLst/>
          </a:prstGeom>
          <a:solidFill>
            <a:srgbClr val="725AC1"/>
          </a:solidFill>
          <a:ln w="12700">
            <a:solidFill>
              <a:srgbClr val="725AC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RACI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5212080"/>
            <a:ext cx="3246120" cy="731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принимает решение, кто ведет поле, кто контролирует и эскалирует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148840" y="6053328"/>
            <a:ext cx="7909560" cy="292608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эффект: одна версия правды по составу HR КИБ + понятный статус каждого юрлица + своевременные задачи HR-функциям.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1. Критерии отнесения юрлица к КИБ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Предлагается отказаться от одного признака «наше / не наше» и вести три отдельных флага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307592"/>
            <a:ext cx="3246120" cy="475488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контур КИБ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56232"/>
            <a:ext cx="324612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относится к зоне ответственности HRD / Senior HRBP для управленческих решений и контроля.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307592"/>
            <a:ext cx="324612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Отчетность КИБ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80560" y="1856232"/>
            <a:ext cx="324612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должно попадать в регулярную HR-отчетность, бюджет, HC / FTE или отдельные выборки.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1307592"/>
            <a:ext cx="3246120" cy="475488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HR-поддержка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0" y="1856232"/>
            <a:ext cx="3246120" cy="1005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находится на полном или частичном сопровождении HR Payroll / HR Admin / HRIS / аутсорса.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2011680" cy="329184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 лучше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9593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395020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юрлицо может быть в отчетности, но не на полном Payroll/Admin;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27024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433425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проектные и нулевые юрлица не должны «теряться» из-за отсутствия сотрудников;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654296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47274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71830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точнее управлять бюджетом, рисками и правами доступа;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5038344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51114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51023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исключения становятся явными и утвержденными.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23960" y="3429000"/>
            <a:ext cx="2240280" cy="32918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на встрече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3822192"/>
            <a:ext cx="2240280" cy="1170432"/>
          </a:xfrm>
          <a:prstGeom prst="rect">
            <a:avLst/>
          </a:prstGeom>
          <a:solidFill>
            <a:srgbClr val="FFF5DD"/>
          </a:solidFill>
          <a:ln w="12700">
            <a:solidFill>
              <a:srgbClr val="F4D2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3-флаговую модель или предложить иную логику классификации.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Также определить, кто подтверждает каждый флаг и в какой срок.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10442448" cy="32918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owner бизнес-решения: HRD / Senior HRBP. Техническое ведение и контроль качества: HRIS / HR Operations.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2. Критерии групп / подгрупп внутри КИБ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«Колодец» должен быть управленческим атрибутом с владельцем, историей и правилами исключений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40280" y="1965960"/>
            <a:ext cx="228600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89320" y="1965960"/>
            <a:ext cx="21945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257800" y="2788920"/>
            <a:ext cx="0" cy="73152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2468880" cy="960120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Бизнес-логика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владелец, для какой цели создано юрлицо, какой контур управления.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389120" y="1417320"/>
            <a:ext cx="2468880" cy="9601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Управленческая группа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«Колодец», подгруппа, проектный контур или признак «не в группе».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138160" y="1417320"/>
            <a:ext cx="2468880" cy="960120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Отражение в системах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HRPT / отчетность / права доступа / бюджетные срезы.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2788920" cy="32918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Предлагаемые правила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685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«Колодец» присваивается не вручную по памяти, а по утвержденным критериям.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014216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4087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087368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юрлицо не входит в группу — фиксируется явное значение «не в группе», а не пустое поле.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416552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44897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489704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случаи получают временный статус «требует подтверждения» и срок эскалации.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4818888"/>
            <a:ext cx="384048" cy="384048"/>
          </a:xfrm>
          <a:prstGeom prst="ellipse">
            <a:avLst/>
          </a:prstGeom>
          <a:solidFill>
            <a:srgbClr val="1F5A7A"/>
          </a:solidFill>
          <a:ln w="12700">
            <a:solidFill>
              <a:srgbClr val="1F5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892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4892040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изменения группы сохраняется с датой начала действия.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58200" y="3154680"/>
            <a:ext cx="2468880" cy="329184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на встрече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3547872"/>
            <a:ext cx="2468880" cy="1207008"/>
          </a:xfrm>
          <a:prstGeom prst="rect">
            <a:avLst/>
          </a:prstGeom>
          <a:solidFill>
            <a:srgbClr val="FFF5DD"/>
          </a:solidFill>
          <a:ln w="12700">
            <a:solidFill>
              <a:srgbClr val="F4D2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перечень групп / подгрупп, критерии отнесения и owner решения.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Оставить вариант: «иной классификатор / иная структура».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14400" y="5715000"/>
            <a:ext cx="10058400" cy="384048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контроль: поле «колодец» не должно быть пустым для юрлиц в управленческом контуре КИБ.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3. Какие данные нужны в режиме реального времени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Предлагается разделить поля на 3 уровня критичности, чтобы не перегружать справочник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508760" cy="97155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2103120" y="1234440"/>
            <a:ext cx="4572000" cy="97155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данных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6675120" y="1234440"/>
            <a:ext cx="2743200" cy="97155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нужны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9418320" y="1234440"/>
            <a:ext cx="2194560" cy="97155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 / контроль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94360" y="2205990"/>
            <a:ext cx="1508760" cy="971550"/>
          </a:xfrm>
          <a:prstGeom prst="rect">
            <a:avLst/>
          </a:prstGeom>
          <a:solidFill>
            <a:srgbClr val="EAF7F5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60" dirty="0"/>
          </a:p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критично онлайн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2103120" y="2205990"/>
            <a:ext cx="457200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принадлежность к КИБ, периметр, «колодец», статус юрлица, модель Payroll/Admin, дата начала поддержки, источник данных, HRBP, зарплатный проект, регуляторные флаги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6675120" y="2205990"/>
            <a:ext cx="274320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отчетность, выплаты, найм, бюджет, доступы, риски штрафов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9418320" y="2205990"/>
            <a:ext cx="219456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событийно + контроль качества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94360" y="3177540"/>
            <a:ext cx="1508760" cy="971550"/>
          </a:xfrm>
          <a:prstGeom prst="rect">
            <a:avLst/>
          </a:prstGeom>
          <a:solidFill>
            <a:srgbClr val="FFF5DD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60" dirty="0"/>
          </a:p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2103120" y="3177540"/>
            <a:ext cx="4572000" cy="9715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численность, тип HR-пакета, КЭДО, квотирование, способ передачи в б/у, аутсорсер, консолидация для финансовых срезов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675120" y="3177540"/>
            <a:ext cx="2743200" cy="9715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план-факт, операционный контроль, подготовка отчетности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9418320" y="3177540"/>
            <a:ext cx="2194560" cy="97155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 / ежемесячно по источнику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94360" y="4149090"/>
            <a:ext cx="1508760" cy="971550"/>
          </a:xfrm>
          <a:prstGeom prst="rect">
            <a:avLst/>
          </a:prstGeom>
          <a:solidFill>
            <a:srgbClr val="F1F3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60" dirty="0"/>
          </a:p>
          <a:p>
            <a:pPr algn="l" indent="0" marL="0">
              <a:buNone/>
            </a:pPr>
            <a:r>
              <a:rPr lang="en-US" sz="106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запрос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2103120" y="4149090"/>
            <a:ext cx="457200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расширенные комментарии, назначение юрлица, редкие признаки, архивные пояснения, детализация по отдельным кейсам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675120" y="4149090"/>
            <a:ext cx="274320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ад-хок запросы менеджмента, разбор исключений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9418320" y="4149090"/>
            <a:ext cx="2194560" cy="97155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запросу с owner и сроком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2286000" cy="329184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на встрече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5330952"/>
            <a:ext cx="7635240" cy="530352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перечень Tier 1-полей: именно они должны быть обязательными, актуальными и контролируемыми. Остальные поля можно вести с меньшей частотой или под запрос.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процесс: от события к готовности HR-функций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каждое изменение запускает полный процесс; событие определяет набор задач и обязательных полей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37360" y="1920240"/>
            <a:ext cx="5943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611880" y="1920240"/>
            <a:ext cx="5943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1920240"/>
            <a:ext cx="5943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60920" y="1920240"/>
            <a:ext cx="5943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35440" y="1920240"/>
            <a:ext cx="594360" cy="0"/>
          </a:xfrm>
          <a:prstGeom prst="line">
            <a:avLst/>
          </a:prstGeom>
          <a:noFill/>
          <a:ln w="17780">
            <a:solidFill>
              <a:srgbClr val="7A879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1325880" cy="420624"/>
          </a:xfrm>
          <a:prstGeom prst="rect">
            <a:avLst/>
          </a:prstGeom>
          <a:solidFill>
            <a:srgbClr val="1F5A7A"/>
          </a:solidFill>
          <a:ln w="12700">
            <a:solidFill>
              <a:srgbClr val="1F5A7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ЮЛ / передача / смена статуса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1325880" cy="42062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пакет данных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343400" y="1325880"/>
            <a:ext cx="1325880" cy="42062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196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 / периметр / колодец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1325880" cy="42062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Payroll, Admin, HRIS, Reward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092440" y="1325880"/>
            <a:ext cx="1325880" cy="420624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статусы, сроки, эскалации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966960" y="1325880"/>
            <a:ext cx="1325880" cy="42062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0" y="1920240"/>
            <a:ext cx="1508760" cy="621792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+ отчетность + поддержка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31520" y="3154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Триггеры процесса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 нуля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 юрлица с историей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217920" y="3520440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периметра / «колодца»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961120" y="3520440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на аутсорс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31520" y="3959352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переименование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474720" y="3959352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реорганизация / ликвидация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217920" y="3959352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регуляторного признака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961120" y="3959352"/>
            <a:ext cx="2423160" cy="292608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постфактум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пакет данных на входе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047488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ID / ОГРН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2999232" y="5047488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события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221224" y="5047488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события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7443216" y="5047488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ожидаемая дата поддержки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665208" y="5047488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контур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77240" y="5431536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периметр / колодец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2999232" y="5431536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поддержки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221224" y="5431536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ответственный HRBP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7443216" y="5431536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регуляторные флаги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9665208" y="5431536"/>
            <a:ext cx="1965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 / источник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914400" y="5989320"/>
            <a:ext cx="10058400" cy="347472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контроль: без подтверждения критичных полей юрлицо не получает «зеленый» статус готовности к HR-процессам.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Предлагаемая модель ответственности для обсуждения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 закрепляется не за “всем процессом сразу”, а за решениями, данными и исполнением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2743200" cy="613954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337560" y="1143000"/>
            <a:ext cx="2423160" cy="613954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760720" y="1143000"/>
            <a:ext cx="2651760" cy="613954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412480" y="1143000"/>
            <a:ext cx="3200400" cy="613954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Consulted / Informed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94360" y="1756954"/>
            <a:ext cx="27432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Принадлежность к КИБ, периметр, «колодец»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337560" y="1756954"/>
            <a:ext cx="24231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HRD / Senior HRBP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760720" y="1756954"/>
            <a:ext cx="26517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 / бизнес-владелец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412480" y="1756954"/>
            <a:ext cx="32004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Operations, Reporting, Reward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94360" y="2370909"/>
            <a:ext cx="27432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Master-реестр, история, права доступа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337560" y="2370909"/>
            <a:ext cx="24231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Operations / HR IS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760720" y="2370909"/>
            <a:ext cx="26517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IS / HR Operations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412480" y="2370909"/>
            <a:ext cx="32004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Payroll, Admin, Reward, HRBP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94360" y="2984863"/>
            <a:ext cx="27432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readiness и выплаты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337560" y="2984863"/>
            <a:ext cx="24231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Payroll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760720" y="2984863"/>
            <a:ext cx="26517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team / аутсорсер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412480" y="2984863"/>
            <a:ext cx="32004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Treasury, Finance, HR Admin, HR IS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94360" y="3598817"/>
            <a:ext cx="27432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readiness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337560" y="3598817"/>
            <a:ext cx="24231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Admin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760720" y="3598817"/>
            <a:ext cx="26517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/ аутсорсер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412480" y="3598817"/>
            <a:ext cx="32004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HRBP, Payroll, Legal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94360" y="4212771"/>
            <a:ext cx="27432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Консолидация, бюджет, Reward-признаки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337560" y="4212771"/>
            <a:ext cx="24231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Reward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760720" y="4212771"/>
            <a:ext cx="265176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/ Reporting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412480" y="4212771"/>
            <a:ext cx="3200400" cy="613954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/ Controlling, HRBP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94360" y="4826726"/>
            <a:ext cx="27432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Юридические реквизиты и корпоративные события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337560" y="4826726"/>
            <a:ext cx="24231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Corporate Secretary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760720" y="4826726"/>
            <a:ext cx="265176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источник юридических данных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412480" y="4826726"/>
            <a:ext cx="3200400" cy="613954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IS, HRD, HRBP, Payroll/Admin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22960" y="5623560"/>
            <a:ext cx="2240280" cy="329184"/>
          </a:xfrm>
          <a:prstGeom prst="rect">
            <a:avLst/>
          </a:prstGeom>
          <a:solidFill>
            <a:srgbClr val="F4B23C"/>
          </a:solidFill>
          <a:ln w="12700">
            <a:solidFill>
              <a:srgbClr val="F4B23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на встрече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46120" y="5504688"/>
            <a:ext cx="7772400" cy="548640"/>
          </a:xfrm>
          <a:prstGeom prst="rect">
            <a:avLst/>
          </a:prstGeom>
          <a:solidFill>
            <a:srgbClr val="FFF5DD"/>
          </a:solidFill>
          <a:ln w="12700">
            <a:solidFill>
              <a:srgbClr val="F4D2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или скорректировать RACI. Если предложенная модель не подходит — зафиксировать альтернативу прямо на встрече.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пункты, которые нужно зафиксировать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 решения превратят разовые сверки в управляемый процесс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99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07592" y="123444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КИБ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07592" y="160020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флага: управленческий контур, отчетность, HR-поддержка.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2784" y="13990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93992" y="123444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Группы / «колодцы»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3992" y="160020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Утвержденный справочник значений + правило для «не в группе» и спорных случаев.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56032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07592" y="246888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1-данные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07592" y="283464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набор полей, которые должны быть актуальны постоянно.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560320"/>
            <a:ext cx="384048" cy="384048"/>
          </a:xfrm>
          <a:prstGeom prst="ellipse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3992" y="246888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сигнала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93992" y="283464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HRD / Senior HRBP как владельцы бизнес-решения + резервные инициаторы от Legal / бизнеса / HR-функций.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8679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07592" y="370332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и чек-лист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7592" y="406908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Событие по юрлицу запускает задачи ответственным функциям.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794760"/>
            <a:ext cx="384048" cy="384048"/>
          </a:xfrm>
          <a:prstGeom prst="ellipse">
            <a:avLst/>
          </a:prstGeom>
          <a:solidFill>
            <a:srgbClr val="F4B23C"/>
          </a:solidFill>
          <a:ln w="12700">
            <a:solidFill>
              <a:srgbClr val="F4B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38679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93992" y="370332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Эскалация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3992" y="4069080"/>
            <a:ext cx="43891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DE5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подтверждения, статус “требует решения”, владелец эскалации.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2194560" cy="329184"/>
          </a:xfrm>
          <a:prstGeom prst="rect">
            <a:avLst/>
          </a:prstGeom>
          <a:solidFill>
            <a:srgbClr val="123044"/>
          </a:solidFill>
          <a:ln w="12700">
            <a:solidFill>
              <a:srgbClr val="12304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Опция для встречи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46120" y="5138928"/>
            <a:ext cx="7863840" cy="594360"/>
          </a:xfrm>
          <a:prstGeom prst="rect">
            <a:avLst/>
          </a:prstGeom>
          <a:solidFill>
            <a:srgbClr val="EAF2F8"/>
          </a:solidFill>
          <a:ln w="12700">
            <a:solidFill>
              <a:srgbClr val="D8E7F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пункту участники могут выбрать: ① согласовать предложенную логику, ② скорректировать, ③ предложить иной вариант. Главное — зафиксировать решение, owner и следующий шаг.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предлагаем зафиксировать в протоколе встречи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набор решений, без которого автоматизация не решит проблему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920240" cy="64770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2514600" y="1143000"/>
            <a:ext cx="4572000" cy="64770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Предлагаемое решение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086600" y="1143000"/>
            <a:ext cx="4526280" cy="647700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участников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94360" y="1790700"/>
            <a:ext cx="192024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КИБ-контур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514600" y="1790700"/>
            <a:ext cx="457200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отдельных флага: управленческий контур / отчетность / HR-поддержка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086600" y="1790700"/>
            <a:ext cx="452628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или предложить иную модель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94360" y="2438400"/>
            <a:ext cx="192024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«Колодцы»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514600" y="2438400"/>
            <a:ext cx="457200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утвержденный справочник + owner + история изменений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086600" y="2438400"/>
            <a:ext cx="452628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критерии группировки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4360" y="3086100"/>
            <a:ext cx="192024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данные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14600" y="3086100"/>
            <a:ext cx="457200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1-поля обязательны и актуализируются событийно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086600" y="3086100"/>
            <a:ext cx="452628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перечень Tier 1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94360" y="3733800"/>
            <a:ext cx="192024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514600" y="3733800"/>
            <a:ext cx="457200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HRD/Senior HRBP — бизнес-решение; HRIS/Operations — реестр и контроль; функции — readiness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086600" y="3733800"/>
            <a:ext cx="4526280" cy="647700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RACI и эскалацию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94360" y="4381500"/>
            <a:ext cx="192024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514600" y="4381500"/>
            <a:ext cx="457200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master-реестр + event workflow + HR readiness checklist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086600" y="4381500"/>
            <a:ext cx="4526280" cy="64770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стартовый scope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7240" y="5440680"/>
            <a:ext cx="2286000" cy="32918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next step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5330952"/>
            <a:ext cx="7635240" cy="530352"/>
          </a:xfrm>
          <a:prstGeom prst="rect">
            <a:avLst/>
          </a:prstGeom>
          <a:solidFill>
            <a:srgbClr val="EAF7F5"/>
          </a:solidFill>
          <a:ln w="12700">
            <a:solidFill>
              <a:srgbClr val="CFED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встречи: оформить Legal Structure Management Framework — статусы, карточка юрлица, RACI, SLA, чек-лист HR-функций и требования к HRPT / интеграциям.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Приложение. Черновик минимальной карточки юрлица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можно уточнить после получения справочника статусов и дополнительного перечня признаков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2240280" cy="679269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карточки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2834640" y="1143000"/>
            <a:ext cx="5715000" cy="679269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Минимальные поля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8549640" y="1143000"/>
            <a:ext cx="3063240" cy="679269"/>
          </a:xfrm>
          <a:prstGeom prst="rect">
            <a:avLst/>
          </a:prstGeom>
          <a:solidFill>
            <a:srgbClr val="123044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владелец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94360" y="1822269"/>
            <a:ext cx="224028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834640" y="1822269"/>
            <a:ext cx="571500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ID, ОГРН / ИНН / КПП, наименование, история наименований, юридический статус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549640" y="1822269"/>
            <a:ext cx="306324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HRIS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94360" y="2501537"/>
            <a:ext cx="224028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контур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834640" y="2501537"/>
            <a:ext cx="571500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КИБ-флаги, периметр, «колодец», HRD, Senior HRBP, HRBP, дата действия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49640" y="2501537"/>
            <a:ext cx="306324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HRD / Senior HRBP / HRBP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94360" y="3180806"/>
            <a:ext cx="224028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HR-поддержка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834640" y="3180806"/>
            <a:ext cx="571500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status, HR Admin status, аутсорс, дата начала поддержки, источник данных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549640" y="3180806"/>
            <a:ext cx="306324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/ Admin / HRIS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94360" y="3860074"/>
            <a:ext cx="224028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готовность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834640" y="3860074"/>
            <a:ext cx="571500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зарплатный проект, способ передачи в б/у, КЭДО, квотирование, IT-контур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549640" y="3860074"/>
            <a:ext cx="306324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/ Admin / HRIS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94360" y="4539343"/>
            <a:ext cx="224028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признаки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34640" y="4539343"/>
            <a:ext cx="571500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нулевое ЮЛ, лицензия, госучастие, закупочный режим, обязательное обучение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549640" y="4539343"/>
            <a:ext cx="3063240" cy="679269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/ Legal / HR Admin / L&amp;D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94360" y="5218611"/>
            <a:ext cx="224028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2834640" y="5218611"/>
            <a:ext cx="571500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поля, source of record, дата проверки, основание изменения, качество данных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549640" y="5218611"/>
            <a:ext cx="3063240" cy="679269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HRIS / HR Operations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Structure Management • HR КИБ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HR КИБ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Structure Management: юрлица в контуре HR КИБ</dc:title>
  <dc:subject>Legal Structure Management for HR KIB</dc:subject>
  <dc:creator>OpenAI</dc:creator>
  <cp:lastModifiedBy>OpenAI</cp:lastModifiedBy>
  <cp:revision>1</cp:revision>
  <dcterms:created xsi:type="dcterms:W3CDTF">2026-06-25T06:03:04Z</dcterms:created>
  <dcterms:modified xsi:type="dcterms:W3CDTF">2026-06-25T06:03:04Z</dcterms:modified>
</cp:coreProperties>
</file>
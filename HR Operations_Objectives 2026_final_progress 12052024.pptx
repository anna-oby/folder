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3" r:id="rId1"/>
  </p:sldMasterIdLst>
  <p:notesMasterIdLst>
    <p:notesMasterId r:id="rId20"/>
  </p:notesMasterIdLst>
  <p:handoutMasterIdLst>
    <p:handoutMasterId r:id="rId21"/>
  </p:handoutMasterIdLst>
  <p:sldIdLst>
    <p:sldId id="349" r:id="rId2"/>
    <p:sldId id="350" r:id="rId3"/>
    <p:sldId id="362" r:id="rId4"/>
    <p:sldId id="364" r:id="rId5"/>
    <p:sldId id="365" r:id="rId6"/>
    <p:sldId id="366" r:id="rId7"/>
    <p:sldId id="367" r:id="rId8"/>
    <p:sldId id="363" r:id="rId9"/>
    <p:sldId id="342" r:id="rId10"/>
    <p:sldId id="353" r:id="rId11"/>
    <p:sldId id="359" r:id="rId12"/>
    <p:sldId id="361" r:id="rId13"/>
    <p:sldId id="360" r:id="rId14"/>
    <p:sldId id="343" r:id="rId15"/>
    <p:sldId id="341" r:id="rId16"/>
    <p:sldId id="356" r:id="rId17"/>
    <p:sldId id="358" r:id="rId18"/>
    <p:sldId id="348" r:id="rId19"/>
  </p:sldIdLst>
  <p:sldSz cx="12192000" cy="6858000"/>
  <p:notesSz cx="6805613" cy="9944100"/>
  <p:defaultTextStyle>
    <a:defPPr>
      <a:defRPr lang="ru-RU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4CD964"/>
    <a:srgbClr val="E62632"/>
    <a:srgbClr val="0A2896"/>
    <a:srgbClr val="CED8F0"/>
    <a:srgbClr val="E5F6FF"/>
    <a:srgbClr val="99DDFF"/>
    <a:srgbClr val="9DB1E1"/>
    <a:srgbClr val="00AAFF"/>
    <a:srgbClr val="0A3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62" autoAdjust="0"/>
    <p:restoredTop sz="95698" autoAdjust="0"/>
  </p:normalViewPr>
  <p:slideViewPr>
    <p:cSldViewPr snapToGrid="0" snapToObjects="1">
      <p:cViewPr varScale="1">
        <p:scale>
          <a:sx n="119" d="100"/>
          <a:sy n="119" d="100"/>
        </p:scale>
        <p:origin x="1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39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9981D-6359-4873-92D8-C0D7861A3BB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68AD1C-1273-44BB-8AE0-B66E3BBB6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03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099" cy="498932"/>
          </a:xfrm>
          <a:prstGeom prst="rect">
            <a:avLst/>
          </a:prstGeom>
        </p:spPr>
        <p:txBody>
          <a:bodyPr vert="horz" lIns="92263" tIns="46131" rIns="92263" bIns="46131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4941" y="0"/>
            <a:ext cx="2949099" cy="498932"/>
          </a:xfrm>
          <a:prstGeom prst="rect">
            <a:avLst/>
          </a:prstGeom>
        </p:spPr>
        <p:txBody>
          <a:bodyPr vert="horz" lIns="92263" tIns="46131" rIns="92263" bIns="46131" rtlCol="0"/>
          <a:lstStyle>
            <a:lvl1pPr algn="r">
              <a:defRPr sz="1200"/>
            </a:lvl1pPr>
          </a:lstStyle>
          <a:p>
            <a:fld id="{B78E9BB2-5728-2D4C-B25E-8073B9C781C2}" type="datetimeFigureOut">
              <a:rPr lang="ru-RU" smtClean="0"/>
              <a:t>27.07.2026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67413" cy="3357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63" tIns="46131" rIns="92263" bIns="46131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562" y="4785600"/>
            <a:ext cx="5444490" cy="3915489"/>
          </a:xfrm>
          <a:prstGeom prst="rect">
            <a:avLst/>
          </a:prstGeom>
        </p:spPr>
        <p:txBody>
          <a:bodyPr vert="horz" lIns="92263" tIns="46131" rIns="92263" bIns="46131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45170"/>
            <a:ext cx="2949099" cy="498931"/>
          </a:xfrm>
          <a:prstGeom prst="rect">
            <a:avLst/>
          </a:prstGeom>
        </p:spPr>
        <p:txBody>
          <a:bodyPr vert="horz" lIns="92263" tIns="46131" rIns="92263" bIns="46131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4941" y="9445170"/>
            <a:ext cx="2949099" cy="498931"/>
          </a:xfrm>
          <a:prstGeom prst="rect">
            <a:avLst/>
          </a:prstGeom>
        </p:spPr>
        <p:txBody>
          <a:bodyPr vert="horz" lIns="92263" tIns="46131" rIns="92263" bIns="46131" rtlCol="0" anchor="b"/>
          <a:lstStyle>
            <a:lvl1pPr algn="r">
              <a:defRPr sz="1200"/>
            </a:lvl1pPr>
          </a:lstStyle>
          <a:p>
            <a:fld id="{2F490713-9E6F-F447-ADAD-DE3BA53508E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2525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6466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412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7153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7973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304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967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90713-9E6F-F447-ADAD-DE3BA53508E8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75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19" t="17263" r="13588" b="4180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045033"/>
            <a:ext cx="6364817" cy="336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068734" y="4756881"/>
            <a:ext cx="3572093" cy="164815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buSzTx/>
              <a:buNone/>
              <a:defRPr sz="1600" cap="none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33" y="450850"/>
            <a:ext cx="2596872" cy="129843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 rot="16200000">
            <a:off x="11120845" y="885460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chemeClr val="accent2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chemeClr val="accent2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chemeClr val="accent2"/>
                </a:solidFill>
                <a:sym typeface="Suisse Int'l"/>
              </a:rPr>
              <a:t>» (АО)</a:t>
            </a:r>
            <a:endParaRPr lang="ru-RU" sz="800" kern="0" dirty="0">
              <a:solidFill>
                <a:schemeClr val="accent2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28720977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19" t="17263" r="13588" b="4180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045033"/>
            <a:ext cx="6364817" cy="33600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80000"/>
              </a:lnSpc>
              <a:defRPr sz="480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068734" y="4756881"/>
            <a:ext cx="3572093" cy="1648153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 algn="r">
              <a:lnSpc>
                <a:spcPct val="100000"/>
              </a:lnSpc>
              <a:buSzTx/>
              <a:buNone/>
              <a:defRPr sz="1600" cap="none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0" indent="0">
              <a:lnSpc>
                <a:spcPct val="100000"/>
              </a:lnSpc>
              <a:buSzTx/>
              <a:buNone/>
              <a:defRPr sz="1668" cap="none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33" y="450851"/>
            <a:ext cx="2597073" cy="1099491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 rot="16200000">
            <a:off x="11120845" y="885460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chemeClr val="accent1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» (АО)</a:t>
            </a:r>
            <a:endParaRPr lang="ru-RU" sz="800" kern="0" dirty="0">
              <a:solidFill>
                <a:schemeClr val="accent1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25827865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азбивочный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4756880"/>
            <a:ext cx="6364817" cy="164815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3733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4" name="Прямоугольник 13"/>
          <p:cNvSpPr/>
          <p:nvPr/>
        </p:nvSpPr>
        <p:spPr>
          <a:xfrm rot="16200000">
            <a:off x="11120845" y="885460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chemeClr val="accent2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chemeClr val="accent2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chemeClr val="accent2"/>
                </a:solidFill>
                <a:sym typeface="Suisse Int'l"/>
              </a:rPr>
              <a:t>» (АО)</a:t>
            </a:r>
            <a:endParaRPr lang="ru-RU" sz="800" kern="0" dirty="0">
              <a:solidFill>
                <a:schemeClr val="accent2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21734973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бивочный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4756880"/>
            <a:ext cx="6364817" cy="164815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3733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Прямоугольник 2"/>
          <p:cNvSpPr/>
          <p:nvPr/>
        </p:nvSpPr>
        <p:spPr>
          <a:xfrm rot="16200000">
            <a:off x="11120845" y="885458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800" kern="0" dirty="0">
              <a:solidFill>
                <a:srgbClr val="FFFFFF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54447537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бивочный_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4756880"/>
            <a:ext cx="6364817" cy="164815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3733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Прямоугольник 2"/>
          <p:cNvSpPr/>
          <p:nvPr/>
        </p:nvSpPr>
        <p:spPr>
          <a:xfrm rot="16200000">
            <a:off x="11120845" y="885460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chemeClr val="accent1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» (АО)</a:t>
            </a:r>
            <a:endParaRPr lang="ru-RU" sz="800" kern="0" dirty="0">
              <a:solidFill>
                <a:schemeClr val="accent1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2020503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бивочный_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4756880"/>
            <a:ext cx="6364817" cy="1648155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3733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9" name="Прямоугольник 8"/>
          <p:cNvSpPr/>
          <p:nvPr/>
        </p:nvSpPr>
        <p:spPr>
          <a:xfrm rot="16200000">
            <a:off x="11120845" y="885460"/>
            <a:ext cx="953787" cy="861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 defTabSz="533283" hangingPunct="0">
              <a:lnSpc>
                <a:spcPct val="70000"/>
              </a:lnSpc>
            </a:pP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АКБ «</a:t>
            </a:r>
            <a:r>
              <a:rPr lang="ru-RU" sz="800" kern="0" dirty="0" err="1" smtClean="0">
                <a:solidFill>
                  <a:schemeClr val="accent1"/>
                </a:solidFill>
                <a:sym typeface="Suisse Int'l"/>
              </a:rPr>
              <a:t>НРБанк</a:t>
            </a:r>
            <a:r>
              <a:rPr lang="ru-RU" sz="800" kern="0" dirty="0" smtClean="0">
                <a:solidFill>
                  <a:schemeClr val="accent1"/>
                </a:solidFill>
                <a:sym typeface="Suisse Int'l"/>
              </a:rPr>
              <a:t>» (АО)</a:t>
            </a:r>
            <a:endParaRPr lang="ru-RU" sz="800" kern="0" dirty="0">
              <a:solidFill>
                <a:schemeClr val="accent1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28210104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держа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75734" y="1500149"/>
            <a:ext cx="10310284" cy="463846"/>
          </a:xfrm>
          <a:prstGeom prst="rect">
            <a:avLst/>
          </a:prstGeom>
        </p:spPr>
        <p:txBody>
          <a:bodyPr wrap="square" lIns="0" tIns="46800" rIns="90000" bIns="46800" anchor="t">
            <a:spAutoFit/>
          </a:bodyPr>
          <a:lstStyle>
            <a:lvl1pPr marL="304792" indent="-304792">
              <a:lnSpc>
                <a:spcPct val="150000"/>
              </a:lnSpc>
              <a:buSzTx/>
              <a:buFont typeface="+mj-lt"/>
              <a:buAutoNum type="arabicPeriod"/>
              <a:defRPr sz="1600" b="0">
                <a:solidFill>
                  <a:schemeClr val="accent1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Прямоугольник с двумя скругленными соседними углами 5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0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75734" y="295255"/>
            <a:ext cx="2227518" cy="502766"/>
          </a:xfrm>
          <a:prstGeom prst="rect">
            <a:avLst/>
          </a:prstGeom>
        </p:spPr>
        <p:txBody>
          <a:bodyPr wrap="none" lIns="0" rIns="120000">
            <a:spAutoFit/>
          </a:bodyPr>
          <a:lstStyle/>
          <a:p>
            <a:r>
              <a:rPr lang="ru-RU" sz="2667" b="1" dirty="0" smtClean="0">
                <a:solidFill>
                  <a:schemeClr val="accent1"/>
                </a:solidFill>
                <a:latin typeface="+mn-lt"/>
              </a:rPr>
              <a:t>Содержание</a:t>
            </a:r>
            <a:endParaRPr lang="ru-RU" sz="2667" b="1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8526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5245099" y="1241737"/>
            <a:ext cx="6396568" cy="4835211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7" name="Прямоугольник 6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75734" y="1572940"/>
            <a:ext cx="4483101" cy="3744261"/>
          </a:xfrm>
          <a:prstGeom prst="rect">
            <a:avLst/>
          </a:prstGeom>
        </p:spPr>
        <p:txBody>
          <a:bodyPr lIns="0" tIns="46800" rIns="90000" bIns="4680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3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75734" y="1241737"/>
            <a:ext cx="4483100" cy="299635"/>
          </a:xfrm>
          <a:prstGeom prst="rect">
            <a:avLst/>
          </a:prstGeom>
        </p:spPr>
        <p:txBody>
          <a:bodyPr wrap="square" lIns="0" tIns="46800" rIns="9000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8"/>
            <a:ext cx="10121900" cy="647053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24"/>
          </p:nvPr>
        </p:nvSpPr>
        <p:spPr>
          <a:xfrm>
            <a:off x="5245101" y="1241737"/>
            <a:ext cx="6396567" cy="48352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12049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факты в цифр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575733" y="1241737"/>
            <a:ext cx="7493000" cy="4835211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36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10066131" y="4137668"/>
            <a:ext cx="1575412" cy="665717"/>
          </a:xfrm>
          <a:prstGeom prst="rect">
            <a:avLst/>
          </a:prstGeom>
          <a:ln w="12700">
            <a:miter lim="400000"/>
          </a:ln>
        </p:spPr>
        <p:txBody>
          <a:bodyPr lIns="0" tIns="131259" rIns="0" bIns="131259"/>
          <a:lstStyle>
            <a:lvl1pPr marL="313259" indent="-313259">
              <a:buNone/>
              <a:defRPr kumimoji="0" sz="1333" kern="0" normalizeH="0" dirty="0">
                <a:ln>
                  <a:noFill/>
                </a:ln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dirty="0" smtClean="0"/>
              <a:t>Нажмите </a:t>
            </a:r>
            <a:r>
              <a:rPr dirty="0"/>
              <a:t>дважды</a:t>
            </a:r>
          </a:p>
        </p:txBody>
      </p:sp>
      <p:sp>
        <p:nvSpPr>
          <p:cNvPr id="42" name="Нажмите дважды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8820027" y="4143408"/>
            <a:ext cx="1128181" cy="65997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marL="313259" indent="-313259">
              <a:buNone/>
              <a:defRPr kumimoji="0" sz="4133" kern="0" normalizeH="0" dirty="0">
                <a:ln>
                  <a:noFill/>
                </a:ln>
                <a:solidFill>
                  <a:schemeClr val="accent6"/>
                </a:solidFill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lang="en-US" dirty="0" smtClean="0"/>
              <a:t>000</a:t>
            </a:r>
            <a:endParaRPr dirty="0"/>
          </a:p>
        </p:txBody>
      </p:sp>
      <p:sp>
        <p:nvSpPr>
          <p:cNvPr id="44" name="Нажмите дважды"/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10066131" y="3415091"/>
            <a:ext cx="1575412" cy="665717"/>
          </a:xfrm>
          <a:prstGeom prst="rect">
            <a:avLst/>
          </a:prstGeom>
          <a:ln w="12700">
            <a:miter lim="400000"/>
          </a:ln>
        </p:spPr>
        <p:txBody>
          <a:bodyPr lIns="0" tIns="131259" rIns="0" bIns="131259"/>
          <a:lstStyle>
            <a:lvl1pPr marL="313259" indent="-313259">
              <a:buNone/>
              <a:defRPr kumimoji="0" sz="1333" kern="0" normalizeH="0" dirty="0">
                <a:ln>
                  <a:noFill/>
                </a:ln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dirty="0" smtClean="0"/>
              <a:t>Нажмите </a:t>
            </a:r>
            <a:r>
              <a:rPr dirty="0"/>
              <a:t>дважды</a:t>
            </a:r>
          </a:p>
        </p:txBody>
      </p:sp>
      <p:sp>
        <p:nvSpPr>
          <p:cNvPr id="45" name="Нажмите дважды"/>
          <p:cNvSpPr txBox="1">
            <a:spLocks noGrp="1"/>
          </p:cNvSpPr>
          <p:nvPr>
            <p:ph type="body" sz="quarter" idx="34" hasCustomPrompt="1"/>
          </p:nvPr>
        </p:nvSpPr>
        <p:spPr>
          <a:xfrm>
            <a:off x="8820027" y="3420831"/>
            <a:ext cx="1128181" cy="65997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marL="313259" indent="-313259">
              <a:buNone/>
              <a:defRPr kumimoji="0" sz="4133" kern="0" normalizeH="0" dirty="0">
                <a:ln>
                  <a:noFill/>
                </a:ln>
                <a:solidFill>
                  <a:schemeClr val="accent6"/>
                </a:solidFill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lang="en-US" dirty="0" smtClean="0"/>
              <a:t>000</a:t>
            </a:r>
            <a:endParaRPr dirty="0"/>
          </a:p>
        </p:txBody>
      </p:sp>
      <p:sp>
        <p:nvSpPr>
          <p:cNvPr id="46" name="Нажмите дважды"/>
          <p:cNvSpPr txBox="1">
            <a:spLocks noGrp="1"/>
          </p:cNvSpPr>
          <p:nvPr>
            <p:ph type="body" sz="quarter" idx="35" hasCustomPrompt="1"/>
          </p:nvPr>
        </p:nvSpPr>
        <p:spPr>
          <a:xfrm>
            <a:off x="10066131" y="2692514"/>
            <a:ext cx="1575412" cy="665717"/>
          </a:xfrm>
          <a:prstGeom prst="rect">
            <a:avLst/>
          </a:prstGeom>
          <a:ln w="12700">
            <a:miter lim="400000"/>
          </a:ln>
        </p:spPr>
        <p:txBody>
          <a:bodyPr lIns="0" tIns="131259" rIns="0" bIns="131259"/>
          <a:lstStyle>
            <a:lvl1pPr marL="313259" indent="-313259">
              <a:buNone/>
              <a:defRPr kumimoji="0" sz="1333" kern="0" normalizeH="0" dirty="0">
                <a:ln>
                  <a:noFill/>
                </a:ln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smtClean="0"/>
              <a:t>Нажмите </a:t>
            </a:r>
            <a:r>
              <a:rPr dirty="0"/>
              <a:t>дважды</a:t>
            </a:r>
          </a:p>
        </p:txBody>
      </p:sp>
      <p:sp>
        <p:nvSpPr>
          <p:cNvPr id="47" name="Нажмите дважды"/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8820027" y="2698253"/>
            <a:ext cx="1128181" cy="65997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marL="313259" indent="-313259">
              <a:buNone/>
              <a:defRPr kumimoji="0" sz="4133" kern="0" normalizeH="0" dirty="0">
                <a:ln>
                  <a:noFill/>
                </a:ln>
                <a:solidFill>
                  <a:schemeClr val="accent6"/>
                </a:solidFill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lang="en-US" dirty="0" smtClean="0"/>
              <a:t>000</a:t>
            </a:r>
            <a:endParaRPr dirty="0"/>
          </a:p>
        </p:txBody>
      </p:sp>
      <p:sp>
        <p:nvSpPr>
          <p:cNvPr id="48" name="Нажмите дважды"/>
          <p:cNvSpPr txBox="1">
            <a:spLocks noGrp="1"/>
          </p:cNvSpPr>
          <p:nvPr>
            <p:ph type="body" sz="quarter" idx="37" hasCustomPrompt="1"/>
          </p:nvPr>
        </p:nvSpPr>
        <p:spPr>
          <a:xfrm>
            <a:off x="10066131" y="1969936"/>
            <a:ext cx="1575412" cy="665717"/>
          </a:xfrm>
          <a:prstGeom prst="rect">
            <a:avLst/>
          </a:prstGeom>
          <a:ln w="12700">
            <a:miter lim="400000"/>
          </a:ln>
        </p:spPr>
        <p:txBody>
          <a:bodyPr lIns="0" tIns="131259" rIns="0" bIns="131259"/>
          <a:lstStyle>
            <a:lvl1pPr marL="313259" indent="-313259">
              <a:buNone/>
              <a:defRPr kumimoji="0" sz="1333" kern="0" normalizeH="0" dirty="0">
                <a:ln>
                  <a:noFill/>
                </a:ln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dirty="0" smtClean="0"/>
              <a:t>Нажмите </a:t>
            </a:r>
            <a:r>
              <a:rPr dirty="0"/>
              <a:t>дважды</a:t>
            </a:r>
          </a:p>
        </p:txBody>
      </p:sp>
      <p:sp>
        <p:nvSpPr>
          <p:cNvPr id="49" name="Нажмите дважды"/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8820027" y="1975676"/>
            <a:ext cx="1128181" cy="65997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marL="313259" indent="-313259">
              <a:buNone/>
              <a:defRPr kumimoji="0" sz="4133" kern="0" normalizeH="0" dirty="0">
                <a:ln>
                  <a:noFill/>
                </a:ln>
                <a:solidFill>
                  <a:schemeClr val="accent6"/>
                </a:solidFill>
                <a:effectLst/>
                <a:uLnTx/>
                <a:latin typeface="+mn-lt"/>
                <a:ea typeface="Suisse Int'l"/>
                <a:cs typeface="Suisse Int'l"/>
              </a:defRPr>
            </a:lvl1pPr>
          </a:lstStyle>
          <a:p>
            <a:pPr marL="0" lvl="0" indent="0" defTabSz="3575039" fontAlgn="auto">
              <a:lnSpc>
                <a:spcPct val="100000"/>
              </a:lnSpc>
              <a:buSzTx/>
            </a:pPr>
            <a:r>
              <a:rPr lang="en-US" dirty="0" smtClean="0"/>
              <a:t>000</a:t>
            </a:r>
            <a:endParaRPr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Прямоугольник с двумя скругленными соседними углами 22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39"/>
          </p:nvPr>
        </p:nvSpPr>
        <p:spPr>
          <a:xfrm>
            <a:off x="575733" y="1241739"/>
            <a:ext cx="7493000" cy="48352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97758" indent="0">
              <a:buNone/>
              <a:defRPr/>
            </a:lvl2pPr>
            <a:lvl3pPr marL="195515" indent="0">
              <a:buNone/>
              <a:defRPr/>
            </a:lvl3pPr>
            <a:lvl4pPr marL="293271" indent="0">
              <a:buNone/>
              <a:defRPr/>
            </a:lvl4pPr>
            <a:lvl5pPr marL="391029" indent="0"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27" name="Номер слайда"/>
          <p:cNvSpPr txBox="1">
            <a:spLocks/>
          </p:cNvSpPr>
          <p:nvPr/>
        </p:nvSpPr>
        <p:spPr>
          <a:xfrm flipH="1">
            <a:off x="10838233" y="67981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33283" hangingPunct="0">
              <a:lnSpc>
                <a:spcPct val="70000"/>
              </a:lnSpc>
            </a:pPr>
            <a:fld id="{E485F1DB-1BE9-4F45-8879-13046CA1BB6E}" type="slidenum">
              <a:rPr lang="uk-UA" sz="705" kern="0" smtClean="0">
                <a:solidFill>
                  <a:srgbClr val="FFFFFF"/>
                </a:solidFill>
                <a:sym typeface="Suisse Int'l"/>
              </a:rPr>
              <a:pPr algn="r" defTabSz="533283" hangingPunct="0">
                <a:lnSpc>
                  <a:spcPct val="70000"/>
                </a:lnSpc>
              </a:pPr>
              <a:t>‹#›</a:t>
            </a:fld>
            <a:endParaRPr lang="uk-UA" sz="705" kern="0">
              <a:solidFill>
                <a:srgbClr val="FFFFFF"/>
              </a:solidFill>
              <a:sym typeface="Suisse Int'l"/>
            </a:endParaRPr>
          </a:p>
        </p:txBody>
      </p:sp>
    </p:spTree>
    <p:extLst>
      <p:ext uri="{BB962C8B-B14F-4D97-AF65-F5344CB8AC3E}">
        <p14:creationId xmlns:p14="http://schemas.microsoft.com/office/powerpoint/2010/main" val="18336154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объекта и опис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575734" y="1384973"/>
            <a:ext cx="4927143" cy="1995583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21" name="Прямоугольник 20"/>
          <p:cNvSpPr/>
          <p:nvPr/>
        </p:nvSpPr>
        <p:spPr>
          <a:xfrm>
            <a:off x="575734" y="4059419"/>
            <a:ext cx="4927143" cy="1995583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8" name="Уровень текста 1…"/>
          <p:cNvSpPr txBox="1">
            <a:spLocks noGrp="1"/>
          </p:cNvSpPr>
          <p:nvPr>
            <p:ph type="body" sz="quarter" idx="23"/>
          </p:nvPr>
        </p:nvSpPr>
        <p:spPr>
          <a:xfrm>
            <a:off x="6191251" y="1384973"/>
            <a:ext cx="5450416" cy="4902287"/>
          </a:xfrm>
          <a:prstGeom prst="rect">
            <a:avLst/>
          </a:prstGeom>
        </p:spPr>
        <p:txBody>
          <a:bodyPr lIns="0" rIns="0" anchor="t"/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Прямоугольник с двумя скругленными соседними углами 18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Нажмите дважды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6191251" y="1012732"/>
            <a:ext cx="5450292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0851"/>
            <a:ext cx="425621" cy="213196"/>
          </a:xfrm>
          <a:prstGeom prst="rect">
            <a:avLst/>
          </a:prstGeom>
        </p:spPr>
      </p:pic>
      <p:sp>
        <p:nvSpPr>
          <p:cNvPr id="28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575734" y="1012732"/>
            <a:ext cx="4927143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9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575734" y="3715732"/>
            <a:ext cx="4927143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31" name="Текст 15"/>
          <p:cNvSpPr>
            <a:spLocks noGrp="1"/>
          </p:cNvSpPr>
          <p:nvPr>
            <p:ph type="body" sz="quarter" idx="30"/>
          </p:nvPr>
        </p:nvSpPr>
        <p:spPr>
          <a:xfrm>
            <a:off x="575734" y="606748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6" name="Объект 2"/>
          <p:cNvSpPr>
            <a:spLocks noGrp="1"/>
          </p:cNvSpPr>
          <p:nvPr>
            <p:ph sz="quarter" idx="32"/>
          </p:nvPr>
        </p:nvSpPr>
        <p:spPr>
          <a:xfrm>
            <a:off x="575733" y="1341623"/>
            <a:ext cx="4927600" cy="2029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7" name="Объект 2"/>
          <p:cNvSpPr>
            <a:spLocks noGrp="1"/>
          </p:cNvSpPr>
          <p:nvPr>
            <p:ph sz="quarter" idx="33"/>
          </p:nvPr>
        </p:nvSpPr>
        <p:spPr>
          <a:xfrm>
            <a:off x="575733" y="4037603"/>
            <a:ext cx="4927600" cy="2029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Текст 15"/>
          <p:cNvSpPr>
            <a:spLocks noGrp="1"/>
          </p:cNvSpPr>
          <p:nvPr>
            <p:ph type="body" sz="quarter" idx="34"/>
          </p:nvPr>
        </p:nvSpPr>
        <p:spPr>
          <a:xfrm>
            <a:off x="575734" y="337150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42569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объекта и буллиты (горизо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Прямоугольник с двумя скругленными соседними углами 29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75734" y="1384973"/>
            <a:ext cx="4927143" cy="1995583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22" name="Прямоугольник 21"/>
          <p:cNvSpPr/>
          <p:nvPr/>
        </p:nvSpPr>
        <p:spPr>
          <a:xfrm>
            <a:off x="575734" y="4059419"/>
            <a:ext cx="4927143" cy="1995583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8" name="Уровень текста 1…"/>
          <p:cNvSpPr txBox="1">
            <a:spLocks noGrp="1"/>
          </p:cNvSpPr>
          <p:nvPr>
            <p:ph type="body" sz="quarter" idx="23"/>
          </p:nvPr>
        </p:nvSpPr>
        <p:spPr>
          <a:xfrm>
            <a:off x="6191251" y="1338269"/>
            <a:ext cx="5450416" cy="2010299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575734" y="1012732"/>
            <a:ext cx="4927143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1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575734" y="3715732"/>
            <a:ext cx="4927143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26" name="Текст 15"/>
          <p:cNvSpPr>
            <a:spLocks noGrp="1"/>
          </p:cNvSpPr>
          <p:nvPr>
            <p:ph type="body" sz="quarter" idx="30"/>
          </p:nvPr>
        </p:nvSpPr>
        <p:spPr>
          <a:xfrm>
            <a:off x="575734" y="606748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31"/>
          </p:nvPr>
        </p:nvSpPr>
        <p:spPr>
          <a:xfrm>
            <a:off x="6191251" y="4041268"/>
            <a:ext cx="5450416" cy="2010299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28" name="Объект 2"/>
          <p:cNvSpPr>
            <a:spLocks noGrp="1"/>
          </p:cNvSpPr>
          <p:nvPr>
            <p:ph sz="quarter" idx="32"/>
          </p:nvPr>
        </p:nvSpPr>
        <p:spPr>
          <a:xfrm>
            <a:off x="575733" y="1341623"/>
            <a:ext cx="4927600" cy="2029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Объект 2"/>
          <p:cNvSpPr>
            <a:spLocks noGrp="1"/>
          </p:cNvSpPr>
          <p:nvPr>
            <p:ph sz="quarter" idx="33"/>
          </p:nvPr>
        </p:nvSpPr>
        <p:spPr>
          <a:xfrm>
            <a:off x="575733" y="4037603"/>
            <a:ext cx="4927600" cy="2029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4" name="Текст 15"/>
          <p:cNvSpPr>
            <a:spLocks noGrp="1"/>
          </p:cNvSpPr>
          <p:nvPr>
            <p:ph type="body" sz="quarter" idx="34"/>
          </p:nvPr>
        </p:nvSpPr>
        <p:spPr>
          <a:xfrm>
            <a:off x="575734" y="337150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17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объекта и буллиты (вертикал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Прямоугольник с двумя скругленными соседними углами 21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Уровень текста 1…"/>
          <p:cNvSpPr txBox="1">
            <a:spLocks noGrp="1"/>
          </p:cNvSpPr>
          <p:nvPr>
            <p:ph type="body" sz="quarter" idx="23"/>
          </p:nvPr>
        </p:nvSpPr>
        <p:spPr>
          <a:xfrm>
            <a:off x="575734" y="3844832"/>
            <a:ext cx="5422900" cy="2189437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575734" y="1012732"/>
            <a:ext cx="5418199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1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6191251" y="1014517"/>
            <a:ext cx="5450416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29"/>
          </p:nvPr>
        </p:nvSpPr>
        <p:spPr>
          <a:xfrm>
            <a:off x="575734" y="3348567"/>
            <a:ext cx="3070133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Текст 15"/>
          <p:cNvSpPr>
            <a:spLocks noGrp="1"/>
          </p:cNvSpPr>
          <p:nvPr>
            <p:ph type="body" sz="quarter" idx="30"/>
          </p:nvPr>
        </p:nvSpPr>
        <p:spPr>
          <a:xfrm>
            <a:off x="6191250" y="3340329"/>
            <a:ext cx="2956017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7" name="Уровень текста 1…"/>
          <p:cNvSpPr txBox="1">
            <a:spLocks noGrp="1"/>
          </p:cNvSpPr>
          <p:nvPr>
            <p:ph type="body" sz="quarter" idx="31"/>
          </p:nvPr>
        </p:nvSpPr>
        <p:spPr>
          <a:xfrm>
            <a:off x="6191251" y="3844832"/>
            <a:ext cx="5450416" cy="2216064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8" name="Текст 15"/>
          <p:cNvSpPr>
            <a:spLocks noGrp="1"/>
          </p:cNvSpPr>
          <p:nvPr>
            <p:ph type="body" sz="quarter" idx="32"/>
          </p:nvPr>
        </p:nvSpPr>
        <p:spPr>
          <a:xfrm>
            <a:off x="575733" y="6172429"/>
            <a:ext cx="11065809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29" name="Объект 2"/>
          <p:cNvSpPr>
            <a:spLocks noGrp="1"/>
          </p:cNvSpPr>
          <p:nvPr>
            <p:ph sz="quarter" idx="33"/>
          </p:nvPr>
        </p:nvSpPr>
        <p:spPr>
          <a:xfrm>
            <a:off x="575733" y="1341624"/>
            <a:ext cx="5418201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Объект 2"/>
          <p:cNvSpPr>
            <a:spLocks noGrp="1"/>
          </p:cNvSpPr>
          <p:nvPr>
            <p:ph sz="quarter" idx="34"/>
          </p:nvPr>
        </p:nvSpPr>
        <p:spPr>
          <a:xfrm>
            <a:off x="6192007" y="1341624"/>
            <a:ext cx="5449660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3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79749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объекта и 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Уровень текста 1…"/>
          <p:cNvSpPr txBox="1">
            <a:spLocks noGrp="1"/>
          </p:cNvSpPr>
          <p:nvPr>
            <p:ph type="body" sz="quarter" idx="23"/>
          </p:nvPr>
        </p:nvSpPr>
        <p:spPr>
          <a:xfrm>
            <a:off x="575734" y="1347376"/>
            <a:ext cx="5422900" cy="2225557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31" name="Объект 2"/>
          <p:cNvSpPr>
            <a:spLocks noGrp="1"/>
          </p:cNvSpPr>
          <p:nvPr>
            <p:ph sz="quarter" idx="34"/>
          </p:nvPr>
        </p:nvSpPr>
        <p:spPr>
          <a:xfrm>
            <a:off x="6192008" y="1341623"/>
            <a:ext cx="2628144" cy="22313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3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5" name="Объект 2"/>
          <p:cNvSpPr>
            <a:spLocks noGrp="1"/>
          </p:cNvSpPr>
          <p:nvPr>
            <p:ph sz="quarter" idx="37"/>
          </p:nvPr>
        </p:nvSpPr>
        <p:spPr>
          <a:xfrm>
            <a:off x="6192007" y="3844833"/>
            <a:ext cx="5449660" cy="22313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6" name="Объект 2"/>
          <p:cNvSpPr>
            <a:spLocks noGrp="1"/>
          </p:cNvSpPr>
          <p:nvPr>
            <p:ph sz="quarter" idx="38"/>
          </p:nvPr>
        </p:nvSpPr>
        <p:spPr>
          <a:xfrm>
            <a:off x="9013397" y="1341623"/>
            <a:ext cx="2628144" cy="22313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7" name="Уровень текста 1…"/>
          <p:cNvSpPr txBox="1">
            <a:spLocks noGrp="1"/>
          </p:cNvSpPr>
          <p:nvPr>
            <p:ph type="body" sz="quarter" idx="39"/>
          </p:nvPr>
        </p:nvSpPr>
        <p:spPr>
          <a:xfrm>
            <a:off x="575734" y="3844832"/>
            <a:ext cx="2614084" cy="2225557"/>
          </a:xfrm>
          <a:prstGeom prst="rect">
            <a:avLst/>
          </a:prstGeom>
        </p:spPr>
        <p:txBody>
          <a:bodyPr anchor="t"/>
          <a:lstStyle>
            <a:lvl1pPr marL="228594" indent="-228594">
              <a:buSzTx/>
              <a:buFont typeface="Arial" charset="0"/>
              <a:buChar char="•"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19440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Прямоугольник с двумя скругленными соседними углами 21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575734" y="1012732"/>
            <a:ext cx="5024669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1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575734" y="3715732"/>
            <a:ext cx="5024669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29"/>
          </p:nvPr>
        </p:nvSpPr>
        <p:spPr>
          <a:xfrm>
            <a:off x="575734" y="334856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Текст 15"/>
          <p:cNvSpPr>
            <a:spLocks noGrp="1"/>
          </p:cNvSpPr>
          <p:nvPr>
            <p:ph type="body" sz="quarter" idx="30"/>
          </p:nvPr>
        </p:nvSpPr>
        <p:spPr>
          <a:xfrm>
            <a:off x="575734" y="606748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Нажмите дважды"/>
          <p:cNvSpPr txBox="1">
            <a:spLocks noGrp="1"/>
          </p:cNvSpPr>
          <p:nvPr>
            <p:ph type="body" sz="quarter" idx="31" hasCustomPrompt="1"/>
          </p:nvPr>
        </p:nvSpPr>
        <p:spPr>
          <a:xfrm>
            <a:off x="6191251" y="1012732"/>
            <a:ext cx="5024669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8" name="Нажмите дважды"/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6191251" y="3715732"/>
            <a:ext cx="5024669" cy="299635"/>
          </a:xfrm>
          <a:prstGeom prst="rect">
            <a:avLst/>
          </a:prstGeom>
        </p:spPr>
        <p:txBody>
          <a:bodyPr wrap="square" lIns="0" tIns="46800" rIns="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31" name="Текст 15"/>
          <p:cNvSpPr>
            <a:spLocks noGrp="1"/>
          </p:cNvSpPr>
          <p:nvPr>
            <p:ph type="body" sz="quarter" idx="35"/>
          </p:nvPr>
        </p:nvSpPr>
        <p:spPr>
          <a:xfrm>
            <a:off x="6191251" y="334856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4" name="Текст 15"/>
          <p:cNvSpPr>
            <a:spLocks noGrp="1"/>
          </p:cNvSpPr>
          <p:nvPr>
            <p:ph type="body" sz="quarter" idx="36"/>
          </p:nvPr>
        </p:nvSpPr>
        <p:spPr>
          <a:xfrm>
            <a:off x="6191251" y="6067487"/>
            <a:ext cx="2791884" cy="2243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 i="1"/>
            </a:lvl1pPr>
            <a:lvl2pPr marL="97758" indent="0">
              <a:buNone/>
              <a:defRPr sz="1067" i="1"/>
            </a:lvl2pPr>
            <a:lvl3pPr marL="195515" indent="0">
              <a:buNone/>
              <a:defRPr sz="1067" i="1"/>
            </a:lvl3pPr>
            <a:lvl4pPr marL="293271" indent="0">
              <a:buNone/>
              <a:defRPr sz="1067" i="1"/>
            </a:lvl4pPr>
            <a:lvl5pPr marL="391029" indent="0">
              <a:buNone/>
              <a:defRPr sz="1067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40" name="Объект 2"/>
          <p:cNvSpPr>
            <a:spLocks noGrp="1"/>
          </p:cNvSpPr>
          <p:nvPr>
            <p:ph sz="quarter" idx="37"/>
          </p:nvPr>
        </p:nvSpPr>
        <p:spPr>
          <a:xfrm>
            <a:off x="575733" y="1341624"/>
            <a:ext cx="4994912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Объект 2"/>
          <p:cNvSpPr>
            <a:spLocks noGrp="1"/>
          </p:cNvSpPr>
          <p:nvPr>
            <p:ph sz="quarter" idx="38"/>
          </p:nvPr>
        </p:nvSpPr>
        <p:spPr>
          <a:xfrm>
            <a:off x="6192008" y="1341624"/>
            <a:ext cx="5023913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Объект 2"/>
          <p:cNvSpPr>
            <a:spLocks noGrp="1"/>
          </p:cNvSpPr>
          <p:nvPr>
            <p:ph sz="quarter" idx="39"/>
          </p:nvPr>
        </p:nvSpPr>
        <p:spPr>
          <a:xfrm>
            <a:off x="575675" y="4053397"/>
            <a:ext cx="4994912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3" name="Объект 2"/>
          <p:cNvSpPr>
            <a:spLocks noGrp="1"/>
          </p:cNvSpPr>
          <p:nvPr>
            <p:ph sz="quarter" idx="40"/>
          </p:nvPr>
        </p:nvSpPr>
        <p:spPr>
          <a:xfrm>
            <a:off x="6191949" y="4053397"/>
            <a:ext cx="5023913" cy="1998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4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51350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объекта и опис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Нажмите дважды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75733" y="5111283"/>
            <a:ext cx="3546300" cy="2872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232" name="Уровень текста 1…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575733" y="5401196"/>
            <a:ext cx="3546300" cy="10038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  <a:defRPr sz="1067"/>
            </a:lvl2pPr>
            <a:lvl3pPr marL="0" indent="0">
              <a:buSzTx/>
              <a:buNone/>
              <a:defRPr sz="1067"/>
            </a:lvl3pPr>
            <a:lvl4pPr marL="0" indent="0">
              <a:buSzTx/>
              <a:buNone/>
              <a:defRPr sz="1067"/>
            </a:lvl4pPr>
            <a:lvl5pPr marL="0" indent="0">
              <a:buSzTx/>
              <a:buNone/>
              <a:defRPr sz="1067"/>
            </a:lvl5pPr>
          </a:lstStyle>
          <a:p>
            <a:r>
              <a:rPr dirty="0"/>
              <a:t>Нажмите дважды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7" name="Нажмите дважды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8061234" y="5111283"/>
            <a:ext cx="3579031" cy="2872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18" name="Уровень текста 1…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8061233" y="5401196"/>
            <a:ext cx="3579031" cy="10038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  <a:defRPr sz="1067"/>
            </a:lvl2pPr>
            <a:lvl3pPr marL="0" indent="0">
              <a:buSzTx/>
              <a:buNone/>
              <a:defRPr sz="1067"/>
            </a:lvl3pPr>
            <a:lvl4pPr marL="0" indent="0">
              <a:buSzTx/>
              <a:buNone/>
              <a:defRPr sz="1067"/>
            </a:lvl4pPr>
            <a:lvl5pPr marL="0" indent="0">
              <a:buSzTx/>
              <a:buNone/>
              <a:defRPr sz="1067"/>
            </a:lvl5pPr>
          </a:lstStyle>
          <a:p>
            <a:r>
              <a:t>Нажмите дважды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" name="Нажмите дважды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4308934" y="5111283"/>
            <a:ext cx="3570295" cy="2872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4308932" y="5401196"/>
            <a:ext cx="3570296" cy="100383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  <a:defRPr sz="1067"/>
            </a:lvl2pPr>
            <a:lvl3pPr marL="0" indent="0">
              <a:buSzTx/>
              <a:buNone/>
              <a:defRPr sz="1067"/>
            </a:lvl3pPr>
            <a:lvl4pPr marL="0" indent="0">
              <a:buSzTx/>
              <a:buNone/>
              <a:defRPr sz="1067"/>
            </a:lvl4pPr>
            <a:lvl5pPr marL="0" indent="0">
              <a:buSzTx/>
              <a:buNone/>
              <a:defRPr sz="1067"/>
            </a:lvl5pPr>
          </a:lstStyle>
          <a:p>
            <a:r>
              <a:t>Нажмите дважды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Прямоугольник 23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Прямоугольник с двумя скругленными соседними углами 24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2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31"/>
          </p:nvPr>
        </p:nvSpPr>
        <p:spPr>
          <a:xfrm>
            <a:off x="575734" y="1111991"/>
            <a:ext cx="3545417" cy="372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97758" indent="0">
              <a:buNone/>
              <a:defRPr sz="1333"/>
            </a:lvl2pPr>
            <a:lvl3pPr marL="195515" indent="0">
              <a:buNone/>
              <a:defRPr sz="1333"/>
            </a:lvl3pPr>
            <a:lvl4pPr marL="293271" indent="0">
              <a:buNone/>
              <a:defRPr sz="1333"/>
            </a:lvl4pPr>
            <a:lvl5pPr marL="391029" indent="0"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Объект 2"/>
          <p:cNvSpPr>
            <a:spLocks noGrp="1"/>
          </p:cNvSpPr>
          <p:nvPr>
            <p:ph sz="quarter" idx="32"/>
          </p:nvPr>
        </p:nvSpPr>
        <p:spPr>
          <a:xfrm>
            <a:off x="4305301" y="1111991"/>
            <a:ext cx="3545417" cy="372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97758" indent="0">
              <a:buNone/>
              <a:defRPr sz="1333"/>
            </a:lvl2pPr>
            <a:lvl3pPr marL="195515" indent="0">
              <a:buNone/>
              <a:defRPr sz="1333"/>
            </a:lvl3pPr>
            <a:lvl4pPr marL="293271" indent="0">
              <a:buNone/>
              <a:defRPr sz="1333"/>
            </a:lvl4pPr>
            <a:lvl5pPr marL="391029" indent="0"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7" name="Объект 2"/>
          <p:cNvSpPr>
            <a:spLocks noGrp="1"/>
          </p:cNvSpPr>
          <p:nvPr>
            <p:ph sz="quarter" idx="33"/>
          </p:nvPr>
        </p:nvSpPr>
        <p:spPr>
          <a:xfrm>
            <a:off x="8068734" y="1111991"/>
            <a:ext cx="3545417" cy="37274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97758" indent="0">
              <a:buNone/>
              <a:defRPr sz="1333"/>
            </a:lvl2pPr>
            <a:lvl3pPr marL="195515" indent="0">
              <a:buNone/>
              <a:defRPr sz="1333"/>
            </a:lvl3pPr>
            <a:lvl4pPr marL="293271" indent="0">
              <a:buNone/>
              <a:defRPr sz="1333"/>
            </a:lvl4pPr>
            <a:lvl5pPr marL="391029" indent="0"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8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48229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екстовый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Прямоугольник с двумя скругленными соседними углами 14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75733" y="1723028"/>
            <a:ext cx="5422900" cy="3744261"/>
          </a:xfrm>
          <a:prstGeom prst="rect">
            <a:avLst/>
          </a:prstGeom>
        </p:spPr>
        <p:txBody>
          <a:bodyPr lIns="0" tIns="46800" rIns="90000" bIns="4680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3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575733" y="1391825"/>
            <a:ext cx="5422899" cy="299635"/>
          </a:xfrm>
          <a:prstGeom prst="rect">
            <a:avLst/>
          </a:prstGeom>
        </p:spPr>
        <p:txBody>
          <a:bodyPr wrap="square" lIns="0" tIns="46800" rIns="9000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37065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Фото и текстровый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Прямоугольник с двумя скругленными соседними углами 16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6" name="Песчаная тропа между двух холмов, ведущая к океану"/>
          <p:cNvSpPr>
            <a:spLocks noGrp="1"/>
          </p:cNvSpPr>
          <p:nvPr>
            <p:ph type="pic" idx="21"/>
          </p:nvPr>
        </p:nvSpPr>
        <p:spPr>
          <a:xfrm>
            <a:off x="575736" y="1413274"/>
            <a:ext cx="5615515" cy="44469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9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940552" y="1744477"/>
            <a:ext cx="4700992" cy="4054960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9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6940552" y="1413275"/>
            <a:ext cx="4700992" cy="299635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11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51908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нкты (4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Прямоугольник с двумя скругленными соседними углами 17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1" name="Нажмите дважды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369314" y="1398853"/>
            <a:ext cx="2641037" cy="402155"/>
          </a:xfrm>
          <a:prstGeom prst="rect">
            <a:avLst/>
          </a:prstGeom>
        </p:spPr>
        <p:txBody>
          <a:bodyPr anchor="t"/>
          <a:lstStyle>
            <a:lvl1pPr marL="0" indent="0" defTabSz="363254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12" name="Нажмите дважды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189451" y="1398853"/>
            <a:ext cx="2641037" cy="402155"/>
          </a:xfrm>
          <a:prstGeom prst="rect">
            <a:avLst/>
          </a:prstGeom>
        </p:spPr>
        <p:txBody>
          <a:bodyPr anchor="t"/>
          <a:lstStyle>
            <a:lvl1pPr marL="0" indent="0" defTabSz="363254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3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9003003" y="1398853"/>
            <a:ext cx="2635723" cy="402155"/>
          </a:xfrm>
          <a:prstGeom prst="rect">
            <a:avLst/>
          </a:prstGeom>
        </p:spPr>
        <p:txBody>
          <a:bodyPr anchor="t"/>
          <a:lstStyle>
            <a:lvl1pPr marL="0" indent="0" defTabSz="363254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4" name="Нажмите дважды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575733" y="1801008"/>
            <a:ext cx="2614361" cy="3866624"/>
          </a:xfrm>
          <a:prstGeom prst="rect">
            <a:avLst/>
          </a:prstGeom>
        </p:spPr>
        <p:txBody>
          <a:bodyPr anchor="t"/>
          <a:lstStyle>
            <a:lvl1pPr marL="138489" indent="-138489">
              <a:defRPr sz="106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5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3369314" y="1801008"/>
            <a:ext cx="2641037" cy="3866624"/>
          </a:xfrm>
          <a:prstGeom prst="rect">
            <a:avLst/>
          </a:prstGeom>
        </p:spPr>
        <p:txBody>
          <a:bodyPr anchor="t"/>
          <a:lstStyle>
            <a:lvl1pPr marL="138489" indent="-138489">
              <a:defRPr sz="106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6" name="Нажмите дважды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6189451" y="1801008"/>
            <a:ext cx="2634453" cy="3866624"/>
          </a:xfrm>
          <a:prstGeom prst="rect">
            <a:avLst/>
          </a:prstGeom>
        </p:spPr>
        <p:txBody>
          <a:bodyPr anchor="t"/>
          <a:lstStyle>
            <a:lvl1pPr marL="138489" indent="-138489">
              <a:defRPr sz="106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7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9003003" y="1808148"/>
            <a:ext cx="2634453" cy="3866624"/>
          </a:xfrm>
          <a:prstGeom prst="rect">
            <a:avLst/>
          </a:prstGeom>
        </p:spPr>
        <p:txBody>
          <a:bodyPr anchor="t"/>
          <a:lstStyle>
            <a:lvl1pPr marL="138489" indent="-138489">
              <a:defRPr sz="106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19" name="Нажмите дважды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575733" y="1398853"/>
            <a:ext cx="2614361" cy="402155"/>
          </a:xfrm>
          <a:prstGeom prst="rect">
            <a:avLst/>
          </a:prstGeom>
        </p:spPr>
        <p:txBody>
          <a:bodyPr anchor="t"/>
          <a:lstStyle>
            <a:lvl1pPr marL="0" indent="0" defTabSz="363254">
              <a:lnSpc>
                <a:spcPct val="100000"/>
              </a:lnSpc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17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448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текстового блока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Песчаная тропа между двух холмов, ведущая к океану"/>
          <p:cNvSpPr>
            <a:spLocks noGrp="1"/>
          </p:cNvSpPr>
          <p:nvPr>
            <p:ph type="pic" idx="21"/>
          </p:nvPr>
        </p:nvSpPr>
        <p:spPr>
          <a:xfrm>
            <a:off x="5248553" y="0"/>
            <a:ext cx="6943449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14" name="Прямоугольник 13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Прямоугольник с двумя скругленными соседними углами 14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3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575734" y="1391705"/>
            <a:ext cx="4485917" cy="2064940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1333"/>
            </a:lvl1pPr>
            <a:lvl2pPr marL="0" indent="0">
              <a:buSzTx/>
              <a:buNone/>
              <a:defRPr sz="1333"/>
            </a:lvl2pPr>
            <a:lvl3pPr marL="0" indent="0">
              <a:buSzTx/>
              <a:buNone/>
              <a:defRPr sz="1333"/>
            </a:lvl3pPr>
            <a:lvl4pPr marL="0" indent="0">
              <a:buSzTx/>
              <a:buNone/>
              <a:defRPr sz="1333"/>
            </a:lvl4pPr>
            <a:lvl5pPr marL="0" indent="0">
              <a:buSzTx/>
              <a:buNone/>
              <a:defRPr sz="1333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124" name="Нажмите дважды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75733" y="3958952"/>
            <a:ext cx="4483100" cy="1863427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marL="228594" indent="-228594">
              <a:buSzTx/>
              <a:buFont typeface="Arial" charset="0"/>
              <a:buChar char="•"/>
              <a:defRPr sz="106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127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575734" y="3646570"/>
            <a:ext cx="4485917" cy="312383"/>
          </a:xfrm>
          <a:prstGeom prst="rect">
            <a:avLst/>
          </a:prstGeom>
        </p:spPr>
        <p:txBody>
          <a:bodyPr lIns="90000" tIns="46800" rIns="90000" bIns="46800" anchor="t">
            <a:noAutofit/>
          </a:bodyPr>
          <a:lstStyle>
            <a:lvl1pPr marL="0" indent="0">
              <a:buSzTx/>
              <a:buNone/>
              <a:defRPr sz="1333" b="1">
                <a:solidFill>
                  <a:schemeClr val="accent6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4483100" cy="1015716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2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2515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блока с нумерацие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Прямоугольник с двумя скругленными соседними углами 21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191251" y="1241737"/>
            <a:ext cx="5450416" cy="4835211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193" name="Google Shape;663;g13ba8a726a2_0_0"/>
          <p:cNvSpPr txBox="1">
            <a:spLocks noGrp="1"/>
          </p:cNvSpPr>
          <p:nvPr>
            <p:ph type="body" sz="quarter" idx="21"/>
          </p:nvPr>
        </p:nvSpPr>
        <p:spPr>
          <a:xfrm>
            <a:off x="575732" y="1687531"/>
            <a:ext cx="2614361" cy="279116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>
              <a:lnSpc>
                <a:spcPct val="9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4" name="Нажмите дважды"/>
          <p:cNvSpPr txBox="1">
            <a:spLocks noGrp="1"/>
          </p:cNvSpPr>
          <p:nvPr>
            <p:ph type="body" sz="quarter" idx="22"/>
          </p:nvPr>
        </p:nvSpPr>
        <p:spPr>
          <a:xfrm>
            <a:off x="575733" y="1998216"/>
            <a:ext cx="2614361" cy="403267"/>
          </a:xfrm>
          <a:prstGeom prst="rect">
            <a:avLst/>
          </a:prstGeom>
        </p:spPr>
        <p:txBody>
          <a:bodyPr wrap="square" lIns="90000" tIns="125999" rIns="90000" bIns="127000" anchor="t">
            <a:spAutoFit/>
          </a:bodyPr>
          <a:lstStyle>
            <a:lvl1pPr marL="235594" indent="-219953" defTabSz="1219314">
              <a:lnSpc>
                <a:spcPct val="90000"/>
              </a:lnSpc>
              <a:spcBef>
                <a:spcPts val="461"/>
              </a:spcBef>
              <a:buClr>
                <a:srgbClr val="000000"/>
              </a:buClr>
              <a:buSzPct val="100000"/>
              <a:buFont typeface="+mj-lt"/>
              <a:buAutoNum type="arabicPeriod"/>
              <a:defRPr sz="1067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5" name="Google Shape;663;g13ba8a726a2_0_0"/>
          <p:cNvSpPr txBox="1">
            <a:spLocks noGrp="1"/>
          </p:cNvSpPr>
          <p:nvPr>
            <p:ph type="body" sz="quarter" idx="23"/>
          </p:nvPr>
        </p:nvSpPr>
        <p:spPr>
          <a:xfrm>
            <a:off x="3375152" y="1687529"/>
            <a:ext cx="2623557" cy="279116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>
              <a:lnSpc>
                <a:spcPct val="9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6" name="Нажмите дважды"/>
          <p:cNvSpPr txBox="1">
            <a:spLocks noGrp="1"/>
          </p:cNvSpPr>
          <p:nvPr>
            <p:ph type="body" sz="quarter" idx="24"/>
          </p:nvPr>
        </p:nvSpPr>
        <p:spPr>
          <a:xfrm>
            <a:off x="3375152" y="1998216"/>
            <a:ext cx="2623557" cy="403267"/>
          </a:xfrm>
          <a:prstGeom prst="rect">
            <a:avLst/>
          </a:prstGeom>
        </p:spPr>
        <p:txBody>
          <a:bodyPr wrap="square" lIns="90000" tIns="125999" rIns="90000" bIns="127000" anchor="t">
            <a:spAutoFit/>
          </a:bodyPr>
          <a:lstStyle>
            <a:lvl1pPr>
              <a:defRPr sz="1067"/>
            </a:lvl1pPr>
          </a:lstStyle>
          <a:p>
            <a:pPr marL="235594" lvl="0" indent="-219953" defTabSz="1219314">
              <a:lnSpc>
                <a:spcPct val="90000"/>
              </a:lnSpc>
              <a:spcBef>
                <a:spcPts val="461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mtClean="0"/>
              <a:t>Edit Master text styles</a:t>
            </a:r>
          </a:p>
        </p:txBody>
      </p:sp>
      <p:sp>
        <p:nvSpPr>
          <p:cNvPr id="197" name="Google Shape;663;g13ba8a726a2_0_0"/>
          <p:cNvSpPr txBox="1">
            <a:spLocks noGrp="1"/>
          </p:cNvSpPr>
          <p:nvPr>
            <p:ph type="body" sz="quarter" idx="25"/>
          </p:nvPr>
        </p:nvSpPr>
        <p:spPr>
          <a:xfrm>
            <a:off x="575732" y="4046280"/>
            <a:ext cx="2614361" cy="279116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>
              <a:lnSpc>
                <a:spcPct val="9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8" name="Нажмите дважды"/>
          <p:cNvSpPr txBox="1">
            <a:spLocks noGrp="1"/>
          </p:cNvSpPr>
          <p:nvPr>
            <p:ph type="body" sz="quarter" idx="26"/>
          </p:nvPr>
        </p:nvSpPr>
        <p:spPr>
          <a:xfrm>
            <a:off x="575733" y="4356966"/>
            <a:ext cx="2614361" cy="403267"/>
          </a:xfrm>
          <a:prstGeom prst="rect">
            <a:avLst/>
          </a:prstGeom>
        </p:spPr>
        <p:txBody>
          <a:bodyPr wrap="square" lIns="90000" tIns="125999" rIns="90000" bIns="127000" anchor="t">
            <a:spAutoFit/>
          </a:bodyPr>
          <a:lstStyle>
            <a:lvl1pPr>
              <a:defRPr lang="ru-RU" sz="1067" dirty="0" smtClean="0"/>
            </a:lvl1pPr>
          </a:lstStyle>
          <a:p>
            <a:pPr marL="235594" lvl="0" indent="-219953" defTabSz="1219314">
              <a:lnSpc>
                <a:spcPct val="90000"/>
              </a:lnSpc>
              <a:spcBef>
                <a:spcPts val="461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mtClean="0"/>
              <a:t>Edit Master text styles</a:t>
            </a:r>
          </a:p>
        </p:txBody>
      </p:sp>
      <p:sp>
        <p:nvSpPr>
          <p:cNvPr id="199" name="Google Shape;663;g13ba8a726a2_0_0"/>
          <p:cNvSpPr txBox="1">
            <a:spLocks noGrp="1"/>
          </p:cNvSpPr>
          <p:nvPr>
            <p:ph type="body" sz="quarter" idx="27"/>
          </p:nvPr>
        </p:nvSpPr>
        <p:spPr>
          <a:xfrm>
            <a:off x="3375152" y="4046280"/>
            <a:ext cx="2623557" cy="279116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>
              <a:lnSpc>
                <a:spcPct val="9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0" name="Нажмите дважды"/>
          <p:cNvSpPr txBox="1">
            <a:spLocks noGrp="1"/>
          </p:cNvSpPr>
          <p:nvPr>
            <p:ph type="body" sz="quarter" idx="28"/>
          </p:nvPr>
        </p:nvSpPr>
        <p:spPr>
          <a:xfrm>
            <a:off x="3375152" y="4356966"/>
            <a:ext cx="2623557" cy="403267"/>
          </a:xfrm>
          <a:prstGeom prst="rect">
            <a:avLst/>
          </a:prstGeom>
        </p:spPr>
        <p:txBody>
          <a:bodyPr wrap="square" lIns="90000" tIns="125999" rIns="90000" bIns="127000" anchor="t">
            <a:spAutoFit/>
          </a:bodyPr>
          <a:lstStyle>
            <a:lvl1pPr>
              <a:defRPr sz="1067"/>
            </a:lvl1pPr>
          </a:lstStyle>
          <a:p>
            <a:pPr marL="235594" lvl="0" indent="-219953" defTabSz="1219314">
              <a:lnSpc>
                <a:spcPct val="90000"/>
              </a:lnSpc>
              <a:spcBef>
                <a:spcPts val="461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mtClean="0"/>
              <a:t>Edit Master text styles</a:t>
            </a:r>
          </a:p>
        </p:txBody>
      </p:sp>
      <p:sp>
        <p:nvSpPr>
          <p:cNvPr id="1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29"/>
          </p:nvPr>
        </p:nvSpPr>
        <p:spPr>
          <a:xfrm>
            <a:off x="6191251" y="1241737"/>
            <a:ext cx="5450416" cy="48352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/>
            </a:lvl1pPr>
            <a:lvl2pPr marL="97758" indent="0">
              <a:buNone/>
              <a:defRPr/>
            </a:lvl2pPr>
            <a:lvl3pPr marL="195515" indent="0">
              <a:buNone/>
              <a:defRPr/>
            </a:lvl3pPr>
            <a:lvl4pPr marL="293271" indent="0">
              <a:buNone/>
              <a:defRPr/>
            </a:lvl4pPr>
            <a:lvl5pPr marL="391029" indent="0"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8035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и подпись (6ш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Прямоугольник с двумя скругленными соседними углами 36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1"/>
          </p:nvPr>
        </p:nvSpPr>
        <p:spPr>
          <a:xfrm>
            <a:off x="575731" y="3945542"/>
            <a:ext cx="3547580" cy="161650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1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2"/>
          </p:nvPr>
        </p:nvSpPr>
        <p:spPr>
          <a:xfrm>
            <a:off x="4310212" y="3945542"/>
            <a:ext cx="3571576" cy="161650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2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3"/>
          </p:nvPr>
        </p:nvSpPr>
        <p:spPr>
          <a:xfrm>
            <a:off x="8069967" y="3945542"/>
            <a:ext cx="3571576" cy="161650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5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4"/>
          </p:nvPr>
        </p:nvSpPr>
        <p:spPr>
          <a:xfrm>
            <a:off x="575733" y="1427407"/>
            <a:ext cx="3547579" cy="161708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6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5"/>
          </p:nvPr>
        </p:nvSpPr>
        <p:spPr>
          <a:xfrm>
            <a:off x="4310212" y="1427408"/>
            <a:ext cx="3571576" cy="161705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7" name="Цапля, низко летящая над пляжем с коротким забором на переднем плане"/>
          <p:cNvSpPr>
            <a:spLocks noGrp="1"/>
          </p:cNvSpPr>
          <p:nvPr>
            <p:ph type="pic" sz="quarter" idx="26"/>
          </p:nvPr>
        </p:nvSpPr>
        <p:spPr>
          <a:xfrm>
            <a:off x="8068685" y="1427408"/>
            <a:ext cx="3571576" cy="1617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28" name="Текст подписи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575734" y="3172166"/>
            <a:ext cx="1085265" cy="1919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  <p:sp>
        <p:nvSpPr>
          <p:cNvPr id="29" name="Текст подписи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4310211" y="3172166"/>
            <a:ext cx="974947" cy="19191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  <p:sp>
        <p:nvSpPr>
          <p:cNvPr id="30" name="Текст подписи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8068686" y="3172166"/>
            <a:ext cx="974947" cy="19191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  <p:sp>
        <p:nvSpPr>
          <p:cNvPr id="31" name="Текст подписи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575734" y="5692872"/>
            <a:ext cx="1085265" cy="19191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  <p:sp>
        <p:nvSpPr>
          <p:cNvPr id="32" name="Текст подписи"/>
          <p:cNvSpPr txBox="1">
            <a:spLocks noGrp="1"/>
          </p:cNvSpPr>
          <p:nvPr>
            <p:ph type="body" sz="quarter" idx="31" hasCustomPrompt="1"/>
          </p:nvPr>
        </p:nvSpPr>
        <p:spPr>
          <a:xfrm>
            <a:off x="4310211" y="5692872"/>
            <a:ext cx="974947" cy="19191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  <p:sp>
        <p:nvSpPr>
          <p:cNvPr id="33" name="Текст подписи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8069967" y="5692872"/>
            <a:ext cx="974947" cy="19191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70000"/>
              </a:lnSpc>
              <a:buSzTx/>
              <a:buNone/>
              <a:defRPr sz="924">
                <a:solidFill>
                  <a:srgbClr val="000000"/>
                </a:solidFill>
              </a:defRPr>
            </a:lvl1pPr>
          </a:lstStyle>
          <a:p>
            <a:r>
              <a:t>Текст подписи</a:t>
            </a:r>
          </a:p>
        </p:txBody>
      </p:sp>
    </p:spTree>
    <p:extLst>
      <p:ext uri="{BB962C8B-B14F-4D97-AF65-F5344CB8AC3E}">
        <p14:creationId xmlns:p14="http://schemas.microsoft.com/office/powerpoint/2010/main" val="10745793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нкты (6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Прямоугольник с двумя скругленными соседними углами 20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3" name="Нажмите дважды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3463" y="1582472"/>
            <a:ext cx="1688887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47672">
              <a:lnSpc>
                <a:spcPct val="100000"/>
              </a:lnSpc>
              <a:buSzTx/>
              <a:buNone/>
              <a:defRPr sz="1127" b="1">
                <a:solidFill>
                  <a:schemeClr val="accent1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64" name="Нажмите дважды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307653" y="1582472"/>
            <a:ext cx="1691057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47672">
              <a:lnSpc>
                <a:spcPct val="100000"/>
              </a:lnSpc>
              <a:buSzTx/>
              <a:buNone/>
              <a:defRPr sz="1127" b="1">
                <a:solidFill>
                  <a:schemeClr val="accent1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65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6189452" y="1582472"/>
            <a:ext cx="1691057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47672">
              <a:lnSpc>
                <a:spcPct val="100000"/>
              </a:lnSpc>
              <a:buSzTx/>
              <a:buNone/>
              <a:defRPr sz="1127" b="1">
                <a:solidFill>
                  <a:schemeClr val="accent1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66" name="Нажмите дважды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550459" y="1984625"/>
            <a:ext cx="1690647" cy="3671108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67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2433147" y="1984625"/>
            <a:ext cx="1688887" cy="3671107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68" name="Нажмите дважды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4307416" y="1984625"/>
            <a:ext cx="1691057" cy="3671107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69" name="Нажмите дважды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6189293" y="1984625"/>
            <a:ext cx="1691057" cy="3671108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70" name="Нжмите дважды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8071091" y="1582472"/>
            <a:ext cx="1688655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64184">
              <a:lnSpc>
                <a:spcPct val="100000"/>
              </a:lnSpc>
              <a:buSzTx/>
              <a:buNone/>
              <a:defRPr sz="1203" b="1">
                <a:solidFill>
                  <a:schemeClr val="accent1"/>
                </a:solidFill>
              </a:defRPr>
            </a:lvl1pPr>
          </a:lstStyle>
          <a:p>
            <a:r>
              <a:t>Нжмите дважды</a:t>
            </a:r>
          </a:p>
        </p:txBody>
      </p:sp>
      <p:sp>
        <p:nvSpPr>
          <p:cNvPr id="271" name="Нажмите дважды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8071013" y="1984625"/>
            <a:ext cx="1688655" cy="3671108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72" name="Нажмите дважды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9947926" y="1582472"/>
            <a:ext cx="1693617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47672">
              <a:lnSpc>
                <a:spcPct val="100000"/>
              </a:lnSpc>
              <a:buSzTx/>
              <a:buNone/>
              <a:defRPr sz="1127" b="1">
                <a:solidFill>
                  <a:schemeClr val="accent1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73" name="Нажмите дважды"/>
          <p:cNvSpPr txBox="1">
            <a:spLocks noGrp="1"/>
          </p:cNvSpPr>
          <p:nvPr>
            <p:ph type="body" sz="quarter" idx="31" hasCustomPrompt="1"/>
          </p:nvPr>
        </p:nvSpPr>
        <p:spPr>
          <a:xfrm>
            <a:off x="9947926" y="1984625"/>
            <a:ext cx="1693617" cy="3671108"/>
          </a:xfrm>
          <a:prstGeom prst="rect">
            <a:avLst/>
          </a:prstGeom>
        </p:spPr>
        <p:txBody>
          <a:bodyPr lIns="0" tIns="0" rIns="0" bIns="0" anchor="t"/>
          <a:lstStyle>
            <a:lvl1pPr marL="138489" indent="-138489">
              <a:defRPr sz="1047">
                <a:solidFill>
                  <a:srgbClr val="000000"/>
                </a:solidFill>
              </a:defRPr>
            </a:lvl1pPr>
          </a:lstStyle>
          <a:p>
            <a:r>
              <a:t>Нажмите дважды</a:t>
            </a:r>
          </a:p>
        </p:txBody>
      </p:sp>
      <p:sp>
        <p:nvSpPr>
          <p:cNvPr id="274" name="Нажмите дважды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550460" y="1582472"/>
            <a:ext cx="1691057" cy="351001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247672">
              <a:lnSpc>
                <a:spcPct val="100000"/>
              </a:lnSpc>
              <a:buSzTx/>
              <a:buNone/>
              <a:defRPr sz="1127" b="1">
                <a:solidFill>
                  <a:schemeClr val="accent1"/>
                </a:solidFill>
              </a:defRPr>
            </a:lvl1pPr>
          </a:lstStyle>
          <a:p>
            <a:r>
              <a:rPr dirty="0"/>
              <a:t>Нажмите дважды</a:t>
            </a:r>
          </a:p>
        </p:txBody>
      </p:sp>
      <p:sp>
        <p:nvSpPr>
          <p:cNvPr id="28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29" name="Рисунок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3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67272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круп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575735" y="1460951"/>
            <a:ext cx="11065933" cy="4578351"/>
          </a:xfrm>
          <a:prstGeom prst="rect">
            <a:avLst/>
          </a:prstGeom>
          <a:solidFill>
            <a:schemeClr val="bg2">
              <a:alpha val="50000"/>
            </a:schemeClr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0" tIns="0" rIns="0" bIns="0" numCol="1" spcCol="38100" rtlCol="0" anchor="ctr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endParaRPr lang="ru-RU" sz="1467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Прямоугольник с двумя скругленными соседними углами 13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15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8" name="Уровень текста 1…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575734" y="6047733"/>
            <a:ext cx="11065933" cy="348867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SzTx/>
              <a:buNone/>
              <a:defRPr sz="1067"/>
            </a:lvl1pPr>
            <a:lvl2pPr marL="0" indent="0">
              <a:buSzTx/>
              <a:buNone/>
              <a:defRPr sz="1067"/>
            </a:lvl2pPr>
            <a:lvl3pPr marL="0" indent="0">
              <a:buSzTx/>
              <a:buNone/>
              <a:defRPr sz="1067"/>
            </a:lvl3pPr>
            <a:lvl4pPr marL="0" indent="0">
              <a:buSzTx/>
              <a:buNone/>
              <a:defRPr sz="1067"/>
            </a:lvl4pPr>
            <a:lvl5pPr marL="0" indent="0">
              <a:buSzTx/>
              <a:buNone/>
              <a:defRPr sz="1067"/>
            </a:lvl5pPr>
          </a:lstStyle>
          <a:p>
            <a:r>
              <a:rPr dirty="0"/>
              <a:t>Нажмите дважды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25"/>
          </p:nvPr>
        </p:nvSpPr>
        <p:spPr>
          <a:xfrm>
            <a:off x="575734" y="1469385"/>
            <a:ext cx="11065933" cy="45699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67"/>
            </a:lvl1pPr>
            <a:lvl2pPr marL="97758" indent="0">
              <a:buNone/>
              <a:defRPr sz="1067"/>
            </a:lvl2pPr>
            <a:lvl3pPr marL="195515" indent="0">
              <a:buNone/>
              <a:defRPr sz="1067"/>
            </a:lvl3pPr>
            <a:lvl4pPr marL="293271" indent="0">
              <a:buNone/>
              <a:defRPr sz="1067"/>
            </a:lvl4pPr>
            <a:lvl5pPr marL="391029" indent="0">
              <a:buNone/>
              <a:defRPr sz="1067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Нажмите дважды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575734" y="937869"/>
            <a:ext cx="11065933" cy="2872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333" b="1" cap="none">
                <a:solidFill>
                  <a:schemeClr val="accent6"/>
                </a:solidFill>
              </a:defRPr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47002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 на весь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Прямоугольник с двумя скругленными соседними углами 7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2" name="Вид на пляж и море с песчаной дюны, покрытой травой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6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9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5999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фото вертик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Прямоугольник с двумя скругленными соседними углами 23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3" name="Нажмите дважды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74341" y="5209588"/>
            <a:ext cx="2620193" cy="324385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067" b="1" cap="none"/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395" name="Вид на пляж и море с песчаной дюны, покрытой травой"/>
          <p:cNvSpPr>
            <a:spLocks noGrp="1"/>
          </p:cNvSpPr>
          <p:nvPr>
            <p:ph type="pic" idx="22"/>
          </p:nvPr>
        </p:nvSpPr>
        <p:spPr>
          <a:xfrm>
            <a:off x="575734" y="1671407"/>
            <a:ext cx="2619268" cy="353818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396" name="Нажмите дважды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3366754" y="5209589"/>
            <a:ext cx="2631956" cy="324385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067" b="1" cap="none"/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397" name="Нажмите дважды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6185610" y="5209589"/>
            <a:ext cx="2639637" cy="324385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067" b="1" cap="none"/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398" name="Нажмите дважды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9009587" y="5209589"/>
            <a:ext cx="2631957" cy="324385"/>
          </a:xfrm>
          <a:prstGeom prst="rect">
            <a:avLst/>
          </a:prstGeom>
        </p:spPr>
        <p:txBody>
          <a:bodyPr wrap="square" lIns="90000" tIns="46800" rIns="90000" bIns="46800" anchor="t">
            <a:spAutoFit/>
          </a:bodyPr>
          <a:lstStyle>
            <a:lvl1pPr marL="0" indent="0" defTabSz="1219314">
              <a:lnSpc>
                <a:spcPct val="140000"/>
              </a:lnSpc>
              <a:buSzTx/>
              <a:buNone/>
              <a:defRPr sz="1067" b="1" cap="none"/>
            </a:lvl1pPr>
          </a:lstStyle>
          <a:p>
            <a:r>
              <a:rPr lang="ru-RU" dirty="0" smtClean="0"/>
              <a:t>Нажмите дважды</a:t>
            </a:r>
            <a:endParaRPr lang="ru-RU" dirty="0"/>
          </a:p>
        </p:txBody>
      </p:sp>
      <p:sp>
        <p:nvSpPr>
          <p:cNvPr id="17" name="Вид на пляж и море с песчаной дюны, покрытой травой"/>
          <p:cNvSpPr>
            <a:spLocks noGrp="1"/>
          </p:cNvSpPr>
          <p:nvPr>
            <p:ph type="pic" idx="26"/>
          </p:nvPr>
        </p:nvSpPr>
        <p:spPr>
          <a:xfrm>
            <a:off x="3366754" y="1671407"/>
            <a:ext cx="2631956" cy="353818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18" name="Вид на пляж и море с песчаной дюны, покрытой травой"/>
          <p:cNvSpPr>
            <a:spLocks noGrp="1"/>
          </p:cNvSpPr>
          <p:nvPr>
            <p:ph type="pic" idx="27"/>
          </p:nvPr>
        </p:nvSpPr>
        <p:spPr>
          <a:xfrm>
            <a:off x="6186545" y="1671407"/>
            <a:ext cx="2638703" cy="353818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19" name="Вид на пляж и море с песчаной дюны, покрытой травой"/>
          <p:cNvSpPr>
            <a:spLocks noGrp="1"/>
          </p:cNvSpPr>
          <p:nvPr>
            <p:ph type="pic" idx="28"/>
          </p:nvPr>
        </p:nvSpPr>
        <p:spPr>
          <a:xfrm>
            <a:off x="9009587" y="1671407"/>
            <a:ext cx="2631956" cy="353818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en-US" smtClean="0"/>
              <a:t>Click icon to add picture</a:t>
            </a:r>
            <a:endParaRPr dirty="0"/>
          </a:p>
        </p:txBody>
      </p:sp>
      <p:sp>
        <p:nvSpPr>
          <p:cNvPr id="13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1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3240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83838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Прямоугольник с двумя скругленными соседними углами 10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920" y="455398"/>
            <a:ext cx="425621" cy="213196"/>
          </a:xfrm>
          <a:prstGeom prst="rect">
            <a:avLst/>
          </a:prstGeom>
        </p:spPr>
      </p:pic>
      <p:sp>
        <p:nvSpPr>
          <p:cNvPr id="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575734" y="375989"/>
            <a:ext cx="10121900" cy="561881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00000"/>
              </a:lnSpc>
              <a:defRPr sz="2667" b="1">
                <a:solidFill>
                  <a:schemeClr val="accent1"/>
                </a:solidFill>
                <a:latin typeface="+mn-lt"/>
                <a:ea typeface="+mn-ea"/>
                <a:cs typeface="+mn-cs"/>
                <a:sym typeface="Suisse Int'l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9170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27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5598594"/>
            <a:ext cx="12192000" cy="2092881"/>
          </a:xfrm>
          <a:prstGeom prst="rect">
            <a:avLst/>
          </a:prstGeom>
          <a:solidFill>
            <a:srgbClr val="3B1A0B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Прямоугольник с двумя скругленными соседними углами 8"/>
          <p:cNvSpPr/>
          <p:nvPr/>
        </p:nvSpPr>
        <p:spPr>
          <a:xfrm rot="5400000">
            <a:off x="4728000" y="5568232"/>
            <a:ext cx="480000" cy="215360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80D1C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3575039" hangingPunct="0"/>
            <a:endParaRPr lang="ru-RU" sz="136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Номер слайда"/>
          <p:cNvSpPr txBox="1">
            <a:spLocks/>
          </p:cNvSpPr>
          <p:nvPr/>
        </p:nvSpPr>
        <p:spPr>
          <a:xfrm flipH="1">
            <a:off x="575734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ru-RU"/>
            </a:defPPr>
            <a:lvl1pPr marL="0" algn="l" defTabSz="685800" rtl="0" eaLnBrk="1" latinLnBrk="0" hangingPunct="1">
              <a:defRPr lang="ru-RU" sz="529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33283" hangingPunct="0">
              <a:lnSpc>
                <a:spcPct val="70000"/>
              </a:lnSpc>
            </a:pP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АКБ «</a:t>
            </a:r>
            <a:r>
              <a:rPr lang="ru-RU" sz="705" kern="0" dirty="0" err="1" smtClean="0">
                <a:solidFill>
                  <a:srgbClr val="FFFFFF"/>
                </a:solidFill>
                <a:sym typeface="Suisse Int'l"/>
              </a:rPr>
              <a:t>НРБанк</a:t>
            </a:r>
            <a:r>
              <a:rPr lang="ru-RU" sz="705" kern="0" dirty="0" smtClean="0">
                <a:solidFill>
                  <a:srgbClr val="FFFFFF"/>
                </a:solidFill>
                <a:sym typeface="Suisse Int'l"/>
              </a:rPr>
              <a:t>» (АО)</a:t>
            </a:r>
            <a:endParaRPr lang="ru-RU" sz="705" kern="0" dirty="0">
              <a:solidFill>
                <a:srgbClr val="FFFFFF"/>
              </a:solidFill>
              <a:sym typeface="Suisse Int'l"/>
            </a:endParaRPr>
          </a:p>
        </p:txBody>
      </p:sp>
      <p:sp>
        <p:nvSpPr>
          <p:cNvPr id="7" name="Номер слайда"/>
          <p:cNvSpPr txBox="1">
            <a:spLocks noGrp="1"/>
          </p:cNvSpPr>
          <p:nvPr>
            <p:ph type="sldNum" sz="quarter" idx="2"/>
          </p:nvPr>
        </p:nvSpPr>
        <p:spPr>
          <a:xfrm flipH="1">
            <a:off x="10635033" y="6594959"/>
            <a:ext cx="1006511" cy="139987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ru-RU" sz="705" dirty="0">
                <a:solidFill>
                  <a:schemeClr val="bg1"/>
                </a:solidFill>
              </a:defRPr>
            </a:lvl1pPr>
          </a:lstStyle>
          <a:p>
            <a:fld id="{9158D697-4E55-5D4C-8003-1105B466849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75734" y="310673"/>
            <a:ext cx="1703351" cy="50276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ru-RU" sz="2667" b="1" dirty="0" smtClean="0">
                <a:solidFill>
                  <a:schemeClr val="accent1"/>
                </a:solidFill>
                <a:latin typeface="+mn-lt"/>
              </a:rPr>
              <a:t>Контакты</a:t>
            </a:r>
            <a:endParaRPr lang="ru-RU" sz="2667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11" name="Уровень текста 1…"/>
          <p:cNvSpPr txBox="1">
            <a:spLocks noGrp="1"/>
          </p:cNvSpPr>
          <p:nvPr>
            <p:ph type="body" sz="quarter" idx="23"/>
          </p:nvPr>
        </p:nvSpPr>
        <p:spPr>
          <a:xfrm>
            <a:off x="6191251" y="2741052"/>
            <a:ext cx="5422900" cy="3313491"/>
          </a:xfrm>
          <a:prstGeom prst="rect">
            <a:avLst/>
          </a:prstGeom>
        </p:spPr>
        <p:txBody>
          <a:bodyPr lIns="0" rIns="0" anchor="t"/>
          <a:lstStyle>
            <a:lvl1pPr marL="0" indent="0">
              <a:lnSpc>
                <a:spcPct val="120000"/>
              </a:lnSpc>
              <a:buSzTx/>
              <a:buNone/>
              <a:defRPr sz="1867"/>
            </a:lvl1pPr>
            <a:lvl2pPr marL="0" indent="0">
              <a:buSzTx/>
              <a:buNone/>
            </a:lvl2pPr>
            <a:lvl3pPr marL="0" indent="0">
              <a:buSzTx/>
              <a:buNone/>
            </a:lvl3pPr>
            <a:lvl4pPr marL="0" indent="0">
              <a:buSzTx/>
              <a:buNone/>
            </a:lvl4pPr>
            <a:lvl5pPr marL="0" indent="0">
              <a:buSzTx/>
              <a:buNone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1" y="509680"/>
            <a:ext cx="3754967" cy="188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650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  <p:hf hdr="0"/>
  <p:extLst mod="1"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872" y="1792"/>
            <a:ext cx="11143128" cy="68676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33" y="-14514"/>
            <a:ext cx="7418013" cy="6883486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8FC27-073A-4DC4-A2E3-A5646942FE42}"/>
              </a:ext>
            </a:extLst>
          </p:cNvPr>
          <p:cNvCxnSpPr>
            <a:cxnSpLocks/>
          </p:cNvCxnSpPr>
          <p:nvPr/>
        </p:nvCxnSpPr>
        <p:spPr>
          <a:xfrm flipV="1">
            <a:off x="4920343" y="0"/>
            <a:ext cx="2488337" cy="6858000"/>
          </a:xfrm>
          <a:prstGeom prst="line">
            <a:avLst/>
          </a:prstGeom>
          <a:ln w="31750">
            <a:solidFill>
              <a:srgbClr val="CAB3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9">
            <a:extLst>
              <a:ext uri="{FF2B5EF4-FFF2-40B4-BE49-F238E27FC236}">
                <a16:creationId xmlns:a16="http://schemas.microsoft.com/office/drawing/2014/main" id="{0470EBAE-1F32-4C99-AE42-9BD92527459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15938" y="4256362"/>
            <a:ext cx="4979515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rgbClr val="CAB39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2pPr>
            <a:lvl3pPr marL="9144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3pPr>
            <a:lvl4pPr marL="13716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4pPr>
            <a:lvl5pPr marL="1828800" indent="0">
              <a:buNone/>
              <a:defRPr sz="2400">
                <a:solidFill>
                  <a:schemeClr val="accent4"/>
                </a:solidFill>
                <a:latin typeface="VTB Group Book" panose="020B0503040504020204" pitchFamily="34" charset="-52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Подзаголовок до двух строк</a:t>
            </a:r>
            <a:br>
              <a:rPr lang="ru-RU" dirty="0"/>
            </a:br>
            <a:r>
              <a:rPr lang="ru-RU" dirty="0"/>
              <a:t>Подзаголовок до двух строк</a:t>
            </a:r>
          </a:p>
        </p:txBody>
      </p:sp>
      <p:sp>
        <p:nvSpPr>
          <p:cNvPr id="16" name="Заголовок 3">
            <a:extLst>
              <a:ext uri="{FF2B5EF4-FFF2-40B4-BE49-F238E27FC236}">
                <a16:creationId xmlns:a16="http://schemas.microsoft.com/office/drawing/2014/main" id="{50FBDA92-5293-4748-9467-E283FEB0A47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2332555"/>
            <a:ext cx="4979515" cy="166199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ru-RU" sz="4000" b="1" i="0" u="none" strike="noStrike" kern="1200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Cond"/>
              </a:rPr>
              <a:t>Заголовок</a:t>
            </a:r>
            <a:b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Cond"/>
              </a:rPr>
            </a:br>
            <a:r>
              <a:rPr kumimoji="0" lang="ru-RU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Cond"/>
              </a:rPr>
              <a:t>титульного слайда</a:t>
            </a:r>
            <a: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Cond"/>
              </a:rPr>
              <a:t/>
            </a:r>
            <a:br>
              <a:rPr kumimoji="0" lang="en-US" altLang="ru-RU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Cond"/>
              </a:rPr>
            </a:br>
            <a:r>
              <a:rPr kumimoji="0" lang="ru-RU" alt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TB Group Demi Bold" panose="020B0703050504020204" pitchFamily="34" charset="-52"/>
                <a:ea typeface="VTB Group Cond"/>
                <a:cs typeface="VTB Group Light" panose="020B0403040504020204" pitchFamily="34" charset="0"/>
              </a:rPr>
              <a:t>до трех строк</a:t>
            </a:r>
          </a:p>
        </p:txBody>
      </p:sp>
    </p:spTree>
    <p:extLst>
      <p:ext uri="{BB962C8B-B14F-4D97-AF65-F5344CB8AC3E}">
        <p14:creationId xmlns:p14="http://schemas.microsoft.com/office/powerpoint/2010/main" val="81039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8BE54FB-74FD-4702-803C-E6B5608AE9FA}"/>
              </a:ext>
            </a:extLst>
          </p:cNvPr>
          <p:cNvSpPr/>
          <p:nvPr userDrawn="1"/>
        </p:nvSpPr>
        <p:spPr>
          <a:xfrm>
            <a:off x="0" y="0"/>
            <a:ext cx="10099444" cy="6858000"/>
          </a:xfrm>
          <a:prstGeom prst="rect">
            <a:avLst/>
          </a:prstGeom>
          <a:gradFill>
            <a:gsLst>
              <a:gs pos="78000">
                <a:srgbClr val="FFFFFF">
                  <a:alpha val="47000"/>
                </a:srgbClr>
              </a:gs>
              <a:gs pos="5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6350">
            <a:noFill/>
          </a:ln>
          <a:effectLst>
            <a:outerShdw blurRad="114300" dist="63500" dir="2700000" algn="ctr" rotWithShape="0">
              <a:srgbClr val="000000">
                <a:alpha val="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5D8AE636-2DEE-49EA-83CC-C0066B7DE972}"/>
              </a:ext>
            </a:extLst>
          </p:cNvPr>
          <p:cNvSpPr/>
          <p:nvPr userDrawn="1"/>
        </p:nvSpPr>
        <p:spPr>
          <a:xfrm>
            <a:off x="11032337" y="6432551"/>
            <a:ext cx="1159663" cy="378704"/>
          </a:xfrm>
          <a:custGeom>
            <a:avLst/>
            <a:gdLst>
              <a:gd name="connsiteX0" fmla="*/ 133516 w 1159663"/>
              <a:gd name="connsiteY0" fmla="*/ 0 h 378704"/>
              <a:gd name="connsiteX1" fmla="*/ 1159663 w 1159663"/>
              <a:gd name="connsiteY1" fmla="*/ 0 h 378704"/>
              <a:gd name="connsiteX2" fmla="*/ 1159663 w 1159663"/>
              <a:gd name="connsiteY2" fmla="*/ 378704 h 378704"/>
              <a:gd name="connsiteX3" fmla="*/ 0 w 1159663"/>
              <a:gd name="connsiteY3" fmla="*/ 378704 h 378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9663" h="378704">
                <a:moveTo>
                  <a:pt x="133516" y="0"/>
                </a:moveTo>
                <a:lnTo>
                  <a:pt x="1159663" y="0"/>
                </a:lnTo>
                <a:lnTo>
                  <a:pt x="1159663" y="378704"/>
                </a:lnTo>
                <a:lnTo>
                  <a:pt x="0" y="378704"/>
                </a:lnTo>
                <a:close/>
              </a:path>
            </a:pathLst>
          </a:custGeom>
          <a:solidFill>
            <a:srgbClr val="CAB3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1" name="Номер слайда 3">
            <a:extLst>
              <a:ext uri="{FF2B5EF4-FFF2-40B4-BE49-F238E27FC236}">
                <a16:creationId xmlns:a16="http://schemas.microsoft.com/office/drawing/2014/main" id="{A8D8CCBB-60F1-421E-BD7C-5B2872A3F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0352" y="6437938"/>
            <a:ext cx="5096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fld id="{7E1A2DEA-0812-41F9-88C5-48F7F643210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9" name="Текст 17">
            <a:extLst>
              <a:ext uri="{FF2B5EF4-FFF2-40B4-BE49-F238E27FC236}">
                <a16:creationId xmlns:a16="http://schemas.microsoft.com/office/drawing/2014/main" id="{4629834B-CBAD-4093-ABCE-9690483BE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6" y="6354977"/>
            <a:ext cx="6096000" cy="32316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Примечание: текст примечание</a:t>
            </a:r>
            <a:b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ru-RU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Источник: ссылка на источник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8B36158A-9AEE-0840-82F5-4E223837A1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74924"/>
            <a:ext cx="8048197" cy="8617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lnSpc>
                <a:spcPct val="100000"/>
              </a:lnSpc>
              <a:defRPr b="0" i="0"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r>
              <a:rPr lang="ru-RU" dirty="0"/>
              <a:t>ОБРАЗЕЦ ЗАГОЛОВКА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41382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6854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5713412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31747-A542-B242-89AD-E0D4CCF7ADE9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6089650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4"/>
          </p:nvPr>
        </p:nvSpPr>
        <p:spPr>
          <a:xfrm>
            <a:off x="6470649" y="2282824"/>
            <a:ext cx="5330825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35918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6413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2588" y="1846783"/>
            <a:ext cx="6863371" cy="818630"/>
          </a:xfrm>
        </p:spPr>
        <p:txBody>
          <a:bodyPr anchor="t"/>
          <a:lstStyle>
            <a:lvl1pPr algn="l">
              <a:defRPr sz="4000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2587" y="2788215"/>
            <a:ext cx="5713413" cy="3323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0" i="0">
                <a:solidFill>
                  <a:srgbClr val="00AAFF"/>
                </a:solidFill>
                <a:latin typeface="VTB Group Cond Book" charset="0"/>
                <a:ea typeface="VTB Group Cond Book" charset="0"/>
                <a:cs typeface="VTB Group Cond Book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824E5C46-983C-9C4D-B3BD-042FB096B3EA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8459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rgbClr val="0A28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3"/>
          </p:nvPr>
        </p:nvSpPr>
        <p:spPr>
          <a:xfrm>
            <a:off x="0" y="1587"/>
            <a:ext cx="12192000" cy="6856413"/>
          </a:xfrm>
          <a:prstGeom prst="rect">
            <a:avLst/>
          </a:prstGeo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2588" y="1846783"/>
            <a:ext cx="6863371" cy="553998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2587" y="2788215"/>
            <a:ext cx="5713413" cy="140119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4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BA5F8295-D3B3-8944-A3C6-B9F51885A9EB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6854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6089650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02F0555C-6D0A-6441-A521-D68A7A360A61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6089650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8743417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6854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6089650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02F0555C-6D0A-6441-A521-D68A7A360A61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6089650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4" hasCustomPrompt="1"/>
          </p:nvPr>
        </p:nvSpPr>
        <p:spPr>
          <a:xfrm>
            <a:off x="7613650" y="2282824"/>
            <a:ext cx="3053777" cy="1661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solidFill>
                  <a:srgbClr val="00AAFF"/>
                </a:solidFill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ru-RU" dirty="0" smtClean="0"/>
              <a:t>Четвертый уровень</a:t>
            </a:r>
          </a:p>
        </p:txBody>
      </p:sp>
    </p:spTree>
    <p:extLst/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08964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5330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5330825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EBA037CB-6D3C-124D-97C0-3F5F1D2EB3C1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7" y="1520825"/>
            <a:ext cx="533082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6472238" y="2282824"/>
            <a:ext cx="5330825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8124000" y="1906588"/>
            <a:ext cx="4068000" cy="4951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068000" y="1906588"/>
            <a:ext cx="4068000" cy="495141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9F9F9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1906588"/>
            <a:ext cx="4068000" cy="4951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5330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3424237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F674B62F-74FA-4947-8014-2DD1526ED83B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7" y="1520825"/>
            <a:ext cx="5330825" cy="221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428877" y="2282824"/>
            <a:ext cx="3567361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14" name="Объект 2"/>
          <p:cNvSpPr>
            <a:spLocks noGrp="1"/>
          </p:cNvSpPr>
          <p:nvPr>
            <p:ph idx="16"/>
          </p:nvPr>
        </p:nvSpPr>
        <p:spPr>
          <a:xfrm>
            <a:off x="8378826" y="2282824"/>
            <a:ext cx="3422650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0A3CB4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5330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5330825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E819C6FC-04D1-9E4C-9B04-9519409DFD42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5330825" cy="221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4"/>
          </p:nvPr>
        </p:nvSpPr>
        <p:spPr>
          <a:xfrm>
            <a:off x="6470649" y="2282824"/>
            <a:ext cx="5330825" cy="1170577"/>
          </a:xfrm>
          <a:prstGeom prst="rect">
            <a:avLst/>
          </a:prstGeom>
        </p:spPr>
        <p:txBody>
          <a:bodyPr/>
          <a:lstStyle>
            <a:lvl1pPr>
              <a:buClr>
                <a:srgbClr val="00AAFF"/>
              </a:buClr>
              <a:defRPr>
                <a:solidFill>
                  <a:sysClr val="windowText" lastClr="000000"/>
                </a:solidFill>
              </a:defRPr>
            </a:lvl1pPr>
            <a:lvl2pPr>
              <a:buClr>
                <a:srgbClr val="00AAFF"/>
              </a:buClr>
              <a:defRPr>
                <a:solidFill>
                  <a:sysClr val="windowText" lastClr="000000"/>
                </a:solidFill>
              </a:defRPr>
            </a:lvl2pPr>
            <a:lvl3pPr>
              <a:buClr>
                <a:srgbClr val="00AAFF"/>
              </a:buClr>
              <a:defRPr>
                <a:solidFill>
                  <a:sysClr val="windowText" lastClr="000000"/>
                </a:solidFill>
              </a:defRPr>
            </a:lvl3pPr>
            <a:lvl4pPr>
              <a:buClr>
                <a:srgbClr val="00AAFF"/>
              </a:buClr>
              <a:defRPr>
                <a:solidFill>
                  <a:sysClr val="windowText" lastClr="000000"/>
                </a:solidFill>
              </a:defRPr>
            </a:lvl4pPr>
            <a:lvl5pPr>
              <a:buClr>
                <a:srgbClr val="00AAFF"/>
              </a:buCl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5330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5330825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09CA4A53-B6CD-5345-ADDD-7CC4EE091364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5330825" cy="221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4"/>
          </p:nvPr>
        </p:nvSpPr>
        <p:spPr>
          <a:xfrm>
            <a:off x="6472238" y="2282824"/>
            <a:ext cx="4954587" cy="27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i="0" cap="all" baseline="0">
                <a:solidFill>
                  <a:srgbClr val="0A2896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 userDrawn="1"/>
        </p:nvSpPr>
        <p:spPr>
          <a:xfrm>
            <a:off x="8124000" y="1906588"/>
            <a:ext cx="4068000" cy="4951412"/>
          </a:xfrm>
          <a:prstGeom prst="rect">
            <a:avLst/>
          </a:prstGeom>
          <a:solidFill>
            <a:srgbClr val="99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068000" y="1906588"/>
            <a:ext cx="4068000" cy="4951412"/>
          </a:xfrm>
          <a:prstGeom prst="rect">
            <a:avLst/>
          </a:prstGeom>
          <a:solidFill>
            <a:srgbClr val="E5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9F9F9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1906588"/>
            <a:ext cx="4068000" cy="4951411"/>
          </a:xfrm>
          <a:prstGeom prst="rect">
            <a:avLst/>
          </a:prstGeom>
          <a:solidFill>
            <a:srgbClr val="99D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5330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88" y="2282824"/>
            <a:ext cx="3424237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40F110F1-2203-6D42-A01E-00E1BA7C114C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7" y="1520825"/>
            <a:ext cx="5330825" cy="221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428877" y="2282824"/>
            <a:ext cx="3567361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14" name="Объект 2"/>
          <p:cNvSpPr>
            <a:spLocks noGrp="1"/>
          </p:cNvSpPr>
          <p:nvPr>
            <p:ph idx="16"/>
          </p:nvPr>
        </p:nvSpPr>
        <p:spPr>
          <a:xfrm>
            <a:off x="8378826" y="2282824"/>
            <a:ext cx="3422650" cy="3813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6854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C118E8AD-01F8-704D-B196-7557102205CB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6089650" cy="221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2588" y="390763"/>
            <a:ext cx="6854825" cy="775597"/>
          </a:xfrm>
        </p:spPr>
        <p:txBody>
          <a:bodyPr/>
          <a:lstStyle/>
          <a:p>
            <a:r>
              <a:rPr lang="ru-RU" dirty="0" smtClean="0"/>
              <a:t>Образец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82588" y="6472238"/>
            <a:ext cx="758825" cy="384041"/>
          </a:xfrm>
          <a:prstGeom prst="rect">
            <a:avLst/>
          </a:prstGeom>
        </p:spPr>
        <p:txBody>
          <a:bodyPr/>
          <a:lstStyle/>
          <a:p>
            <a:fld id="{1EDACF9D-8CF1-8747-B856-E804B29B18AE}" type="datetime1">
              <a:rPr lang="ru-RU" smtClean="0"/>
              <a:t>27.07.2026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 smtClean="0"/>
              <a:t>Размещение денежных средств в срочные депозиты «Овернайт»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137649" y="6472238"/>
            <a:ext cx="2663825" cy="385762"/>
          </a:xfrm>
          <a:prstGeom prst="rect">
            <a:avLst/>
          </a:prstGeom>
        </p:spPr>
        <p:txBody>
          <a:bodyPr/>
          <a:lstStyle/>
          <a:p>
            <a:fld id="{9158D697-4E55-5D4C-8003-1105B466849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idx="13" hasCustomPrompt="1"/>
          </p:nvPr>
        </p:nvSpPr>
        <p:spPr>
          <a:xfrm>
            <a:off x="382588" y="1520825"/>
            <a:ext cx="6089650" cy="2215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0AAFF"/>
                </a:solidFill>
                <a:latin typeface="VTB Group Cond" charset="0"/>
                <a:ea typeface="VTB Group Cond" charset="0"/>
                <a:cs typeface="VTB Group Cond" charset="0"/>
              </a:defRPr>
            </a:lvl1pPr>
          </a:lstStyle>
          <a:p>
            <a:pPr lvl="0"/>
            <a:r>
              <a:rPr lang="ru-RU" dirty="0" smtClean="0"/>
              <a:t>Образец подзаголовка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7526867" y="6513001"/>
            <a:ext cx="4114800" cy="2413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Размещение денежных средств в срочные депозиты «Овернайт»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823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649" r:id="rId32"/>
    <p:sldLayoutId id="2147483669" r:id="rId33"/>
    <p:sldLayoutId id="2147483650" r:id="rId34"/>
    <p:sldLayoutId id="2147483670" r:id="rId35"/>
    <p:sldLayoutId id="2147483665" r:id="rId36"/>
    <p:sldLayoutId id="2147483666" r:id="rId37"/>
    <p:sldLayoutId id="2147483664" r:id="rId38"/>
    <p:sldLayoutId id="2147483662" r:id="rId39"/>
    <p:sldLayoutId id="2147483667" r:id="rId40"/>
    <p:sldLayoutId id="2147483660" r:id="rId41"/>
    <p:sldLayoutId id="2147483668" r:id="rId42"/>
  </p:sldLayoutIdLst>
  <p:transition spd="med"/>
  <p:timing>
    <p:tnLst>
      <p:par>
        <p:cTn id="1" dur="indefinite" restart="never" nodeType="tmRoot"/>
      </p:par>
    </p:tnLst>
  </p:timing>
  <p:hf hdr="0"/>
  <p:txStyles>
    <p:titleStyle>
      <a:lvl1pPr marL="0" marR="0" indent="0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70385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140770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211155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281541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351926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422311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492696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563081" algn="l" defTabSz="412788" eaLnBrk="1" latinLnBrk="0" hangingPunct="1">
        <a:lnSpc>
          <a:spcPct val="7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21" b="0" i="0" u="none" strike="noStrike" cap="none" spc="0" baseline="0">
          <a:solidFill>
            <a:srgbClr val="EBEBEB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150708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1pPr>
      <a:lvl2pPr marL="248466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2pPr>
      <a:lvl3pPr marL="346223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3pPr>
      <a:lvl4pPr marL="443980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4pPr>
      <a:lvl5pPr marL="541737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5pPr>
      <a:lvl6pPr marL="639495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6pPr>
      <a:lvl7pPr marL="737251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7pPr>
      <a:lvl8pPr marL="835008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8pPr>
      <a:lvl9pPr marL="932766" marR="0" indent="-150708" algn="l" defTabSz="412788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25000"/>
        <a:buFontTx/>
        <a:buChar char="•"/>
        <a:tabLst/>
        <a:defRPr sz="1139" b="0" i="0" u="none" strike="noStrike" cap="none" spc="0" baseline="0">
          <a:solidFill>
            <a:srgbClr val="323232"/>
          </a:solidFill>
          <a:uFillTx/>
          <a:latin typeface="+mn-lt"/>
          <a:ea typeface="+mn-ea"/>
          <a:cs typeface="+mn-cs"/>
          <a:sym typeface="Suisse Int'l"/>
        </a:defRPr>
      </a:lvl9pPr>
    </p:bodyStyle>
    <p:otherStyle>
      <a:lvl1pPr marL="0" marR="0" indent="0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1pPr>
      <a:lvl2pPr marL="0" marR="0" indent="70385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2pPr>
      <a:lvl3pPr marL="0" marR="0" indent="140770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3pPr>
      <a:lvl4pPr marL="0" marR="0" indent="211155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4pPr>
      <a:lvl5pPr marL="0" marR="0" indent="281541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5pPr>
      <a:lvl6pPr marL="0" marR="0" indent="351926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6pPr>
      <a:lvl7pPr marL="0" marR="0" indent="422311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7pPr>
      <a:lvl8pPr marL="0" marR="0" indent="492696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8pPr>
      <a:lvl9pPr marL="0" marR="0" indent="563081" algn="r" defTabSz="412788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3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uisse Int'l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5500">
          <p15:clr>
            <a:srgbClr val="F26B43"/>
          </p15:clr>
        </p15:guide>
        <p15:guide id="2" orient="horz" pos="213">
          <p15:clr>
            <a:srgbClr val="F26B43"/>
          </p15:clr>
        </p15:guide>
        <p15:guide id="3" orient="horz" pos="3026">
          <p15:clr>
            <a:srgbClr val="F26B43"/>
          </p15:clr>
        </p15:guide>
        <p15:guide id="4" pos="272">
          <p15:clr>
            <a:srgbClr val="F26B43"/>
          </p15:clr>
        </p15:guide>
        <p15:guide id="5" pos="614">
          <p15:clr>
            <a:srgbClr val="F26B43"/>
          </p15:clr>
        </p15:guide>
        <p15:guide id="6" pos="703">
          <p15:clr>
            <a:srgbClr val="F26B43"/>
          </p15:clr>
        </p15:guide>
        <p15:guide id="7" pos="1059">
          <p15:clr>
            <a:srgbClr val="F26B43"/>
          </p15:clr>
        </p15:guide>
        <p15:guide id="8" pos="1152">
          <p15:clr>
            <a:srgbClr val="F26B43"/>
          </p15:clr>
        </p15:guide>
        <p15:guide id="9" pos="1591">
          <p15:clr>
            <a:srgbClr val="F26B43"/>
          </p15:clr>
        </p15:guide>
        <p15:guide id="10" pos="1507">
          <p15:clr>
            <a:srgbClr val="F26B43"/>
          </p15:clr>
        </p15:guide>
        <p15:guide id="11" pos="1947">
          <p15:clr>
            <a:srgbClr val="F26B43"/>
          </p15:clr>
        </p15:guide>
        <p15:guide id="12" pos="2034">
          <p15:clr>
            <a:srgbClr val="F26B43"/>
          </p15:clr>
        </p15:guide>
        <p15:guide id="13" pos="2478">
          <p15:clr>
            <a:srgbClr val="F26B43"/>
          </p15:clr>
        </p15:guide>
        <p15:guide id="14" pos="2390">
          <p15:clr>
            <a:srgbClr val="F26B43"/>
          </p15:clr>
        </p15:guide>
        <p15:guide id="15" pos="3279">
          <p15:clr>
            <a:srgbClr val="F26B43"/>
          </p15:clr>
        </p15:guide>
        <p15:guide id="16" pos="2834">
          <p15:clr>
            <a:srgbClr val="F26B43"/>
          </p15:clr>
        </p15:guide>
        <p15:guide id="17" pos="2925">
          <p15:clr>
            <a:srgbClr val="F26B43"/>
          </p15:clr>
        </p15:guide>
        <p15:guide id="18" pos="3367">
          <p15:clr>
            <a:srgbClr val="F26B43"/>
          </p15:clr>
        </p15:guide>
        <p15:guide id="19" pos="3722">
          <p15:clr>
            <a:srgbClr val="F26B43"/>
          </p15:clr>
        </p15:guide>
        <p15:guide id="20" pos="3812">
          <p15:clr>
            <a:srgbClr val="F26B43"/>
          </p15:clr>
        </p15:guide>
        <p15:guide id="21" pos="4167">
          <p15:clr>
            <a:srgbClr val="F26B43"/>
          </p15:clr>
        </p15:guide>
        <p15:guide id="22" pos="4263">
          <p15:clr>
            <a:srgbClr val="F26B43"/>
          </p15:clr>
        </p15:guide>
        <p15:guide id="23" pos="4612">
          <p15:clr>
            <a:srgbClr val="F26B43"/>
          </p15:clr>
        </p15:guide>
        <p15:guide id="24" pos="4699">
          <p15:clr>
            <a:srgbClr val="F26B43"/>
          </p15:clr>
        </p15:guide>
        <p15:guide id="25" pos="5054">
          <p15:clr>
            <a:srgbClr val="F26B43"/>
          </p15:clr>
        </p15:guide>
        <p15:guide id="26" pos="5143">
          <p15:clr>
            <a:srgbClr val="F26B43"/>
          </p15:clr>
        </p15:guide>
        <p15:guide id="27" orient="horz" pos="2160" userDrawn="1">
          <p15:clr>
            <a:srgbClr val="F26B43"/>
          </p15:clr>
        </p15:guide>
        <p15:guide id="28" pos="3840" userDrawn="1">
          <p15:clr>
            <a:srgbClr val="F26B43"/>
          </p15:clr>
        </p15:guide>
        <p15:guide id="29" orient="horz" pos="1920" userDrawn="1">
          <p15:clr>
            <a:srgbClr val="F26B43"/>
          </p15:clr>
        </p15:guide>
        <p15:guide id="30" orient="horz" pos="1679" userDrawn="1">
          <p15:clr>
            <a:srgbClr val="F26B43"/>
          </p15:clr>
        </p15:guide>
        <p15:guide id="31" orient="horz" pos="1438" userDrawn="1">
          <p15:clr>
            <a:srgbClr val="F26B43"/>
          </p15:clr>
        </p15:guide>
        <p15:guide id="32" orient="horz" pos="1201" userDrawn="1">
          <p15:clr>
            <a:srgbClr val="F26B43"/>
          </p15:clr>
        </p15:guide>
        <p15:guide id="33" orient="horz" pos="241" userDrawn="1">
          <p15:clr>
            <a:srgbClr val="F26B43"/>
          </p15:clr>
        </p15:guide>
        <p15:guide id="34" orient="horz" pos="2398" userDrawn="1">
          <p15:clr>
            <a:srgbClr val="F26B43"/>
          </p15:clr>
        </p15:guide>
        <p15:guide id="35" orient="horz" pos="2639" userDrawn="1">
          <p15:clr>
            <a:srgbClr val="F26B43"/>
          </p15:clr>
        </p15:guide>
        <p15:guide id="36" orient="horz" pos="2880" userDrawn="1">
          <p15:clr>
            <a:srgbClr val="F26B43"/>
          </p15:clr>
        </p15:guide>
        <p15:guide id="37" orient="horz" pos="3117" userDrawn="1">
          <p15:clr>
            <a:srgbClr val="F26B43"/>
          </p15:clr>
        </p15:guide>
        <p15:guide id="38" orient="horz" pos="3358" userDrawn="1">
          <p15:clr>
            <a:srgbClr val="F26B43"/>
          </p15:clr>
        </p15:guide>
        <p15:guide id="39" orient="horz" pos="3599" userDrawn="1">
          <p15:clr>
            <a:srgbClr val="F26B43"/>
          </p15:clr>
        </p15:guide>
        <p15:guide id="40" orient="horz" pos="3840" userDrawn="1">
          <p15:clr>
            <a:srgbClr val="F26B43"/>
          </p15:clr>
        </p15:guide>
        <p15:guide id="41" orient="horz" pos="4077" userDrawn="1">
          <p15:clr>
            <a:srgbClr val="F26B43"/>
          </p15:clr>
        </p15:guide>
        <p15:guide id="42" pos="3599" userDrawn="1">
          <p15:clr>
            <a:srgbClr val="F26B43"/>
          </p15:clr>
        </p15:guide>
        <p15:guide id="43" pos="3358" userDrawn="1">
          <p15:clr>
            <a:srgbClr val="F26B43"/>
          </p15:clr>
        </p15:guide>
        <p15:guide id="44" pos="3117" userDrawn="1">
          <p15:clr>
            <a:srgbClr val="F26B43"/>
          </p15:clr>
        </p15:guide>
        <p15:guide id="45" pos="2880" userDrawn="1">
          <p15:clr>
            <a:srgbClr val="F26B43"/>
          </p15:clr>
        </p15:guide>
        <p15:guide id="46" pos="2639" userDrawn="1">
          <p15:clr>
            <a:srgbClr val="F26B43"/>
          </p15:clr>
        </p15:guide>
        <p15:guide id="47" pos="2398" userDrawn="1">
          <p15:clr>
            <a:srgbClr val="F26B43"/>
          </p15:clr>
        </p15:guide>
        <p15:guide id="48" pos="2157" userDrawn="1">
          <p15:clr>
            <a:srgbClr val="F26B43"/>
          </p15:clr>
        </p15:guide>
        <p15:guide id="49" pos="1920" userDrawn="1">
          <p15:clr>
            <a:srgbClr val="F26B43"/>
          </p15:clr>
        </p15:guide>
        <p15:guide id="50" pos="1679" userDrawn="1">
          <p15:clr>
            <a:srgbClr val="F26B43"/>
          </p15:clr>
        </p15:guide>
        <p15:guide id="51" pos="1438" userDrawn="1">
          <p15:clr>
            <a:srgbClr val="F26B43"/>
          </p15:clr>
        </p15:guide>
        <p15:guide id="52" pos="1201" userDrawn="1">
          <p15:clr>
            <a:srgbClr val="F26B43"/>
          </p15:clr>
        </p15:guide>
        <p15:guide id="53" pos="960" userDrawn="1">
          <p15:clr>
            <a:srgbClr val="F26B43"/>
          </p15:clr>
        </p15:guide>
        <p15:guide id="54" pos="719" userDrawn="1">
          <p15:clr>
            <a:srgbClr val="F26B43"/>
          </p15:clr>
        </p15:guide>
        <p15:guide id="55" pos="478" userDrawn="1">
          <p15:clr>
            <a:srgbClr val="F26B43"/>
          </p15:clr>
        </p15:guide>
        <p15:guide id="56" pos="241" userDrawn="1">
          <p15:clr>
            <a:srgbClr val="F26B43"/>
          </p15:clr>
        </p15:guide>
        <p15:guide id="57" pos="4077" userDrawn="1">
          <p15:clr>
            <a:srgbClr val="F26B43"/>
          </p15:clr>
        </p15:guide>
        <p15:guide id="58" pos="4318" userDrawn="1">
          <p15:clr>
            <a:srgbClr val="F26B43"/>
          </p15:clr>
        </p15:guide>
        <p15:guide id="59" pos="4559" userDrawn="1">
          <p15:clr>
            <a:srgbClr val="F26B43"/>
          </p15:clr>
        </p15:guide>
        <p15:guide id="60" pos="4796" userDrawn="1">
          <p15:clr>
            <a:srgbClr val="F26B43"/>
          </p15:clr>
        </p15:guide>
        <p15:guide id="61" pos="5037" userDrawn="1">
          <p15:clr>
            <a:srgbClr val="F26B43"/>
          </p15:clr>
        </p15:guide>
        <p15:guide id="62" pos="5278" userDrawn="1">
          <p15:clr>
            <a:srgbClr val="F26B43"/>
          </p15:clr>
        </p15:guide>
        <p15:guide id="63" pos="5514" userDrawn="1">
          <p15:clr>
            <a:srgbClr val="F26B43"/>
          </p15:clr>
        </p15:guide>
        <p15:guide id="64" pos="5756" userDrawn="1">
          <p15:clr>
            <a:srgbClr val="F26B43"/>
          </p15:clr>
        </p15:guide>
        <p15:guide id="65" pos="5997" userDrawn="1">
          <p15:clr>
            <a:srgbClr val="F26B43"/>
          </p15:clr>
        </p15:guide>
        <p15:guide id="66" pos="6238" userDrawn="1">
          <p15:clr>
            <a:srgbClr val="F26B43"/>
          </p15:clr>
        </p15:guide>
        <p15:guide id="67" pos="6474" userDrawn="1">
          <p15:clr>
            <a:srgbClr val="F26B43"/>
          </p15:clr>
        </p15:guide>
        <p15:guide id="68" pos="6716" userDrawn="1">
          <p15:clr>
            <a:srgbClr val="F26B43"/>
          </p15:clr>
        </p15:guide>
        <p15:guide id="69" pos="6957" userDrawn="1">
          <p15:clr>
            <a:srgbClr val="F26B43"/>
          </p15:clr>
        </p15:guide>
        <p15:guide id="70" pos="7198" userDrawn="1">
          <p15:clr>
            <a:srgbClr val="F26B43"/>
          </p15:clr>
        </p15:guide>
        <p15:guide id="71" pos="7434" userDrawn="1">
          <p15:clr>
            <a:srgbClr val="F26B43"/>
          </p15:clr>
        </p15:guide>
        <p15:guide id="72" orient="horz" pos="958" userDrawn="1">
          <p15:clr>
            <a:srgbClr val="F26B43"/>
          </p15:clr>
        </p15:guide>
        <p15:guide id="73" orient="horz" pos="721" userDrawn="1">
          <p15:clr>
            <a:srgbClr val="F26B43"/>
          </p15:clr>
        </p15:guide>
        <p15:guide id="74" orient="horz" pos="4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515937" y="6310747"/>
            <a:ext cx="4979515" cy="276999"/>
          </a:xfrm>
        </p:spPr>
        <p:txBody>
          <a:bodyPr/>
          <a:lstStyle/>
          <a:p>
            <a:r>
              <a:rPr lang="ru-RU" dirty="0" smtClean="0"/>
              <a:t>МАРТ </a:t>
            </a:r>
            <a:r>
              <a:rPr lang="en-US" dirty="0" smtClean="0"/>
              <a:t>202</a:t>
            </a:r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5641" y="2055556"/>
            <a:ext cx="5632313" cy="2215991"/>
          </a:xfrm>
        </p:spPr>
        <p:txBody>
          <a:bodyPr/>
          <a:lstStyle/>
          <a:p>
            <a:r>
              <a:rPr lang="en-US" dirty="0" smtClean="0"/>
              <a:t>HR </a:t>
            </a:r>
            <a:r>
              <a:rPr lang="en-GB" dirty="0" smtClean="0"/>
              <a:t>OPS</a:t>
            </a:r>
            <a:br>
              <a:rPr lang="en-GB" dirty="0" smtClean="0"/>
            </a:br>
            <a:r>
              <a:rPr lang="ru-RU" dirty="0" smtClean="0"/>
              <a:t>ЦЕЛИ И ЗАДАЧИ</a:t>
            </a:r>
            <a:r>
              <a:rPr lang="en-US" dirty="0" smtClean="0"/>
              <a:t> 2026</a:t>
            </a:r>
            <a:r>
              <a:rPr lang="ru-RU" dirty="0" smtClean="0"/>
              <a:t> </a:t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12333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185DB-5BEB-4FD7-9AC6-FDDA9DA78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E1A2DEA-0812-41F9-88C5-48F7F643210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0" name="Заголовок 9">
            <a:extLst>
              <a:ext uri="{FF2B5EF4-FFF2-40B4-BE49-F238E27FC236}">
                <a16:creationId xmlns:a16="http://schemas.microsoft.com/office/drawing/2014/main" id="{F9517E71-2C77-484E-936D-6C2728B4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788" y="319456"/>
            <a:ext cx="11075169" cy="769441"/>
          </a:xfrm>
        </p:spPr>
        <p:txBody>
          <a:bodyPr/>
          <a:lstStyle/>
          <a:p>
            <a:r>
              <a:rPr lang="en-GB" sz="2500" dirty="0" smtClean="0"/>
              <a:t>HR OPERATIONS</a:t>
            </a:r>
            <a:r>
              <a:rPr lang="en-US" sz="2500" dirty="0"/>
              <a:t/>
            </a:r>
            <a:br>
              <a:rPr lang="en-US" sz="2500" dirty="0"/>
            </a:br>
            <a:r>
              <a:rPr lang="ru-RU" sz="2500" b="1" dirty="0" smtClean="0"/>
              <a:t>T</a:t>
            </a:r>
            <a:r>
              <a:rPr lang="en-US" sz="2500" b="1" dirty="0" smtClean="0"/>
              <a:t>OP</a:t>
            </a:r>
            <a:r>
              <a:rPr lang="ru-RU" sz="2500" b="1" dirty="0" smtClean="0"/>
              <a:t> </a:t>
            </a:r>
            <a:r>
              <a:rPr lang="ru-RU" sz="2500" b="1" dirty="0"/>
              <a:t>5</a:t>
            </a:r>
            <a:r>
              <a:rPr lang="ru-RU" sz="2500" dirty="0" smtClean="0"/>
              <a:t> приоритетов </a:t>
            </a:r>
            <a:r>
              <a:rPr lang="en-GB" sz="2500" dirty="0" smtClean="0"/>
              <a:t>–</a:t>
            </a:r>
            <a:r>
              <a:rPr lang="ru-RU" sz="2500" dirty="0" smtClean="0"/>
              <a:t> </a:t>
            </a:r>
            <a:r>
              <a:rPr lang="ru-RU" sz="2500" b="1" dirty="0" smtClean="0"/>
              <a:t>2026</a:t>
            </a:r>
            <a:endParaRPr lang="ru-RU" sz="25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F44116-C184-43DF-B3ED-644D3F16C83A}"/>
              </a:ext>
            </a:extLst>
          </p:cNvPr>
          <p:cNvGrpSpPr/>
          <p:nvPr/>
        </p:nvGrpSpPr>
        <p:grpSpPr>
          <a:xfrm>
            <a:off x="563584" y="1305669"/>
            <a:ext cx="10634416" cy="5003798"/>
            <a:chOff x="515936" y="1233489"/>
            <a:chExt cx="5462734" cy="5003798"/>
          </a:xfrm>
        </p:grpSpPr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92EEE2B6-1B9E-4F40-A645-5E164BCFB397}"/>
                </a:ext>
              </a:extLst>
            </p:cNvPr>
            <p:cNvSpPr/>
            <p:nvPr/>
          </p:nvSpPr>
          <p:spPr>
            <a:xfrm>
              <a:off x="515937" y="1233489"/>
              <a:ext cx="5462733" cy="500379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14300" dist="63500" dir="2700000" algn="ctr" rotWithShape="0">
                <a:srgbClr val="000000">
                  <a:alpha val="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6F7B1B-26A2-484D-966A-77AB7D6743DE}"/>
                </a:ext>
              </a:extLst>
            </p:cNvPr>
            <p:cNvSpPr txBox="1"/>
            <p:nvPr/>
          </p:nvSpPr>
          <p:spPr>
            <a:xfrm>
              <a:off x="1331248" y="1881333"/>
              <a:ext cx="4279900" cy="6232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ru-RU" b="1" dirty="0" smtClean="0"/>
                <a:t>Оперативный контроль за затратами</a:t>
              </a:r>
              <a:r>
                <a:rPr lang="ru-RU" b="1" dirty="0"/>
                <a:t>: </a:t>
              </a:r>
              <a:r>
                <a:rPr lang="ru-RU" dirty="0"/>
                <a:t>создание среды для оперативного </a:t>
              </a:r>
              <a:r>
                <a:rPr lang="ru-RU" dirty="0" smtClean="0"/>
                <a:t>контроля и моделирования затрат, отчетность </a:t>
              </a:r>
              <a:r>
                <a:rPr lang="ru-RU" dirty="0"/>
                <a:t>/ </a:t>
              </a:r>
              <a:r>
                <a:rPr lang="ru-RU" dirty="0" err="1" smtClean="0"/>
                <a:t>дэшборды</a:t>
              </a:r>
              <a:r>
                <a:rPr lang="ru-RU" dirty="0" smtClean="0"/>
                <a:t>. </a:t>
              </a:r>
              <a:r>
                <a:rPr lang="en-GB" dirty="0" smtClean="0"/>
                <a:t>Comp / Non-Comp.</a:t>
              </a:r>
              <a:endParaRPr lang="ru-RU" dirty="0" smtClean="0"/>
            </a:p>
            <a:p>
              <a:r>
                <a:rPr lang="ru-RU" dirty="0" smtClean="0"/>
                <a:t>Контроль </a:t>
              </a:r>
              <a:r>
                <a:rPr lang="ru-RU" dirty="0"/>
                <a:t>за и прозрачностью бюджетов крупнейших ДЗО</a:t>
              </a:r>
              <a:r>
                <a:rPr lang="ru-RU" dirty="0" smtClean="0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D7C320-F39E-438E-93C9-2223E1640D39}"/>
                </a:ext>
              </a:extLst>
            </p:cNvPr>
            <p:cNvSpPr txBox="1"/>
            <p:nvPr/>
          </p:nvSpPr>
          <p:spPr>
            <a:xfrm>
              <a:off x="686011" y="1933604"/>
              <a:ext cx="51296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3600" dirty="0">
                  <a:solidFill>
                    <a:srgbClr val="877F7F"/>
                  </a:solidFill>
                </a:rPr>
                <a:t>01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398392B-609E-457D-A186-81BB3B153D1B}"/>
                </a:ext>
              </a:extLst>
            </p:cNvPr>
            <p:cNvSpPr txBox="1"/>
            <p:nvPr/>
          </p:nvSpPr>
          <p:spPr>
            <a:xfrm>
              <a:off x="686011" y="2828869"/>
              <a:ext cx="51296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600" dirty="0">
                  <a:solidFill>
                    <a:srgbClr val="877F7F"/>
                  </a:solidFill>
                </a:rPr>
                <a:t>02</a:t>
              </a:r>
              <a:endParaRPr lang="ru-RU" sz="3600" dirty="0">
                <a:solidFill>
                  <a:srgbClr val="877F7F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098AEB-1E34-4CD7-8A25-516EB03EB6B8}"/>
                </a:ext>
              </a:extLst>
            </p:cNvPr>
            <p:cNvSpPr txBox="1"/>
            <p:nvPr/>
          </p:nvSpPr>
          <p:spPr>
            <a:xfrm>
              <a:off x="1331248" y="3014568"/>
              <a:ext cx="4279901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lvl="0"/>
              <a:r>
                <a:rPr lang="ru-RU" b="1" dirty="0" smtClean="0"/>
                <a:t>Безбумажный </a:t>
              </a:r>
              <a:r>
                <a:rPr lang="ru-RU" b="1" dirty="0" smtClean="0">
                  <a:sym typeface="Wingdings" panose="05000000000000000000" pitchFamily="2" charset="2"/>
                </a:rPr>
                <a:t></a:t>
              </a:r>
              <a:r>
                <a:rPr lang="en-GB" b="1" dirty="0" smtClean="0">
                  <a:sym typeface="Wingdings" panose="05000000000000000000" pitchFamily="2" charset="2"/>
                </a:rPr>
                <a:t> </a:t>
              </a:r>
              <a:r>
                <a:rPr lang="ru-RU" b="1" dirty="0" smtClean="0">
                  <a:sym typeface="Wingdings" panose="05000000000000000000" pitchFamily="2" charset="2"/>
                </a:rPr>
                <a:t>Цифровой</a:t>
              </a:r>
              <a:r>
                <a:rPr lang="ru-RU" b="1" dirty="0" smtClean="0"/>
                <a:t>:</a:t>
              </a:r>
              <a:r>
                <a:rPr lang="ru-RU" dirty="0" smtClean="0"/>
                <a:t> КЭДО 3 этап, Платформа цифровых </a:t>
              </a:r>
              <a:r>
                <a:rPr lang="en-GB" dirty="0" smtClean="0"/>
                <a:t>HR </a:t>
              </a:r>
              <a:r>
                <a:rPr lang="ru-RU" dirty="0" smtClean="0"/>
                <a:t>сервисов, автоматизация того, что осталось на бумаге</a:t>
              </a:r>
              <a:endParaRPr lang="ru-R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3D33C00-4FA1-4C42-8562-8C1F72CD50E7}"/>
                </a:ext>
              </a:extLst>
            </p:cNvPr>
            <p:cNvSpPr txBox="1"/>
            <p:nvPr/>
          </p:nvSpPr>
          <p:spPr>
            <a:xfrm>
              <a:off x="686011" y="3724134"/>
              <a:ext cx="51296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600" dirty="0">
                  <a:solidFill>
                    <a:srgbClr val="877F7F"/>
                  </a:solidFill>
                </a:rPr>
                <a:t>03</a:t>
              </a:r>
              <a:endParaRPr lang="ru-RU" sz="3600" dirty="0">
                <a:solidFill>
                  <a:srgbClr val="877F7F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FA38B1-BD00-4B14-9EC2-BDBC37ED5019}"/>
                </a:ext>
              </a:extLst>
            </p:cNvPr>
            <p:cNvSpPr txBox="1"/>
            <p:nvPr/>
          </p:nvSpPr>
          <p:spPr>
            <a:xfrm>
              <a:off x="686011" y="4619399"/>
              <a:ext cx="51296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600" dirty="0">
                  <a:solidFill>
                    <a:srgbClr val="877F7F"/>
                  </a:solidFill>
                </a:rPr>
                <a:t>04</a:t>
              </a:r>
              <a:endParaRPr lang="ru-RU" sz="3600" dirty="0">
                <a:solidFill>
                  <a:srgbClr val="877F7F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B992FC3-1DF3-4620-B95D-82840DA797A4}"/>
                </a:ext>
              </a:extLst>
            </p:cNvPr>
            <p:cNvSpPr txBox="1"/>
            <p:nvPr/>
          </p:nvSpPr>
          <p:spPr>
            <a:xfrm>
              <a:off x="686011" y="5514664"/>
              <a:ext cx="51296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600" dirty="0">
                  <a:solidFill>
                    <a:srgbClr val="877F7F"/>
                  </a:solidFill>
                </a:rPr>
                <a:t>05</a:t>
              </a:r>
              <a:endParaRPr lang="ru-RU" sz="3600" dirty="0">
                <a:solidFill>
                  <a:srgbClr val="877F7F"/>
                </a:solidFill>
              </a:endParaRPr>
            </a:p>
          </p:txBody>
        </p:sp>
        <p:cxnSp>
          <p:nvCxnSpPr>
            <p:cNvPr id="29" name="Прямая соединительная линия 28">
              <a:extLst>
                <a:ext uri="{FF2B5EF4-FFF2-40B4-BE49-F238E27FC236}">
                  <a16:creationId xmlns:a16="http://schemas.microsoft.com/office/drawing/2014/main" id="{B5C8015F-CA7F-4471-8D44-360B3DE56C77}"/>
                </a:ext>
              </a:extLst>
            </p:cNvPr>
            <p:cNvCxnSpPr/>
            <p:nvPr/>
          </p:nvCxnSpPr>
          <p:spPr>
            <a:xfrm>
              <a:off x="515936" y="2656229"/>
              <a:ext cx="546273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D0EDC129-DCC4-4F35-8A6E-9E312DEFBF35}"/>
                </a:ext>
              </a:extLst>
            </p:cNvPr>
            <p:cNvCxnSpPr/>
            <p:nvPr/>
          </p:nvCxnSpPr>
          <p:spPr>
            <a:xfrm>
              <a:off x="515936" y="3551494"/>
              <a:ext cx="546273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E596E0BB-775F-4A6F-B521-9B12A32EBB1F}"/>
                </a:ext>
              </a:extLst>
            </p:cNvPr>
            <p:cNvCxnSpPr/>
            <p:nvPr/>
          </p:nvCxnSpPr>
          <p:spPr>
            <a:xfrm>
              <a:off x="515936" y="4446759"/>
              <a:ext cx="546273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2CC720EF-F157-470F-AD3A-46B2799ABADE}"/>
                </a:ext>
              </a:extLst>
            </p:cNvPr>
            <p:cNvCxnSpPr/>
            <p:nvPr/>
          </p:nvCxnSpPr>
          <p:spPr>
            <a:xfrm>
              <a:off x="515936" y="5342024"/>
              <a:ext cx="5462734" cy="0"/>
            </a:xfrm>
            <a:prstGeom prst="line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Полилиния: фигура 51">
              <a:extLst>
                <a:ext uri="{FF2B5EF4-FFF2-40B4-BE49-F238E27FC236}">
                  <a16:creationId xmlns:a16="http://schemas.microsoft.com/office/drawing/2014/main" id="{DA17F765-2884-4EB7-9864-3E96DCC41170}"/>
                </a:ext>
              </a:extLst>
            </p:cNvPr>
            <p:cNvSpPr/>
            <p:nvPr/>
          </p:nvSpPr>
          <p:spPr>
            <a:xfrm>
              <a:off x="515936" y="1233489"/>
              <a:ext cx="5462734" cy="531325"/>
            </a:xfrm>
            <a:custGeom>
              <a:avLst/>
              <a:gdLst>
                <a:gd name="connsiteX0" fmla="*/ 1494702 w 5462734"/>
                <a:gd name="connsiteY0" fmla="*/ 0 h 531325"/>
                <a:gd name="connsiteX1" fmla="*/ 3174088 w 5462734"/>
                <a:gd name="connsiteY1" fmla="*/ 0 h 531325"/>
                <a:gd name="connsiteX2" fmla="*/ 4471814 w 5462734"/>
                <a:gd name="connsiteY2" fmla="*/ 0 h 531325"/>
                <a:gd name="connsiteX3" fmla="*/ 5462734 w 5462734"/>
                <a:gd name="connsiteY3" fmla="*/ 0 h 531325"/>
                <a:gd name="connsiteX4" fmla="*/ 5268403 w 5462734"/>
                <a:gd name="connsiteY4" fmla="*/ 531325 h 531325"/>
                <a:gd name="connsiteX5" fmla="*/ 4471814 w 5462734"/>
                <a:gd name="connsiteY5" fmla="*/ 531325 h 531325"/>
                <a:gd name="connsiteX6" fmla="*/ 2979756 w 5462734"/>
                <a:gd name="connsiteY6" fmla="*/ 531325 h 531325"/>
                <a:gd name="connsiteX7" fmla="*/ 1989871 w 5462734"/>
                <a:gd name="connsiteY7" fmla="*/ 531325 h 531325"/>
                <a:gd name="connsiteX8" fmla="*/ 1494702 w 5462734"/>
                <a:gd name="connsiteY8" fmla="*/ 531325 h 531325"/>
                <a:gd name="connsiteX9" fmla="*/ 0 w 5462734"/>
                <a:gd name="connsiteY9" fmla="*/ 531325 h 531325"/>
                <a:gd name="connsiteX10" fmla="*/ 0 w 5462734"/>
                <a:gd name="connsiteY10" fmla="*/ 1 h 531325"/>
                <a:gd name="connsiteX11" fmla="*/ 1494702 w 5462734"/>
                <a:gd name="connsiteY11" fmla="*/ 1 h 53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62734" h="531325">
                  <a:moveTo>
                    <a:pt x="1494702" y="0"/>
                  </a:moveTo>
                  <a:lnTo>
                    <a:pt x="3174088" y="0"/>
                  </a:lnTo>
                  <a:lnTo>
                    <a:pt x="4471814" y="0"/>
                  </a:lnTo>
                  <a:lnTo>
                    <a:pt x="5462734" y="0"/>
                  </a:lnTo>
                  <a:lnTo>
                    <a:pt x="5268403" y="531325"/>
                  </a:lnTo>
                  <a:lnTo>
                    <a:pt x="4471814" y="531325"/>
                  </a:lnTo>
                  <a:lnTo>
                    <a:pt x="2979756" y="531325"/>
                  </a:lnTo>
                  <a:lnTo>
                    <a:pt x="1989871" y="531325"/>
                  </a:lnTo>
                  <a:lnTo>
                    <a:pt x="1494702" y="531325"/>
                  </a:lnTo>
                  <a:lnTo>
                    <a:pt x="0" y="531325"/>
                  </a:lnTo>
                  <a:lnTo>
                    <a:pt x="0" y="1"/>
                  </a:lnTo>
                  <a:lnTo>
                    <a:pt x="1494702" y="1"/>
                  </a:lnTo>
                  <a:close/>
                </a:path>
              </a:pathLst>
            </a:custGeom>
            <a:solidFill>
              <a:srgbClr val="CAB397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16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r>
                <a:rPr lang="en-GB" sz="2000" b="1" dirty="0" smtClean="0">
                  <a:solidFill>
                    <a:srgbClr val="FFFFFF"/>
                  </a:solidFill>
                  <a:latin typeface="+mj-lt"/>
                </a:rPr>
                <a:t>HR OPERATIONS</a:t>
              </a:r>
              <a:endParaRPr lang="ru-RU" sz="2000" b="1" dirty="0">
                <a:solidFill>
                  <a:srgbClr val="FFFFFF"/>
                </a:solidFill>
                <a:latin typeface="+mj-lt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05B7604-AB92-4C9D-97FC-029969B8017F}"/>
              </a:ext>
            </a:extLst>
          </p:cNvPr>
          <p:cNvSpPr txBox="1"/>
          <p:nvPr/>
        </p:nvSpPr>
        <p:spPr>
          <a:xfrm>
            <a:off x="2150769" y="3840447"/>
            <a:ext cx="8815919" cy="41549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ru-RU" b="1" dirty="0" smtClean="0"/>
              <a:t>Системы и ландшафт:</a:t>
            </a:r>
            <a:r>
              <a:rPr lang="ru-RU" dirty="0" smtClean="0"/>
              <a:t> пересмотр / активация функционала 1С, Система для </a:t>
            </a:r>
            <a:r>
              <a:rPr lang="ru-RU" dirty="0" err="1" smtClean="0"/>
              <a:t>рекрутмента</a:t>
            </a:r>
            <a:r>
              <a:rPr lang="ru-RU" dirty="0" smtClean="0"/>
              <a:t> (</a:t>
            </a:r>
            <a:r>
              <a:rPr lang="en-GB" dirty="0" smtClean="0"/>
              <a:t>ATS)</a:t>
            </a:r>
            <a:r>
              <a:rPr lang="ru-RU" dirty="0" smtClean="0"/>
              <a:t>, модуль Адаптация, система ДИ (2.0), </a:t>
            </a:r>
            <a:r>
              <a:rPr lang="en-US" dirty="0" smtClean="0"/>
              <a:t>HR-</a:t>
            </a:r>
            <a:r>
              <a:rPr lang="ru-RU" dirty="0" smtClean="0"/>
              <a:t>система для Филиала в г. Шанхай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6F7B1B-26A2-484D-966A-77AB7D6743DE}"/>
              </a:ext>
            </a:extLst>
          </p:cNvPr>
          <p:cNvSpPr txBox="1"/>
          <p:nvPr/>
        </p:nvSpPr>
        <p:spPr>
          <a:xfrm>
            <a:off x="2150768" y="5538571"/>
            <a:ext cx="8331769" cy="62324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ru-RU" b="1" dirty="0" smtClean="0"/>
              <a:t>Процессы и проекты</a:t>
            </a:r>
            <a:r>
              <a:rPr lang="ru-RU" dirty="0" smtClean="0"/>
              <a:t>. Пересмотр и актуализация процессов. Продолжение интеграции присоединившихся бизнесов / поддержка вывода «независимых» бизнесов. Создание фрейма для </a:t>
            </a:r>
            <a:r>
              <a:rPr lang="en-GB" dirty="0" smtClean="0"/>
              <a:t>HR</a:t>
            </a:r>
            <a:r>
              <a:rPr lang="ru-RU" dirty="0" smtClean="0"/>
              <a:t>-аудита присоединяющихся компаний. Интеграция данных ИИХ, ЕЦУПС и др. для отчетности. </a:t>
            </a:r>
            <a:r>
              <a:rPr lang="ru-RU" dirty="0" err="1" smtClean="0"/>
              <a:t>ПдН</a:t>
            </a:r>
            <a:r>
              <a:rPr lang="ru-RU" dirty="0" smtClean="0"/>
              <a:t>.</a:t>
            </a:r>
            <a:endParaRPr lang="ru-RU" sz="1500" b="1" dirty="0">
              <a:solidFill>
                <a:srgbClr val="877F7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98AEB-1E34-4CD7-8A25-516EB03EB6B8}"/>
              </a:ext>
            </a:extLst>
          </p:cNvPr>
          <p:cNvSpPr txBox="1"/>
          <p:nvPr/>
        </p:nvSpPr>
        <p:spPr>
          <a:xfrm>
            <a:off x="2150771" y="4662485"/>
            <a:ext cx="8331769" cy="62324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ru-RU" b="1" dirty="0" smtClean="0"/>
              <a:t>Бенефиты и возможности для сотрудников:</a:t>
            </a:r>
            <a:r>
              <a:rPr lang="ru-RU" dirty="0" smtClean="0"/>
              <a:t> качество услуг (</a:t>
            </a:r>
            <a:r>
              <a:rPr lang="en-GB" b="1" i="1" dirty="0" smtClean="0"/>
              <a:t>best value for money</a:t>
            </a:r>
            <a:r>
              <a:rPr lang="en-GB" dirty="0" smtClean="0"/>
              <a:t>)</a:t>
            </a:r>
            <a:r>
              <a:rPr lang="ru-RU" dirty="0" smtClean="0"/>
              <a:t>, своевременное информирование о возможностях, наличие доступной, структурированной информации на порталах</a:t>
            </a:r>
            <a:r>
              <a:rPr lang="ru-RU" dirty="0"/>
              <a:t> </a:t>
            </a:r>
            <a:r>
              <a:rPr lang="ru-RU" dirty="0" smtClean="0"/>
              <a:t>и в сервисах. Анализ и предложения по итогам отчета вовлеченности. Спорт и культура.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805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бюджет, системы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55030" y="864306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49923" y="3091763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32" name="Прямоугольник 12"/>
          <p:cNvSpPr/>
          <p:nvPr/>
        </p:nvSpPr>
        <p:spPr>
          <a:xfrm>
            <a:off x="2934330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3033557" y="21894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8" name="Объект 2"/>
          <p:cNvSpPr txBox="1">
            <a:spLocks/>
          </p:cNvSpPr>
          <p:nvPr/>
        </p:nvSpPr>
        <p:spPr>
          <a:xfrm>
            <a:off x="2990728" y="23709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15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3" name="Объект 2"/>
          <p:cNvSpPr txBox="1">
            <a:spLocks/>
          </p:cNvSpPr>
          <p:nvPr/>
        </p:nvSpPr>
        <p:spPr>
          <a:xfrm>
            <a:off x="2998720" y="1184848"/>
            <a:ext cx="1780599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Платформа цифровых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сервисов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2851552" y="3075356"/>
            <a:ext cx="1862524" cy="25545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smtClean="0"/>
              <a:t>Перенос текущих сервисов</a:t>
            </a:r>
          </a:p>
          <a:p>
            <a:r>
              <a:rPr lang="ru-RU" dirty="0" smtClean="0"/>
              <a:t>Доработка новых сервисов</a:t>
            </a:r>
          </a:p>
          <a:p>
            <a:r>
              <a:rPr lang="ru-RU" dirty="0" smtClean="0"/>
              <a:t>Интеграция</a:t>
            </a:r>
          </a:p>
          <a:p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Новый личный кабинет</a:t>
            </a:r>
            <a:endParaRPr lang="ru-RU" dirty="0"/>
          </a:p>
          <a:p>
            <a:r>
              <a:rPr lang="ru-RU" dirty="0" smtClean="0"/>
              <a:t>75% по новой версии отпусков (выпуск приказов)</a:t>
            </a:r>
          </a:p>
          <a:p>
            <a:r>
              <a:rPr lang="ru-RU" dirty="0" smtClean="0"/>
              <a:t>85% по новой версии </a:t>
            </a:r>
            <a:r>
              <a:rPr lang="en-US" dirty="0" err="1" smtClean="0"/>
              <a:t>payslip</a:t>
            </a:r>
            <a:endParaRPr lang="ru-RU" dirty="0" smtClean="0"/>
          </a:p>
          <a:p>
            <a:r>
              <a:rPr lang="ru-RU" dirty="0" smtClean="0"/>
              <a:t>90% стартовая страница</a:t>
            </a:r>
          </a:p>
          <a:p>
            <a:r>
              <a:rPr lang="ru-RU" dirty="0" smtClean="0"/>
              <a:t>20% справки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dirty="0" smtClean="0"/>
              <a:t>Welcome letter</a:t>
            </a:r>
            <a:endParaRPr lang="ru-RU" dirty="0"/>
          </a:p>
        </p:txBody>
      </p:sp>
      <p:sp>
        <p:nvSpPr>
          <p:cNvPr id="50" name="Прямоугольник 12"/>
          <p:cNvSpPr/>
          <p:nvPr/>
        </p:nvSpPr>
        <p:spPr>
          <a:xfrm>
            <a:off x="5345238" y="110092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Объект 2"/>
          <p:cNvSpPr txBox="1">
            <a:spLocks/>
          </p:cNvSpPr>
          <p:nvPr/>
        </p:nvSpPr>
        <p:spPr>
          <a:xfrm>
            <a:off x="5453667" y="243348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1" name="Объект 2"/>
          <p:cNvSpPr txBox="1">
            <a:spLocks/>
          </p:cNvSpPr>
          <p:nvPr/>
        </p:nvSpPr>
        <p:spPr>
          <a:xfrm>
            <a:off x="5494982" y="1195419"/>
            <a:ext cx="1530228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1C –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возможности ключевой системы учета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9" name="Объект 2"/>
          <p:cNvSpPr txBox="1">
            <a:spLocks/>
          </p:cNvSpPr>
          <p:nvPr/>
        </p:nvSpPr>
        <p:spPr>
          <a:xfrm>
            <a:off x="5408728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235823" y="3064054"/>
            <a:ext cx="202369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Функционал ШР – </a:t>
            </a:r>
            <a:r>
              <a:rPr lang="ru-RU" sz="1000" dirty="0" smtClean="0">
                <a:solidFill>
                  <a:srgbClr val="FF0000"/>
                </a:solidFill>
              </a:rPr>
              <a:t>30-40%</a:t>
            </a:r>
            <a:r>
              <a:rPr lang="ru-RU" sz="1000" dirty="0" smtClean="0"/>
              <a:t> (включение?)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Сводная ведомость – </a:t>
            </a:r>
            <a:r>
              <a:rPr lang="ru-RU" sz="1000" dirty="0" smtClean="0">
                <a:solidFill>
                  <a:srgbClr val="FF0000"/>
                </a:solidFill>
              </a:rPr>
              <a:t>50-60%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strike="sngStrike" dirty="0" smtClean="0"/>
              <a:t>Планирование выплат (Казна)</a:t>
            </a:r>
            <a:endParaRPr lang="en-US" sz="1000" strike="sngStrike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r>
              <a:rPr lang="ru-RU" sz="1000" dirty="0" smtClean="0"/>
              <a:t>Казна – отмена</a:t>
            </a:r>
          </a:p>
          <a:p>
            <a:r>
              <a:rPr lang="ru-RU" sz="1000" dirty="0" smtClean="0"/>
              <a:t>Сводная ведомость 50%</a:t>
            </a:r>
            <a:endParaRPr lang="en-GB" sz="1000" dirty="0" smtClean="0"/>
          </a:p>
        </p:txBody>
      </p:sp>
      <p:sp>
        <p:nvSpPr>
          <p:cNvPr id="30" name="Прямоугольник 15"/>
          <p:cNvSpPr/>
          <p:nvPr/>
        </p:nvSpPr>
        <p:spPr>
          <a:xfrm>
            <a:off x="2799793" y="6252525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АК, АК,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IK, NF, VD Admin, Payroll, Reward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39397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58" name="Rectangle 57"/>
          <p:cNvSpPr/>
          <p:nvPr/>
        </p:nvSpPr>
        <p:spPr>
          <a:xfrm>
            <a:off x="5204550" y="309127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7" name="Rectangle 66"/>
          <p:cNvSpPr/>
          <p:nvPr/>
        </p:nvSpPr>
        <p:spPr>
          <a:xfrm>
            <a:off x="7561335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8" name="Прямоугольник 12"/>
          <p:cNvSpPr/>
          <p:nvPr/>
        </p:nvSpPr>
        <p:spPr>
          <a:xfrm>
            <a:off x="7705461" y="1114364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2" name="Объект 2"/>
          <p:cNvSpPr txBox="1">
            <a:spLocks/>
          </p:cNvSpPr>
          <p:nvPr/>
        </p:nvSpPr>
        <p:spPr>
          <a:xfrm>
            <a:off x="7813890" y="242079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3" name="Объект 2"/>
          <p:cNvSpPr txBox="1">
            <a:spLocks/>
          </p:cNvSpPr>
          <p:nvPr/>
        </p:nvSpPr>
        <p:spPr>
          <a:xfrm>
            <a:off x="7764881" y="1162701"/>
            <a:ext cx="1891934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HRPT –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качество данных, интеграция данных ИИХ, ЕЦУПС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Р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егистратор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ИП 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отчет по ЮЛ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7792199" y="222420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96046" y="3077492"/>
            <a:ext cx="227438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Расписать разделы,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поднять приоритет…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76" name="Прямоугольник 15"/>
          <p:cNvSpPr/>
          <p:nvPr/>
        </p:nvSpPr>
        <p:spPr>
          <a:xfrm>
            <a:off x="7729227" y="6240964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AR, YR, </a:t>
            </a:r>
            <a:r>
              <a:rPr lang="en-GB" sz="1200" dirty="0" err="1" smtClean="0">
                <a:solidFill>
                  <a:schemeClr val="tx1"/>
                </a:solidFill>
              </a:rPr>
              <a:t>AKol</a:t>
            </a:r>
            <a:r>
              <a:rPr lang="en-GB" sz="1200" dirty="0" smtClean="0">
                <a:solidFill>
                  <a:schemeClr val="tx1"/>
                </a:solidFill>
              </a:rPr>
              <a:t>, </a:t>
            </a:r>
            <a:r>
              <a:rPr lang="en-GB" sz="1200" dirty="0" err="1" smtClean="0">
                <a:solidFill>
                  <a:schemeClr val="tx1"/>
                </a:solidFill>
              </a:rPr>
              <a:t>ACh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7" name="Прямоугольник 15"/>
          <p:cNvSpPr/>
          <p:nvPr/>
        </p:nvSpPr>
        <p:spPr>
          <a:xfrm>
            <a:off x="5261640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IK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VD </a:t>
            </a:r>
            <a:endParaRPr lang="ru-RU" sz="12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Admin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, Payroll, Reward</a:t>
            </a:r>
          </a:p>
        </p:txBody>
      </p:sp>
      <p:sp>
        <p:nvSpPr>
          <p:cNvPr id="40" name="Прямоугольник 12"/>
          <p:cNvSpPr/>
          <p:nvPr/>
        </p:nvSpPr>
        <p:spPr>
          <a:xfrm>
            <a:off x="10036807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1" name="Объект 2"/>
          <p:cNvSpPr txBox="1">
            <a:spLocks/>
          </p:cNvSpPr>
          <p:nvPr/>
        </p:nvSpPr>
        <p:spPr>
          <a:xfrm>
            <a:off x="10136034" y="21894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5" name="Объект 2"/>
          <p:cNvSpPr txBox="1">
            <a:spLocks/>
          </p:cNvSpPr>
          <p:nvPr/>
        </p:nvSpPr>
        <p:spPr>
          <a:xfrm>
            <a:off x="10093205" y="23709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</a:t>
            </a: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6" name="Объект 2"/>
          <p:cNvSpPr txBox="1">
            <a:spLocks/>
          </p:cNvSpPr>
          <p:nvPr/>
        </p:nvSpPr>
        <p:spPr>
          <a:xfrm>
            <a:off x="10101197" y="1184848"/>
            <a:ext cx="1780599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система Шанхая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  <p:sp>
        <p:nvSpPr>
          <p:cNvPr id="48" name="Прямоугольник 15"/>
          <p:cNvSpPr/>
          <p:nvPr/>
        </p:nvSpPr>
        <p:spPr>
          <a:xfrm>
            <a:off x="10036807" y="6233431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 </a:t>
            </a:r>
            <a:r>
              <a:rPr lang="en-GB" sz="1200" dirty="0" err="1" smtClean="0">
                <a:solidFill>
                  <a:schemeClr val="accent6">
                    <a:lumMod val="50000"/>
                  </a:schemeClr>
                </a:solidFill>
              </a:rPr>
              <a:t>ACh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4" name="Прямоугольник 12"/>
          <p:cNvSpPr/>
          <p:nvPr/>
        </p:nvSpPr>
        <p:spPr>
          <a:xfrm>
            <a:off x="562104" y="1100926"/>
            <a:ext cx="1914282" cy="1914282"/>
          </a:xfrm>
          <a:prstGeom prst="rect">
            <a:avLst/>
          </a:prstGeom>
          <a:solidFill>
            <a:schemeClr val="accent1"/>
          </a:solidFill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70533" y="243348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15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Объект 2"/>
          <p:cNvSpPr txBox="1">
            <a:spLocks/>
          </p:cNvSpPr>
          <p:nvPr/>
        </p:nvSpPr>
        <p:spPr>
          <a:xfrm>
            <a:off x="711848" y="1195419"/>
            <a:ext cx="2052562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Инструмент планирования и контроля </a:t>
            </a: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числ-ти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и затрат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625594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52689" y="3064054"/>
            <a:ext cx="202369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НП и СП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Численность, </a:t>
            </a:r>
            <a:r>
              <a:rPr lang="en-GB" sz="1000" dirty="0" smtClean="0"/>
              <a:t>comp / non-comp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Закрытие на ежемесячной основе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Понимание «происхождения» ставок и даты утверждения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Отчетные формы для </a:t>
            </a:r>
            <a:r>
              <a:rPr lang="en-GB" sz="1000" dirty="0" smtClean="0"/>
              <a:t>HR / </a:t>
            </a:r>
            <a:r>
              <a:rPr lang="ru-RU" sz="1000" dirty="0" smtClean="0"/>
              <a:t>финансов / </a:t>
            </a:r>
            <a:r>
              <a:rPr lang="ru-RU" sz="1000" dirty="0"/>
              <a:t>б</a:t>
            </a:r>
            <a:r>
              <a:rPr lang="ru-RU" sz="1000" dirty="0" smtClean="0"/>
              <a:t>изнеса (?)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smtClean="0">
                <a:solidFill>
                  <a:srgbClr val="0070C0"/>
                </a:solidFill>
              </a:rPr>
              <a:t>95% </a:t>
            </a:r>
            <a:r>
              <a:rPr lang="ru-RU" sz="1000" dirty="0" smtClean="0">
                <a:solidFill>
                  <a:srgbClr val="0070C0"/>
                </a:solidFill>
              </a:rPr>
              <a:t>по этапу бизнес-анализа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70C0"/>
                </a:solidFill>
              </a:rPr>
              <a:t>80% по этапу проектирования</a:t>
            </a:r>
          </a:p>
        </p:txBody>
      </p:sp>
      <p:sp>
        <p:nvSpPr>
          <p:cNvPr id="51" name="Прямоугольник 15"/>
          <p:cNvSpPr/>
          <p:nvPr/>
        </p:nvSpPr>
        <p:spPr>
          <a:xfrm>
            <a:off x="478506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DZ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EE</a:t>
            </a:r>
          </a:p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YR, EA, AR, </a:t>
            </a:r>
            <a:r>
              <a:rPr lang="en-GB" sz="1200" dirty="0" err="1" smtClean="0">
                <a:solidFill>
                  <a:schemeClr val="accent6">
                    <a:lumMod val="50000"/>
                  </a:schemeClr>
                </a:solidFill>
              </a:rPr>
              <a:t>AKol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983326" y="3079778"/>
            <a:ext cx="208670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Контракт – до 15/07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Запуск </a:t>
            </a:r>
            <a:r>
              <a:rPr lang="en-GB" sz="1000" dirty="0" smtClean="0">
                <a:solidFill>
                  <a:srgbClr val="FF0000"/>
                </a:solidFill>
              </a:rPr>
              <a:t>Core</a:t>
            </a:r>
            <a:r>
              <a:rPr lang="ru-RU" sz="1000" dirty="0" smtClean="0">
                <a:solidFill>
                  <a:srgbClr val="FF0000"/>
                </a:solidFill>
              </a:rPr>
              <a:t> – до 31/12/26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Обучение – </a:t>
            </a:r>
            <a:r>
              <a:rPr lang="en-GB" sz="1000" dirty="0" smtClean="0">
                <a:solidFill>
                  <a:srgbClr val="FF0000"/>
                </a:solidFill>
              </a:rPr>
              <a:t>tbc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>
                <a:solidFill>
                  <a:srgbClr val="FF0000"/>
                </a:solidFill>
              </a:rPr>
              <a:t>Recruitment - tbc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2673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ru-RU" sz="3000" dirty="0">
                <a:solidFill>
                  <a:schemeClr val="accent6">
                    <a:lumMod val="50000"/>
                  </a:schemeClr>
                </a:solidFill>
              </a:rPr>
              <a:t>в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ознаграждения, </a:t>
            </a:r>
            <a:r>
              <a:rPr lang="ru-RU" sz="3000" dirty="0" err="1" smtClean="0">
                <a:solidFill>
                  <a:schemeClr val="accent6">
                    <a:lumMod val="50000"/>
                  </a:schemeClr>
                </a:solidFill>
              </a:rPr>
              <a:t>бенефиты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55030" y="864306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49923" y="3091763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32" name="Прямоугольник 12"/>
          <p:cNvSpPr/>
          <p:nvPr/>
        </p:nvSpPr>
        <p:spPr>
          <a:xfrm>
            <a:off x="2934330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3028482" y="2188348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8" name="Объект 2"/>
          <p:cNvSpPr txBox="1">
            <a:spLocks/>
          </p:cNvSpPr>
          <p:nvPr/>
        </p:nvSpPr>
        <p:spPr>
          <a:xfrm>
            <a:off x="3017700" y="244542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3" name="Объект 2"/>
          <p:cNvSpPr txBox="1">
            <a:spLocks/>
          </p:cNvSpPr>
          <p:nvPr/>
        </p:nvSpPr>
        <p:spPr>
          <a:xfrm>
            <a:off x="2998720" y="1184848"/>
            <a:ext cx="1914282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Year-End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2026: </a:t>
            </a:r>
            <a:r>
              <a:rPr lang="ru-RU" b="1" dirty="0" err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lessons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learned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подготовка системы, проведение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2851552" y="3075356"/>
            <a:ext cx="1862524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GB" dirty="0" smtClean="0"/>
              <a:t>…</a:t>
            </a:r>
            <a:endParaRPr lang="ru-RU" dirty="0" smtClean="0"/>
          </a:p>
        </p:txBody>
      </p:sp>
      <p:sp>
        <p:nvSpPr>
          <p:cNvPr id="30" name="Прямоугольник 15"/>
          <p:cNvSpPr/>
          <p:nvPr/>
        </p:nvSpPr>
        <p:spPr>
          <a:xfrm>
            <a:off x="2799793" y="6252525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 EA, EE,</a:t>
            </a:r>
          </a:p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Reward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39397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58" name="Rectangle 57"/>
          <p:cNvSpPr/>
          <p:nvPr/>
        </p:nvSpPr>
        <p:spPr>
          <a:xfrm>
            <a:off x="5204550" y="309127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7" name="Rectangle 66"/>
          <p:cNvSpPr/>
          <p:nvPr/>
        </p:nvSpPr>
        <p:spPr>
          <a:xfrm>
            <a:off x="7561335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8" name="Прямоугольник 12"/>
          <p:cNvSpPr/>
          <p:nvPr/>
        </p:nvSpPr>
        <p:spPr>
          <a:xfrm>
            <a:off x="7705461" y="1114364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2" name="Объект 2"/>
          <p:cNvSpPr txBox="1">
            <a:spLocks/>
          </p:cNvSpPr>
          <p:nvPr/>
        </p:nvSpPr>
        <p:spPr>
          <a:xfrm>
            <a:off x="7813890" y="242079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3" name="Объект 2"/>
          <p:cNvSpPr txBox="1">
            <a:spLocks/>
          </p:cNvSpPr>
          <p:nvPr/>
        </p:nvSpPr>
        <p:spPr>
          <a:xfrm>
            <a:off x="7792199" y="1196734"/>
            <a:ext cx="182754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Анализ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C&amp;B-процессов Лизинг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(Факторинг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Спец </a:t>
            </a: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деп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- ?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) 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7768951" y="218834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96046" y="3077492"/>
            <a:ext cx="227438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76" name="Прямоугольник 15"/>
          <p:cNvSpPr/>
          <p:nvPr/>
        </p:nvSpPr>
        <p:spPr>
          <a:xfrm>
            <a:off x="7729227" y="6240964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SO, EE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7" name="Прямоугольник 15"/>
          <p:cNvSpPr/>
          <p:nvPr/>
        </p:nvSpPr>
        <p:spPr>
          <a:xfrm>
            <a:off x="5261640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AF, KM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 DZ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err="1" smtClean="0">
                <a:solidFill>
                  <a:schemeClr val="accent6">
                    <a:lumMod val="50000"/>
                  </a:schemeClr>
                </a:solidFill>
              </a:rPr>
              <a:t>ECh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ямоугольник 12"/>
          <p:cNvSpPr/>
          <p:nvPr/>
        </p:nvSpPr>
        <p:spPr>
          <a:xfrm>
            <a:off x="10036807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1" name="Объект 2"/>
          <p:cNvSpPr txBox="1">
            <a:spLocks/>
          </p:cNvSpPr>
          <p:nvPr/>
        </p:nvSpPr>
        <p:spPr>
          <a:xfrm>
            <a:off x="10136034" y="21894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5" name="Объект 2"/>
          <p:cNvSpPr txBox="1">
            <a:spLocks/>
          </p:cNvSpPr>
          <p:nvPr/>
        </p:nvSpPr>
        <p:spPr>
          <a:xfrm>
            <a:off x="10093205" y="23709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6" name="Объект 2"/>
          <p:cNvSpPr txBox="1">
            <a:spLocks/>
          </p:cNvSpPr>
          <p:nvPr/>
        </p:nvSpPr>
        <p:spPr>
          <a:xfrm>
            <a:off x="10101197" y="1184848"/>
            <a:ext cx="1780599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Поддержка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STI 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&amp; LTI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  <p:sp>
        <p:nvSpPr>
          <p:cNvPr id="48" name="Прямоугольник 15"/>
          <p:cNvSpPr/>
          <p:nvPr/>
        </p:nvSpPr>
        <p:spPr>
          <a:xfrm>
            <a:off x="10036807" y="6233431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SO, AF, KM, DZ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4" name="Прямоугольник 12"/>
          <p:cNvSpPr/>
          <p:nvPr/>
        </p:nvSpPr>
        <p:spPr>
          <a:xfrm>
            <a:off x="562104" y="110092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70533" y="243348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Объект 2"/>
          <p:cNvSpPr txBox="1">
            <a:spLocks/>
          </p:cNvSpPr>
          <p:nvPr/>
        </p:nvSpPr>
        <p:spPr>
          <a:xfrm>
            <a:off x="711848" y="1195419"/>
            <a:ext cx="1680940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Сбор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рыночных данных по локациям присутствия</a:t>
            </a:r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625594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2104" y="3064054"/>
            <a:ext cx="202369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>
                <a:solidFill>
                  <a:srgbClr val="FF0000"/>
                </a:solidFill>
              </a:rPr>
              <a:t>Шанхай - ?</a:t>
            </a:r>
          </a:p>
          <a:p>
            <a:r>
              <a:rPr lang="ru-RU" sz="1000" dirty="0" err="1" smtClean="0">
                <a:solidFill>
                  <a:srgbClr val="FF0000"/>
                </a:solidFill>
              </a:rPr>
              <a:t>ТеДо</a:t>
            </a:r>
            <a:r>
              <a:rPr lang="ru-RU" sz="1000" dirty="0" smtClean="0">
                <a:solidFill>
                  <a:srgbClr val="FF0000"/>
                </a:solidFill>
              </a:rPr>
              <a:t> – в рамках Банковского процесса</a:t>
            </a:r>
          </a:p>
          <a:p>
            <a:r>
              <a:rPr lang="ru-RU" sz="1000" dirty="0" smtClean="0">
                <a:solidFill>
                  <a:srgbClr val="FF0000"/>
                </a:solidFill>
              </a:rPr>
              <a:t>Б1 – </a:t>
            </a:r>
            <a:r>
              <a:rPr lang="ru-RU" sz="1000" dirty="0" err="1" smtClean="0">
                <a:solidFill>
                  <a:srgbClr val="FF0000"/>
                </a:solidFill>
              </a:rPr>
              <a:t>инвест</a:t>
            </a:r>
            <a:r>
              <a:rPr lang="ru-RU" sz="1000" dirty="0" smtClean="0">
                <a:solidFill>
                  <a:srgbClr val="FF0000"/>
                </a:solidFill>
              </a:rPr>
              <a:t> сегмент</a:t>
            </a:r>
          </a:p>
          <a:p>
            <a:r>
              <a:rPr lang="ru-RU" sz="1000" dirty="0" smtClean="0">
                <a:solidFill>
                  <a:srgbClr val="FF0000"/>
                </a:solidFill>
              </a:rPr>
              <a:t>Б1 – </a:t>
            </a:r>
            <a:r>
              <a:rPr lang="ru-RU" sz="1000" dirty="0" err="1" smtClean="0">
                <a:solidFill>
                  <a:srgbClr val="FF0000"/>
                </a:solidFill>
              </a:rPr>
              <a:t>фин</a:t>
            </a:r>
            <a:r>
              <a:rPr lang="ru-RU" sz="1000" dirty="0" smtClean="0">
                <a:solidFill>
                  <a:srgbClr val="FF0000"/>
                </a:solidFill>
              </a:rPr>
              <a:t> сектор</a:t>
            </a:r>
          </a:p>
          <a:p>
            <a:r>
              <a:rPr lang="ru-RU" sz="1000" dirty="0" smtClean="0">
                <a:solidFill>
                  <a:srgbClr val="FF0000"/>
                </a:solidFill>
              </a:rPr>
              <a:t>ОМ - ?</a:t>
            </a:r>
          </a:p>
        </p:txBody>
      </p:sp>
      <p:sp>
        <p:nvSpPr>
          <p:cNvPr id="51" name="Прямоугольник 15"/>
          <p:cNvSpPr/>
          <p:nvPr/>
        </p:nvSpPr>
        <p:spPr>
          <a:xfrm>
            <a:off x="478506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AF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83326" y="3079778"/>
            <a:ext cx="20867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6" name="Прямоугольник 12"/>
          <p:cNvSpPr/>
          <p:nvPr/>
        </p:nvSpPr>
        <p:spPr>
          <a:xfrm>
            <a:off x="5184958" y="1126251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Объект 2"/>
          <p:cNvSpPr txBox="1">
            <a:spLocks/>
          </p:cNvSpPr>
          <p:nvPr/>
        </p:nvSpPr>
        <p:spPr>
          <a:xfrm>
            <a:off x="5293387" y="2458813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9" name="Объект 2"/>
          <p:cNvSpPr txBox="1">
            <a:spLocks/>
          </p:cNvSpPr>
          <p:nvPr/>
        </p:nvSpPr>
        <p:spPr>
          <a:xfrm>
            <a:off x="5334701" y="1220744"/>
            <a:ext cx="1793415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Бенефиты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коммуникация, качество, новое в части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well being</a:t>
            </a:r>
            <a:endParaRPr lang="ru-RU" b="1" dirty="0" smtClean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0" name="Объект 2"/>
          <p:cNvSpPr txBox="1">
            <a:spLocks/>
          </p:cNvSpPr>
          <p:nvPr/>
        </p:nvSpPr>
        <p:spPr>
          <a:xfrm>
            <a:off x="5336854" y="226701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112434" y="3097083"/>
            <a:ext cx="206348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err="1" smtClean="0"/>
              <a:t>Бенефиты</a:t>
            </a:r>
            <a:r>
              <a:rPr lang="ru-RU" sz="1000" dirty="0"/>
              <a:t>: информация на </a:t>
            </a:r>
            <a:r>
              <a:rPr lang="ru-RU" sz="1000" dirty="0" err="1"/>
              <a:t>капитальских</a:t>
            </a:r>
            <a:r>
              <a:rPr lang="ru-RU" sz="1000" dirty="0"/>
              <a:t> порталах, </a:t>
            </a:r>
            <a:r>
              <a:rPr lang="ru-RU" sz="1000" dirty="0" err="1"/>
              <a:t>email</a:t>
            </a:r>
            <a:r>
              <a:rPr lang="ru-RU" sz="1000" dirty="0"/>
              <a:t>-рассылки 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Спорт</a:t>
            </a:r>
            <a:r>
              <a:rPr lang="ru-RU" sz="1000" dirty="0"/>
              <a:t>: одобрение и запуск инициативы на СП, проработка инициатив на НП, создание спортивных </a:t>
            </a:r>
            <a:r>
              <a:rPr lang="ru-RU" sz="1000" dirty="0" err="1" smtClean="0"/>
              <a:t>community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Культурные мероприятия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Скидки: консолидация </a:t>
            </a:r>
            <a:r>
              <a:rPr lang="ru-RU" sz="1000" dirty="0"/>
              <a:t>скидок от партнёров банка на Порталах и проведение закрытых </a:t>
            </a:r>
            <a:r>
              <a:rPr lang="ru-RU" sz="1000" dirty="0" smtClean="0"/>
              <a:t>мероприятий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Автоматические </a:t>
            </a:r>
            <a:r>
              <a:rPr lang="ru-RU" sz="1000" dirty="0" err="1"/>
              <a:t>email</a:t>
            </a:r>
            <a:r>
              <a:rPr lang="ru-RU" sz="1000" dirty="0"/>
              <a:t>-рассылки юбилярам по стажу </a:t>
            </a:r>
            <a:r>
              <a:rPr lang="ru-RU" sz="1000" dirty="0" smtClean="0"/>
              <a:t>работы </a:t>
            </a:r>
            <a:endParaRPr lang="en-GB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ДМС и врач офиса: качество, превентивная медицина (</a:t>
            </a:r>
            <a:r>
              <a:rPr lang="en-US" sz="1000" dirty="0" smtClean="0"/>
              <a:t>check-ups)</a:t>
            </a:r>
          </a:p>
        </p:txBody>
      </p:sp>
    </p:spTree>
    <p:extLst>
      <p:ext uri="{BB962C8B-B14F-4D97-AF65-F5344CB8AC3E}">
        <p14:creationId xmlns:p14="http://schemas.microsoft.com/office/powerpoint/2010/main" val="140748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HR OPS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2689643" y="3117088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5" name="Прямоугольник 12"/>
          <p:cNvSpPr/>
          <p:nvPr/>
        </p:nvSpPr>
        <p:spPr>
          <a:xfrm>
            <a:off x="2774050" y="1139689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2868202" y="2213673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2857420" y="2470745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2838440" y="1210173"/>
            <a:ext cx="1914282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Year-End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2026: </a:t>
            </a:r>
            <a:r>
              <a:rPr lang="ru-RU" b="1" dirty="0" err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lessons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learned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подготовка системы, проведение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2691272" y="3100681"/>
            <a:ext cx="1862524" cy="2462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GB" dirty="0" smtClean="0"/>
              <a:t>…</a:t>
            </a:r>
            <a:endParaRPr lang="ru-RU" dirty="0" smtClean="0"/>
          </a:p>
        </p:txBody>
      </p:sp>
      <p:sp>
        <p:nvSpPr>
          <p:cNvPr id="10" name="Прямоугольник 12"/>
          <p:cNvSpPr/>
          <p:nvPr/>
        </p:nvSpPr>
        <p:spPr>
          <a:xfrm>
            <a:off x="5184958" y="1126251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бъект 2"/>
          <p:cNvSpPr txBox="1">
            <a:spLocks/>
          </p:cNvSpPr>
          <p:nvPr/>
        </p:nvSpPr>
        <p:spPr>
          <a:xfrm>
            <a:off x="5293387" y="2458813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5334701" y="1220744"/>
            <a:ext cx="1793415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Бенефиты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коммуникация, качество, новое в части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well being</a:t>
            </a:r>
            <a:endParaRPr lang="ru-RU" b="1" dirty="0" smtClean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3" name="Объект 2"/>
          <p:cNvSpPr txBox="1">
            <a:spLocks/>
          </p:cNvSpPr>
          <p:nvPr/>
        </p:nvSpPr>
        <p:spPr>
          <a:xfrm>
            <a:off x="5336854" y="226701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5" name="Прямоугольник 15"/>
          <p:cNvSpPr/>
          <p:nvPr/>
        </p:nvSpPr>
        <p:spPr>
          <a:xfrm>
            <a:off x="2639513" y="6277850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 EA, EE,</a:t>
            </a:r>
          </a:p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Reward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12435" y="3097083"/>
            <a:ext cx="191428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err="1" smtClean="0"/>
              <a:t>Бенефиты</a:t>
            </a:r>
            <a:r>
              <a:rPr lang="ru-RU" sz="1000" dirty="0"/>
              <a:t>: информация на </a:t>
            </a:r>
            <a:r>
              <a:rPr lang="ru-RU" sz="1000" dirty="0" err="1"/>
              <a:t>капитальских</a:t>
            </a:r>
            <a:r>
              <a:rPr lang="ru-RU" sz="1000" dirty="0"/>
              <a:t> порталах, </a:t>
            </a:r>
            <a:r>
              <a:rPr lang="ru-RU" sz="1000" dirty="0" err="1"/>
              <a:t>email</a:t>
            </a:r>
            <a:r>
              <a:rPr lang="ru-RU" sz="1000" dirty="0"/>
              <a:t>-рассылки 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Спорт</a:t>
            </a:r>
            <a:r>
              <a:rPr lang="ru-RU" sz="1000" dirty="0"/>
              <a:t>: одобрение и запуск инициативы на СП, проработка инициатив на НП, создание спортивных </a:t>
            </a:r>
            <a:r>
              <a:rPr lang="ru-RU" sz="1000" dirty="0" err="1" smtClean="0"/>
              <a:t>community</a:t>
            </a: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Культурные мероприятия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Скидки: консолидация </a:t>
            </a:r>
            <a:r>
              <a:rPr lang="ru-RU" sz="1000" dirty="0"/>
              <a:t>скидок от партнёров банка на Порталах и проведение закрытых </a:t>
            </a:r>
            <a:r>
              <a:rPr lang="ru-RU" sz="1000" dirty="0" smtClean="0"/>
              <a:t>мероприятий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Автоматические </a:t>
            </a:r>
            <a:r>
              <a:rPr lang="ru-RU" sz="1000" dirty="0" err="1"/>
              <a:t>email</a:t>
            </a:r>
            <a:r>
              <a:rPr lang="ru-RU" sz="1000" dirty="0"/>
              <a:t>-рассылки юбилярам по стажу </a:t>
            </a:r>
            <a:r>
              <a:rPr lang="ru-RU" sz="1000" dirty="0" smtClean="0"/>
              <a:t>работы </a:t>
            </a:r>
            <a:endParaRPr lang="en-US" sz="1000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7401055" y="3121987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19" name="Прямоугольник 12"/>
          <p:cNvSpPr/>
          <p:nvPr/>
        </p:nvSpPr>
        <p:spPr>
          <a:xfrm>
            <a:off x="7545181" y="1139689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0" name="Объект 2"/>
          <p:cNvSpPr txBox="1">
            <a:spLocks/>
          </p:cNvSpPr>
          <p:nvPr/>
        </p:nvSpPr>
        <p:spPr>
          <a:xfrm>
            <a:off x="7653610" y="244612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21" name="Объект 2"/>
          <p:cNvSpPr txBox="1">
            <a:spLocks/>
          </p:cNvSpPr>
          <p:nvPr/>
        </p:nvSpPr>
        <p:spPr>
          <a:xfrm>
            <a:off x="7631919" y="1222059"/>
            <a:ext cx="182754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Анализ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C&amp;B-процессов Лизинг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(Факторинг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Спец </a:t>
            </a: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деп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- ?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) 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2" name="Объект 2"/>
          <p:cNvSpPr txBox="1">
            <a:spLocks/>
          </p:cNvSpPr>
          <p:nvPr/>
        </p:nvSpPr>
        <p:spPr>
          <a:xfrm>
            <a:off x="7608671" y="221367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5766" y="3102817"/>
            <a:ext cx="227438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4" name="Прямоугольник 15"/>
          <p:cNvSpPr/>
          <p:nvPr/>
        </p:nvSpPr>
        <p:spPr>
          <a:xfrm>
            <a:off x="7568947" y="6266289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SO, EE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15"/>
          <p:cNvSpPr/>
          <p:nvPr/>
        </p:nvSpPr>
        <p:spPr>
          <a:xfrm>
            <a:off x="5144827" y="625875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AF, KM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err="1" smtClean="0">
                <a:solidFill>
                  <a:schemeClr val="accent6">
                    <a:lumMod val="50000"/>
                  </a:schemeClr>
                </a:solidFill>
              </a:rPr>
              <a:t>ECh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Прямоугольник 12"/>
          <p:cNvSpPr/>
          <p:nvPr/>
        </p:nvSpPr>
        <p:spPr>
          <a:xfrm>
            <a:off x="9876527" y="1139689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27" name="Объект 2"/>
          <p:cNvSpPr txBox="1">
            <a:spLocks/>
          </p:cNvSpPr>
          <p:nvPr/>
        </p:nvSpPr>
        <p:spPr>
          <a:xfrm>
            <a:off x="9975754" y="221475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8" name="Объект 2"/>
          <p:cNvSpPr txBox="1">
            <a:spLocks/>
          </p:cNvSpPr>
          <p:nvPr/>
        </p:nvSpPr>
        <p:spPr>
          <a:xfrm>
            <a:off x="9932925" y="239629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29" name="Объект 2"/>
          <p:cNvSpPr txBox="1">
            <a:spLocks/>
          </p:cNvSpPr>
          <p:nvPr/>
        </p:nvSpPr>
        <p:spPr>
          <a:xfrm>
            <a:off x="9940917" y="1210173"/>
            <a:ext cx="1780599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Поддержка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STI 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&amp; LTI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0" name="Объект 2"/>
          <p:cNvSpPr txBox="1">
            <a:spLocks/>
          </p:cNvSpPr>
          <p:nvPr/>
        </p:nvSpPr>
        <p:spPr>
          <a:xfrm>
            <a:off x="9793748" y="3100681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  <p:sp>
        <p:nvSpPr>
          <p:cNvPr id="31" name="Прямоугольник 15"/>
          <p:cNvSpPr/>
          <p:nvPr/>
        </p:nvSpPr>
        <p:spPr>
          <a:xfrm>
            <a:off x="9876527" y="625875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SO, AF, KM, DZ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Прямоугольник 12"/>
          <p:cNvSpPr/>
          <p:nvPr/>
        </p:nvSpPr>
        <p:spPr>
          <a:xfrm>
            <a:off x="401824" y="1126251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бъект 2"/>
          <p:cNvSpPr txBox="1">
            <a:spLocks/>
          </p:cNvSpPr>
          <p:nvPr/>
        </p:nvSpPr>
        <p:spPr>
          <a:xfrm>
            <a:off x="510253" y="2458813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4" name="Объект 2"/>
          <p:cNvSpPr txBox="1">
            <a:spLocks/>
          </p:cNvSpPr>
          <p:nvPr/>
        </p:nvSpPr>
        <p:spPr>
          <a:xfrm>
            <a:off x="551568" y="1220744"/>
            <a:ext cx="1680940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Сбор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рыночных данных по локациям присутствия</a:t>
            </a: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465314" y="220023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/26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92409" y="3089379"/>
            <a:ext cx="20236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…</a:t>
            </a:r>
            <a:endParaRPr lang="ru-RU" sz="1000" dirty="0" smtClean="0"/>
          </a:p>
        </p:txBody>
      </p:sp>
      <p:sp>
        <p:nvSpPr>
          <p:cNvPr id="37" name="Прямоугольник 15"/>
          <p:cNvSpPr/>
          <p:nvPr/>
        </p:nvSpPr>
        <p:spPr>
          <a:xfrm>
            <a:off x="318226" y="6268843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AF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3046" y="3105103"/>
            <a:ext cx="20867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755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ADMIN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55030" y="864306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</p:spTree>
    <p:extLst>
      <p:ext uri="{BB962C8B-B14F-4D97-AF65-F5344CB8AC3E}">
        <p14:creationId xmlns:p14="http://schemas.microsoft.com/office/powerpoint/2010/main" val="3628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PAYROLL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55030" y="864306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</p:spTree>
    <p:extLst>
      <p:ext uri="{BB962C8B-B14F-4D97-AF65-F5344CB8AC3E}">
        <p14:creationId xmlns:p14="http://schemas.microsoft.com/office/powerpoint/2010/main" val="74217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316086" y="3250342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Приложение</a:t>
            </a:r>
            <a:b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–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5</a:t>
            </a:r>
            <a:b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/>
            </a:r>
            <a:b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</a:b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АРХИВ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57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0442166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6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Поддержка новых бизнесов / изменений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55030" y="864306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2849923" y="3091763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32" name="Прямоугольник 12"/>
          <p:cNvSpPr/>
          <p:nvPr/>
        </p:nvSpPr>
        <p:spPr>
          <a:xfrm>
            <a:off x="2934330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3033557" y="21894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8" name="Объект 2"/>
          <p:cNvSpPr txBox="1">
            <a:spLocks/>
          </p:cNvSpPr>
          <p:nvPr/>
        </p:nvSpPr>
        <p:spPr>
          <a:xfrm>
            <a:off x="2990728" y="23709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95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3" name="Объект 2"/>
          <p:cNvSpPr txBox="1">
            <a:spLocks/>
          </p:cNvSpPr>
          <p:nvPr/>
        </p:nvSpPr>
        <p:spPr>
          <a:xfrm>
            <a:off x="2998720" y="1184848"/>
            <a:ext cx="1780599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Эйлер – продолжение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2851552" y="3075356"/>
            <a:ext cx="1862524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smtClean="0"/>
              <a:t>Доработка процессов / доработка блока 1С  по авторским вознаграждениям</a:t>
            </a:r>
          </a:p>
        </p:txBody>
      </p:sp>
      <p:sp>
        <p:nvSpPr>
          <p:cNvPr id="50" name="Прямоугольник 12"/>
          <p:cNvSpPr/>
          <p:nvPr/>
        </p:nvSpPr>
        <p:spPr>
          <a:xfrm>
            <a:off x="5345238" y="110092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Объект 2"/>
          <p:cNvSpPr txBox="1">
            <a:spLocks/>
          </p:cNvSpPr>
          <p:nvPr/>
        </p:nvSpPr>
        <p:spPr>
          <a:xfrm>
            <a:off x="5453667" y="243348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75%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1" name="Объект 2"/>
          <p:cNvSpPr txBox="1">
            <a:spLocks/>
          </p:cNvSpPr>
          <p:nvPr/>
        </p:nvSpPr>
        <p:spPr>
          <a:xfrm>
            <a:off x="5494982" y="1195419"/>
            <a:ext cx="1530228" cy="51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IT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–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компании</a:t>
            </a:r>
          </a:p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(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GCMT, </a:t>
            </a:r>
            <a:r>
              <a:rPr lang="en-GB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Arowana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)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9" name="Объект 2"/>
          <p:cNvSpPr txBox="1">
            <a:spLocks/>
          </p:cNvSpPr>
          <p:nvPr/>
        </p:nvSpPr>
        <p:spPr>
          <a:xfrm>
            <a:off x="5408728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235823" y="3064054"/>
            <a:ext cx="202369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Планирование </a:t>
            </a:r>
            <a:r>
              <a:rPr lang="ru-RU" sz="1000" dirty="0"/>
              <a:t>услуг / HR продуктов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Поддержка миграции (переводы, учет, </a:t>
            </a:r>
            <a:r>
              <a:rPr lang="ru-RU" sz="1000" dirty="0" err="1" smtClean="0"/>
              <a:t>бенефиты</a:t>
            </a:r>
            <a:r>
              <a:rPr lang="ru-RU" sz="1000" dirty="0" smtClean="0"/>
              <a:t>, отчетность и др.)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Автоматизация проводок</a:t>
            </a:r>
            <a:endParaRPr lang="en-GB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Поддержка получения льгот для сотрудников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Воинский учет и отсрочки</a:t>
            </a:r>
            <a:endParaRPr lang="ru-RU" sz="1000" dirty="0"/>
          </a:p>
        </p:txBody>
      </p:sp>
      <p:sp>
        <p:nvSpPr>
          <p:cNvPr id="30" name="Прямоугольник 15"/>
          <p:cNvSpPr/>
          <p:nvPr/>
        </p:nvSpPr>
        <p:spPr>
          <a:xfrm>
            <a:off x="2799793" y="6252525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IK, EE, ZS, </a:t>
            </a:r>
            <a:r>
              <a:rPr lang="en-GB" sz="1200" dirty="0" err="1" smtClean="0">
                <a:solidFill>
                  <a:schemeClr val="accent6">
                    <a:lumMod val="50000"/>
                  </a:schemeClr>
                </a:solidFill>
              </a:rPr>
              <a:t>EYu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39397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58" name="Rectangle 57"/>
          <p:cNvSpPr/>
          <p:nvPr/>
        </p:nvSpPr>
        <p:spPr>
          <a:xfrm>
            <a:off x="5204550" y="309127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7" name="Rectangle 66"/>
          <p:cNvSpPr/>
          <p:nvPr/>
        </p:nvSpPr>
        <p:spPr>
          <a:xfrm>
            <a:off x="7561335" y="309666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68" name="Прямоугольник 12"/>
          <p:cNvSpPr/>
          <p:nvPr/>
        </p:nvSpPr>
        <p:spPr>
          <a:xfrm>
            <a:off x="7705461" y="1114364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2" name="Объект 2"/>
          <p:cNvSpPr txBox="1">
            <a:spLocks/>
          </p:cNvSpPr>
          <p:nvPr/>
        </p:nvSpPr>
        <p:spPr>
          <a:xfrm>
            <a:off x="7813890" y="242079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3" name="Объект 2"/>
          <p:cNvSpPr txBox="1">
            <a:spLocks/>
          </p:cNvSpPr>
          <p:nvPr/>
        </p:nvSpPr>
        <p:spPr>
          <a:xfrm>
            <a:off x="7792199" y="1196734"/>
            <a:ext cx="182754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Интеграция 4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УК 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из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Открытия, интеграция РНКБ, Почта Банк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7768951" y="218834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96046" y="3077492"/>
            <a:ext cx="227438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Осуществлена интеграция юр. лица Открытие Брокер в БФКО</a:t>
            </a:r>
            <a:r>
              <a:rPr lang="en-US" sz="10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Осуществлен перенос баз 1С УК Навигатор и Менеджмент консалтинг</a:t>
            </a:r>
            <a:r>
              <a:rPr lang="en-US" sz="1000" dirty="0" smtClean="0"/>
              <a:t>;</a:t>
            </a: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Начиная со 3 квартала – </a:t>
            </a:r>
            <a:r>
              <a:rPr lang="ru-RU" sz="1000" dirty="0"/>
              <a:t>интеграция </a:t>
            </a:r>
            <a:r>
              <a:rPr lang="ru-RU" sz="1000" dirty="0" smtClean="0"/>
              <a:t>Менеджмент консалтинг и Менеджмент холдинг в </a:t>
            </a:r>
            <a:r>
              <a:rPr lang="en-US" sz="1000" dirty="0" smtClean="0"/>
              <a:t>HR-</a:t>
            </a:r>
            <a:r>
              <a:rPr lang="ru-RU" sz="1000" dirty="0" smtClean="0"/>
              <a:t>процессы БФ.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Инвест-палата – остаётся </a:t>
            </a:r>
            <a:r>
              <a:rPr lang="en-US" sz="1000" dirty="0" smtClean="0"/>
              <a:t>stand alone </a:t>
            </a:r>
            <a:r>
              <a:rPr lang="ru-RU" sz="1000" dirty="0" smtClean="0"/>
              <a:t>и не интегрируется в </a:t>
            </a:r>
            <a:r>
              <a:rPr lang="en-US" sz="1000" dirty="0" smtClean="0"/>
              <a:t>HR-</a:t>
            </a:r>
            <a:r>
              <a:rPr lang="ru-RU" sz="1000" dirty="0" smtClean="0"/>
              <a:t>процессы.</a:t>
            </a:r>
            <a:endParaRPr lang="en-GB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Продолжается переход </a:t>
            </a:r>
            <a:r>
              <a:rPr lang="ru-RU" sz="1000" dirty="0"/>
              <a:t>всей инфраструктуры УК Открытие в периметр </a:t>
            </a:r>
            <a:r>
              <a:rPr lang="ru-RU" sz="1000" dirty="0" smtClean="0"/>
              <a:t>Капитала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РНКБ – перевод ШЕ и сотрудников осуществлен.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Почта-Банк – КИБ отсутствует.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76" name="Прямоугольник 15"/>
          <p:cNvSpPr/>
          <p:nvPr/>
        </p:nvSpPr>
        <p:spPr>
          <a:xfrm>
            <a:off x="7729227" y="6240964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SO, </a:t>
            </a:r>
            <a:r>
              <a:rPr lang="en-US" sz="1200" dirty="0" smtClean="0">
                <a:solidFill>
                  <a:schemeClr val="tx1"/>
                </a:solidFill>
              </a:rPr>
              <a:t>KM, </a:t>
            </a:r>
            <a:r>
              <a:rPr lang="en-GB" sz="1200" dirty="0" smtClean="0">
                <a:solidFill>
                  <a:schemeClr val="tx1"/>
                </a:solidFill>
              </a:rPr>
              <a:t>MB, VD, IK, AR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7" name="Прямоугольник 15"/>
          <p:cNvSpPr/>
          <p:nvPr/>
        </p:nvSpPr>
        <p:spPr>
          <a:xfrm>
            <a:off x="5261640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EE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NF, 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GB" sz="12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HR ADVISORY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0" name="Прямоугольник 12"/>
          <p:cNvSpPr/>
          <p:nvPr/>
        </p:nvSpPr>
        <p:spPr>
          <a:xfrm>
            <a:off x="10036807" y="1114364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1" name="Объект 2"/>
          <p:cNvSpPr txBox="1">
            <a:spLocks/>
          </p:cNvSpPr>
          <p:nvPr/>
        </p:nvSpPr>
        <p:spPr>
          <a:xfrm>
            <a:off x="10136034" y="21894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</a:p>
        </p:txBody>
      </p:sp>
      <p:sp>
        <p:nvSpPr>
          <p:cNvPr id="45" name="Объект 2"/>
          <p:cNvSpPr txBox="1">
            <a:spLocks/>
          </p:cNvSpPr>
          <p:nvPr/>
        </p:nvSpPr>
        <p:spPr>
          <a:xfrm>
            <a:off x="10093205" y="23709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6" name="Объект 2"/>
          <p:cNvSpPr txBox="1">
            <a:spLocks/>
          </p:cNvSpPr>
          <p:nvPr/>
        </p:nvSpPr>
        <p:spPr>
          <a:xfrm>
            <a:off x="10101197" y="1184848"/>
            <a:ext cx="1780599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HR-OPS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поддержки новых бизнесов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9954028" y="3075356"/>
            <a:ext cx="2157341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b="1" dirty="0" smtClean="0">
                <a:solidFill>
                  <a:schemeClr val="bg1"/>
                </a:solidFill>
              </a:rPr>
              <a:t>Внедрение в процессы/доработка блока 1С  по авторским вознаграждениям</a:t>
            </a:r>
          </a:p>
        </p:txBody>
      </p:sp>
      <p:sp>
        <p:nvSpPr>
          <p:cNvPr id="48" name="Прямоугольник 15"/>
          <p:cNvSpPr/>
          <p:nvPr/>
        </p:nvSpPr>
        <p:spPr>
          <a:xfrm>
            <a:off x="10036807" y="6233431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DZ,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MB, ZS</a:t>
            </a:r>
            <a:endParaRPr lang="en-GB" sz="12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200" dirty="0">
                <a:solidFill>
                  <a:schemeClr val="accent6">
                    <a:lumMod val="50000"/>
                  </a:schemeClr>
                </a:solidFill>
              </a:rPr>
              <a:t>HR ADVISORY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4" name="Прямоугольник 12"/>
          <p:cNvSpPr/>
          <p:nvPr/>
        </p:nvSpPr>
        <p:spPr>
          <a:xfrm>
            <a:off x="562104" y="110092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70533" y="243348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85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Объект 2"/>
          <p:cNvSpPr txBox="1">
            <a:spLocks/>
          </p:cNvSpPr>
          <p:nvPr/>
        </p:nvSpPr>
        <p:spPr>
          <a:xfrm>
            <a:off x="711848" y="1195419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Структура и численность НП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625594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52689" y="3064054"/>
            <a:ext cx="20236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Планирование численности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Расчет </a:t>
            </a:r>
            <a:r>
              <a:rPr lang="ru-RU" sz="1000" dirty="0"/>
              <a:t>бюджета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Пересмотр бюджетов </a:t>
            </a:r>
            <a:r>
              <a:rPr lang="en-GB" sz="1000" dirty="0" smtClean="0"/>
              <a:t>non-comp / </a:t>
            </a:r>
            <a:r>
              <a:rPr lang="ru-RU" sz="1000" dirty="0" smtClean="0"/>
              <a:t>проектов</a:t>
            </a:r>
            <a:endParaRPr lang="ru-RU" sz="1000" dirty="0"/>
          </a:p>
        </p:txBody>
      </p:sp>
      <p:sp>
        <p:nvSpPr>
          <p:cNvPr id="51" name="Прямоугольник 15"/>
          <p:cNvSpPr/>
          <p:nvPr/>
        </p:nvSpPr>
        <p:spPr>
          <a:xfrm>
            <a:off x="478506" y="624351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DZ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EE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GB" sz="1200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HR ADVISORY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983326" y="3079778"/>
            <a:ext cx="20867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Подтверждение подхода по поддержке новых бизнесов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Выстраивание процессов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Передача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778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8242428" cy="387798"/>
          </a:xfrm>
        </p:spPr>
        <p:txBody>
          <a:bodyPr>
            <a:noAutofit/>
          </a:bodyPr>
          <a:lstStyle/>
          <a:p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ЗАДАЧИ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- 202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5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Процессы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HR OPS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308750" y="3091763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32" name="Прямоугольник 12"/>
          <p:cNvSpPr/>
          <p:nvPr/>
        </p:nvSpPr>
        <p:spPr>
          <a:xfrm>
            <a:off x="383113" y="1095536"/>
            <a:ext cx="1914282" cy="18905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492384" y="223297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8" name="Объект 2"/>
          <p:cNvSpPr txBox="1">
            <a:spLocks/>
          </p:cNvSpPr>
          <p:nvPr/>
        </p:nvSpPr>
        <p:spPr>
          <a:xfrm>
            <a:off x="449555" y="240581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2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3" name="Объект 2"/>
          <p:cNvSpPr txBox="1">
            <a:spLocks/>
          </p:cNvSpPr>
          <p:nvPr/>
        </p:nvSpPr>
        <p:spPr>
          <a:xfrm>
            <a:off x="457547" y="1184848"/>
            <a:ext cx="1780599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Анализ и пересмотр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процессов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 оптимизация + КЭДО + </a:t>
            </a:r>
            <a:r>
              <a:rPr lang="ru-RU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диджитал</a:t>
            </a:r>
            <a:endParaRPr lang="en-US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310379" y="3075356"/>
            <a:ext cx="1987016" cy="28623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err="1" smtClean="0"/>
              <a:t>Ревью</a:t>
            </a:r>
            <a:r>
              <a:rPr lang="ru-RU" dirty="0" smtClean="0"/>
              <a:t> всех процессов в жизненном цикле сотрудника</a:t>
            </a:r>
          </a:p>
          <a:p>
            <a:r>
              <a:rPr lang="ru-RU" dirty="0" smtClean="0"/>
              <a:t>Описание отдельных процессов</a:t>
            </a:r>
          </a:p>
          <a:p>
            <a:r>
              <a:rPr lang="en-GB" dirty="0" smtClean="0"/>
              <a:t>Gap-</a:t>
            </a:r>
            <a:r>
              <a:rPr lang="ru-RU" dirty="0" smtClean="0"/>
              <a:t>анализ</a:t>
            </a:r>
          </a:p>
          <a:p>
            <a:r>
              <a:rPr lang="ru-RU" dirty="0" smtClean="0"/>
              <a:t>Предложения по оптимизации и автоматизации</a:t>
            </a:r>
          </a:p>
          <a:p>
            <a:r>
              <a:rPr lang="ru-RU" dirty="0" smtClean="0"/>
              <a:t>Политики и процедуры</a:t>
            </a:r>
            <a:r>
              <a:rPr lang="ru-RU" dirty="0"/>
              <a:t> </a:t>
            </a:r>
            <a:r>
              <a:rPr lang="ru-RU" dirty="0" smtClean="0"/>
              <a:t>по процессам</a:t>
            </a:r>
          </a:p>
          <a:p>
            <a:r>
              <a:rPr lang="ru-RU" dirty="0" smtClean="0"/>
              <a:t>Одобрение</a:t>
            </a:r>
          </a:p>
          <a:p>
            <a:r>
              <a:rPr lang="ru-RU" dirty="0" smtClean="0"/>
              <a:t>Внедрение</a:t>
            </a:r>
          </a:p>
          <a:p>
            <a:r>
              <a:rPr lang="ru-RU" dirty="0" smtClean="0"/>
              <a:t>Закупка планшетов, переход на цифровое ознакомление с ЛНА и кадровые процессы при приеме</a:t>
            </a:r>
          </a:p>
        </p:txBody>
      </p:sp>
      <p:sp>
        <p:nvSpPr>
          <p:cNvPr id="50" name="Прямоугольник 12"/>
          <p:cNvSpPr/>
          <p:nvPr/>
        </p:nvSpPr>
        <p:spPr>
          <a:xfrm>
            <a:off x="2826105" y="109553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Объект 2"/>
          <p:cNvSpPr txBox="1">
            <a:spLocks/>
          </p:cNvSpPr>
          <p:nvPr/>
        </p:nvSpPr>
        <p:spPr>
          <a:xfrm>
            <a:off x="2934534" y="240197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6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1" name="Объект 2"/>
          <p:cNvSpPr txBox="1">
            <a:spLocks/>
          </p:cNvSpPr>
          <p:nvPr/>
        </p:nvSpPr>
        <p:spPr>
          <a:xfrm>
            <a:off x="2975849" y="119002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КЭДО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этапы 1-2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9" name="Объект 2"/>
          <p:cNvSpPr txBox="1">
            <a:spLocks/>
          </p:cNvSpPr>
          <p:nvPr/>
        </p:nvSpPr>
        <p:spPr>
          <a:xfrm>
            <a:off x="2889595" y="216952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703728" y="3048369"/>
            <a:ext cx="196543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Тестирование/настройка </a:t>
            </a:r>
            <a:r>
              <a:rPr lang="ru-RU" sz="1000" dirty="0" err="1" smtClean="0"/>
              <a:t>продуктива</a:t>
            </a:r>
            <a:r>
              <a:rPr lang="ru-RU" sz="1000" dirty="0" smtClean="0"/>
              <a:t>;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Демонстрация системы для </a:t>
            </a:r>
            <a:r>
              <a:rPr lang="en-US" sz="1000" dirty="0" smtClean="0"/>
              <a:t>HR</a:t>
            </a:r>
            <a:r>
              <a:rPr lang="ru-RU" sz="1000" dirty="0" smtClean="0"/>
              <a:t> и подтверждение старта</a:t>
            </a:r>
            <a:r>
              <a:rPr lang="ru-RU" sz="1000" b="1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Ввод ЛНА и форм по КЭДО;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Коммуникационная кампания для сотрудников;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Поэтапное внедрение КЭДО на компаниях обоих периметров;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Присоединение процесса по сбору документов с финального кандидата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30" name="Прямоугольник 15"/>
          <p:cNvSpPr/>
          <p:nvPr/>
        </p:nvSpPr>
        <p:spPr>
          <a:xfrm>
            <a:off x="310378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MB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ZS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NF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Прямоугольник 15"/>
          <p:cNvSpPr/>
          <p:nvPr/>
        </p:nvSpPr>
        <p:spPr>
          <a:xfrm>
            <a:off x="2855920" y="6222136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NF, MB,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VD, DZ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118161" y="3091272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59" name="Прямоугольник 12"/>
          <p:cNvSpPr/>
          <p:nvPr/>
        </p:nvSpPr>
        <p:spPr>
          <a:xfrm>
            <a:off x="5189390" y="110092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Объект 2"/>
          <p:cNvSpPr txBox="1">
            <a:spLocks/>
          </p:cNvSpPr>
          <p:nvPr/>
        </p:nvSpPr>
        <p:spPr>
          <a:xfrm>
            <a:off x="5297819" y="240736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100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2" name="Объект 2"/>
          <p:cNvSpPr txBox="1">
            <a:spLocks/>
          </p:cNvSpPr>
          <p:nvPr/>
        </p:nvSpPr>
        <p:spPr>
          <a:xfrm>
            <a:off x="5339134" y="1195419"/>
            <a:ext cx="167472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Комитет по кадрам и вознаграждениям 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при СД НР</a:t>
            </a:r>
            <a:r>
              <a:rPr lang="ru-RU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</a:t>
            </a:r>
          </a:p>
        </p:txBody>
      </p:sp>
      <p:sp>
        <p:nvSpPr>
          <p:cNvPr id="63" name="Объект 2"/>
          <p:cNvSpPr txBox="1">
            <a:spLocks/>
          </p:cNvSpPr>
          <p:nvPr/>
        </p:nvSpPr>
        <p:spPr>
          <a:xfrm>
            <a:off x="5252880" y="217491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079975" y="3064054"/>
            <a:ext cx="208670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Утверждение плана работы на 2025 год;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Организация работы комитета;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Удовлетворительная оценка работы Комитета со стороны членов Комитета / СД.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r>
              <a:rPr lang="ru-RU" sz="1000" b="1" u="sng" dirty="0" smtClean="0"/>
              <a:t>Задачи на 2025</a:t>
            </a:r>
            <a:r>
              <a:rPr lang="ru-RU" sz="1000" dirty="0" smtClean="0"/>
              <a:t>:</a:t>
            </a:r>
          </a:p>
          <a:p>
            <a:pPr marL="171450" indent="-171450">
              <a:buFontTx/>
              <a:buChar char="-"/>
            </a:pPr>
            <a:r>
              <a:rPr lang="ru-RU" sz="1000" dirty="0" smtClean="0"/>
              <a:t>Отмена Комиссионной схемы </a:t>
            </a:r>
            <a:r>
              <a:rPr lang="en-GB" sz="1000" dirty="0" smtClean="0"/>
              <a:t>HNWI;</a:t>
            </a:r>
          </a:p>
          <a:p>
            <a:pPr marL="171450" indent="-171450">
              <a:buFontTx/>
              <a:buChar char="-"/>
            </a:pPr>
            <a:r>
              <a:rPr lang="ru-RU" sz="1000" dirty="0" smtClean="0"/>
              <a:t>Утверждение отчета СОТ;</a:t>
            </a:r>
          </a:p>
          <a:p>
            <a:pPr marL="171450" indent="-171450">
              <a:buFontTx/>
              <a:buChar char="-"/>
            </a:pPr>
            <a:r>
              <a:rPr lang="ru-RU" sz="1000" dirty="0" smtClean="0"/>
              <a:t>Вопросы 154-И;</a:t>
            </a:r>
          </a:p>
          <a:p>
            <a:pPr marL="171450" indent="-171450">
              <a:buFontTx/>
              <a:buChar char="-"/>
            </a:pPr>
            <a:r>
              <a:rPr lang="ru-RU" sz="1000" dirty="0" smtClean="0"/>
              <a:t>Вопросы вознаграждения.</a:t>
            </a:r>
          </a:p>
          <a:p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66" name="Прямоугольник 15"/>
          <p:cNvSpPr/>
          <p:nvPr/>
        </p:nvSpPr>
        <p:spPr>
          <a:xfrm>
            <a:off x="5252396" y="6227526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DZ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627510" y="3087433"/>
            <a:ext cx="252467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34" name="Прямоугольник 12"/>
          <p:cNvSpPr/>
          <p:nvPr/>
        </p:nvSpPr>
        <p:spPr>
          <a:xfrm>
            <a:off x="7698739" y="1097087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7807168" y="2403522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Объект 2"/>
          <p:cNvSpPr txBox="1">
            <a:spLocks/>
          </p:cNvSpPr>
          <p:nvPr/>
        </p:nvSpPr>
        <p:spPr>
          <a:xfrm>
            <a:off x="7848483" y="1191580"/>
            <a:ext cx="167472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Изменения в з/п проектах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7762229" y="2171072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04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589324" y="3060215"/>
            <a:ext cx="208670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Утверждение подхода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Выбор з/п проектов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Переход</a:t>
            </a:r>
          </a:p>
          <a:p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4" name="Прямоугольник 15"/>
          <p:cNvSpPr/>
          <p:nvPr/>
        </p:nvSpPr>
        <p:spPr>
          <a:xfrm>
            <a:off x="7761745" y="6223687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DZ</a:t>
            </a:r>
            <a:r>
              <a:rPr lang="ru-RU" sz="1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ZS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38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2"/>
          <p:cNvSpPr/>
          <p:nvPr/>
        </p:nvSpPr>
        <p:spPr>
          <a:xfrm>
            <a:off x="7601444" y="1239655"/>
            <a:ext cx="1914282" cy="1922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бъект 2"/>
          <p:cNvSpPr txBox="1">
            <a:spLocks/>
          </p:cNvSpPr>
          <p:nvPr/>
        </p:nvSpPr>
        <p:spPr>
          <a:xfrm>
            <a:off x="7709873" y="254609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0" name="Объект 2"/>
          <p:cNvSpPr txBox="1">
            <a:spLocks/>
          </p:cNvSpPr>
          <p:nvPr/>
        </p:nvSpPr>
        <p:spPr>
          <a:xfrm>
            <a:off x="7751188" y="1334149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Прогноз 202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и Бюджет 202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1" name="Объект 2"/>
          <p:cNvSpPr txBox="1">
            <a:spLocks/>
          </p:cNvSpPr>
          <p:nvPr/>
        </p:nvSpPr>
        <p:spPr>
          <a:xfrm>
            <a:off x="7664934" y="231364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-12/2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5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Проекты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Reward (1/2)</a:t>
            </a:r>
            <a:endParaRPr lang="ru-RU"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1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Прямоугольник 15"/>
          <p:cNvSpPr/>
          <p:nvPr/>
        </p:nvSpPr>
        <p:spPr>
          <a:xfrm>
            <a:off x="9939135" y="1261034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Объект 2"/>
          <p:cNvSpPr txBox="1">
            <a:spLocks/>
          </p:cNvSpPr>
          <p:nvPr/>
        </p:nvSpPr>
        <p:spPr>
          <a:xfrm>
            <a:off x="10038564" y="1341118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9" name="Объект 2"/>
          <p:cNvSpPr txBox="1">
            <a:spLocks/>
          </p:cNvSpPr>
          <p:nvPr/>
        </p:nvSpPr>
        <p:spPr>
          <a:xfrm>
            <a:off x="10038564" y="2376282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0" name="Объект 2"/>
          <p:cNvSpPr txBox="1">
            <a:spLocks/>
          </p:cNvSpPr>
          <p:nvPr/>
        </p:nvSpPr>
        <p:spPr>
          <a:xfrm>
            <a:off x="10093804" y="2579652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1" name="Прямоугольник 15"/>
          <p:cNvSpPr/>
          <p:nvPr/>
        </p:nvSpPr>
        <p:spPr>
          <a:xfrm>
            <a:off x="9939135" y="1261033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Объект 2"/>
          <p:cNvSpPr txBox="1">
            <a:spLocks/>
          </p:cNvSpPr>
          <p:nvPr/>
        </p:nvSpPr>
        <p:spPr>
          <a:xfrm>
            <a:off x="10038564" y="1296416"/>
            <a:ext cx="1530228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Market Trends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презентации для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4" name="Объект 2"/>
          <p:cNvSpPr txBox="1">
            <a:spLocks/>
          </p:cNvSpPr>
          <p:nvPr/>
        </p:nvSpPr>
        <p:spPr>
          <a:xfrm>
            <a:off x="10043291" y="2296684"/>
            <a:ext cx="1814853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05/25-0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9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5" name="Объект 2"/>
          <p:cNvSpPr txBox="1">
            <a:spLocks/>
          </p:cNvSpPr>
          <p:nvPr/>
        </p:nvSpPr>
        <p:spPr>
          <a:xfrm>
            <a:off x="10043291" y="2597063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100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840670" y="3253769"/>
            <a:ext cx="21112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 smtClean="0"/>
              <a:t>HR Market Trends Workshop</a:t>
            </a:r>
            <a:r>
              <a:rPr lang="ru-RU" sz="1000" dirty="0" smtClean="0"/>
              <a:t> проведен 17 октября 2025</a:t>
            </a:r>
            <a:endParaRPr lang="en-US" sz="1000" dirty="0" smtClean="0">
              <a:solidFill>
                <a:srgbClr val="7030A0"/>
              </a:solidFill>
            </a:endParaRPr>
          </a:p>
        </p:txBody>
      </p:sp>
      <p:sp>
        <p:nvSpPr>
          <p:cNvPr id="67" name="Прямоугольник 12"/>
          <p:cNvSpPr/>
          <p:nvPr/>
        </p:nvSpPr>
        <p:spPr>
          <a:xfrm>
            <a:off x="5203996" y="1231000"/>
            <a:ext cx="1914282" cy="1919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5139228" y="3189050"/>
            <a:ext cx="1979052" cy="14773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smtClean="0"/>
              <a:t>Централизованное участие в </a:t>
            </a:r>
            <a:r>
              <a:rPr lang="ru-RU" dirty="0"/>
              <a:t>обзорах </a:t>
            </a:r>
            <a:r>
              <a:rPr lang="ru-RU" dirty="0" err="1"/>
              <a:t>ТеДо</a:t>
            </a:r>
            <a:r>
              <a:rPr lang="ru-RU" dirty="0"/>
              <a:t>, </a:t>
            </a:r>
            <a:r>
              <a:rPr lang="ru-RU" dirty="0" smtClean="0"/>
              <a:t>АМТ от КИБ Банка </a:t>
            </a:r>
            <a:r>
              <a:rPr lang="en-US" dirty="0" smtClean="0"/>
              <a:t>XXX</a:t>
            </a:r>
            <a:r>
              <a:rPr lang="ru-RU" dirty="0" smtClean="0"/>
              <a:t> </a:t>
            </a:r>
            <a:r>
              <a:rPr lang="ru-RU" dirty="0" smtClean="0"/>
              <a:t>(ПАО)</a:t>
            </a:r>
          </a:p>
          <a:p>
            <a:r>
              <a:rPr lang="ru-RU" dirty="0" smtClean="0"/>
              <a:t>Поиск и участие в </a:t>
            </a:r>
            <a:r>
              <a:rPr lang="ru-RU" dirty="0" err="1" smtClean="0"/>
              <a:t>специлизированных</a:t>
            </a:r>
            <a:r>
              <a:rPr lang="ru-RU" dirty="0" smtClean="0"/>
              <a:t> обзорах КИБ</a:t>
            </a:r>
          </a:p>
          <a:p>
            <a:r>
              <a:rPr lang="ru-RU" dirty="0" smtClean="0"/>
              <a:t>Участие в обзорах ЗП Китая и Индии – </a:t>
            </a:r>
            <a:r>
              <a:rPr lang="en-US" dirty="0" smtClean="0"/>
              <a:t>TBC</a:t>
            </a:r>
          </a:p>
          <a:p>
            <a:r>
              <a:rPr lang="ru-RU" dirty="0" smtClean="0">
                <a:solidFill>
                  <a:srgbClr val="FF0000"/>
                </a:solidFill>
              </a:rPr>
              <a:t>Рынок по </a:t>
            </a:r>
            <a:r>
              <a:rPr lang="ru-RU" dirty="0" err="1" smtClean="0">
                <a:solidFill>
                  <a:srgbClr val="FF0000"/>
                </a:solidFill>
              </a:rPr>
              <a:t>бенефитам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9" name="Объект 2"/>
          <p:cNvSpPr txBox="1">
            <a:spLocks/>
          </p:cNvSpPr>
          <p:nvPr/>
        </p:nvSpPr>
        <p:spPr>
          <a:xfrm>
            <a:off x="5313267" y="2368438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10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0" name="Объект 2"/>
          <p:cNvSpPr txBox="1">
            <a:spLocks/>
          </p:cNvSpPr>
          <p:nvPr/>
        </p:nvSpPr>
        <p:spPr>
          <a:xfrm>
            <a:off x="5270438" y="254127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1" name="Объект 2"/>
          <p:cNvSpPr txBox="1">
            <a:spLocks/>
          </p:cNvSpPr>
          <p:nvPr/>
        </p:nvSpPr>
        <p:spPr>
          <a:xfrm>
            <a:off x="5313267" y="1320312"/>
            <a:ext cx="1732276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Рыночные данные: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подход, </a:t>
            </a:r>
            <a:r>
              <a:rPr lang="en-GB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peer group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, обзоры, участие, закупка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2" name="Прямоугольник 12"/>
          <p:cNvSpPr/>
          <p:nvPr/>
        </p:nvSpPr>
        <p:spPr>
          <a:xfrm>
            <a:off x="493226" y="1242340"/>
            <a:ext cx="1914282" cy="1919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3" name="Объект 2"/>
          <p:cNvSpPr txBox="1">
            <a:spLocks/>
          </p:cNvSpPr>
          <p:nvPr/>
        </p:nvSpPr>
        <p:spPr>
          <a:xfrm>
            <a:off x="428458" y="3200390"/>
            <a:ext cx="1979052" cy="20928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en-GB" dirty="0" smtClean="0"/>
              <a:t>Lessons Learned YE 2024</a:t>
            </a:r>
            <a:r>
              <a:rPr lang="ru-RU" dirty="0" smtClean="0"/>
              <a:t> проведен</a:t>
            </a:r>
            <a:endParaRPr lang="en-GB" dirty="0" smtClean="0"/>
          </a:p>
          <a:p>
            <a:r>
              <a:rPr lang="ru-RU" dirty="0" smtClean="0"/>
              <a:t>Работа с ошибками системы </a:t>
            </a:r>
            <a:r>
              <a:rPr lang="en-US" dirty="0" smtClean="0"/>
              <a:t>COMP</a:t>
            </a:r>
            <a:endParaRPr lang="ru-RU" dirty="0" smtClean="0"/>
          </a:p>
          <a:p>
            <a:r>
              <a:rPr lang="ru-RU" dirty="0" smtClean="0"/>
              <a:t>Техническая документация по </a:t>
            </a:r>
            <a:r>
              <a:rPr lang="en-US" dirty="0" smtClean="0"/>
              <a:t>YE </a:t>
            </a:r>
            <a:r>
              <a:rPr lang="ru-RU" dirty="0" smtClean="0"/>
              <a:t>системам</a:t>
            </a:r>
          </a:p>
          <a:p>
            <a:r>
              <a:rPr lang="ru-RU" dirty="0" smtClean="0"/>
              <a:t>Подготовка инструкций Администратора</a:t>
            </a:r>
          </a:p>
          <a:p>
            <a:r>
              <a:rPr lang="en-US" dirty="0" smtClean="0"/>
              <a:t>N&amp;C </a:t>
            </a:r>
            <a:r>
              <a:rPr lang="ru-RU" dirty="0" smtClean="0"/>
              <a:t>запущен</a:t>
            </a:r>
          </a:p>
          <a:p>
            <a:r>
              <a:rPr lang="ru-RU" dirty="0" smtClean="0"/>
              <a:t>Подготовка к запуску </a:t>
            </a:r>
            <a:r>
              <a:rPr lang="en-US" dirty="0" smtClean="0"/>
              <a:t>R1 FO </a:t>
            </a:r>
            <a:r>
              <a:rPr lang="ru-RU" dirty="0" smtClean="0"/>
              <a:t>и сбору рейтингов</a:t>
            </a:r>
          </a:p>
          <a:p>
            <a:endParaRPr lang="en-GB" dirty="0" smtClean="0"/>
          </a:p>
          <a:p>
            <a:endParaRPr lang="ru-RU" dirty="0"/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602497" y="234737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08/2</a:t>
            </a:r>
            <a:r>
              <a:rPr lang="en-GB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03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5" name="Объект 2"/>
          <p:cNvSpPr txBox="1">
            <a:spLocks/>
          </p:cNvSpPr>
          <p:nvPr/>
        </p:nvSpPr>
        <p:spPr>
          <a:xfrm>
            <a:off x="559668" y="255261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6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6" name="Объект 2"/>
          <p:cNvSpPr txBox="1">
            <a:spLocks/>
          </p:cNvSpPr>
          <p:nvPr/>
        </p:nvSpPr>
        <p:spPr>
          <a:xfrm>
            <a:off x="602497" y="1331652"/>
            <a:ext cx="1732276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Year End 2025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7" name="Прямоугольник 15"/>
          <p:cNvSpPr/>
          <p:nvPr/>
        </p:nvSpPr>
        <p:spPr>
          <a:xfrm>
            <a:off x="310378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SO, EA, EE, AF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8" name="Прямоугольник 15"/>
          <p:cNvSpPr/>
          <p:nvPr/>
        </p:nvSpPr>
        <p:spPr>
          <a:xfrm>
            <a:off x="2812743" y="1231000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9" name="Объект 2"/>
          <p:cNvSpPr txBox="1">
            <a:spLocks/>
          </p:cNvSpPr>
          <p:nvPr/>
        </p:nvSpPr>
        <p:spPr>
          <a:xfrm>
            <a:off x="2915458" y="130697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Salary review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80" name="Объект 2"/>
          <p:cNvSpPr txBox="1">
            <a:spLocks/>
          </p:cNvSpPr>
          <p:nvPr/>
        </p:nvSpPr>
        <p:spPr>
          <a:xfrm>
            <a:off x="2890745" y="2283753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05/25-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81" name="Объект 2"/>
          <p:cNvSpPr txBox="1">
            <a:spLocks/>
          </p:cNvSpPr>
          <p:nvPr/>
        </p:nvSpPr>
        <p:spPr>
          <a:xfrm>
            <a:off x="2935393" y="254550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2712480" y="3246421"/>
            <a:ext cx="2111211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Подготовка и проведение пересмотра ЗП</a:t>
            </a:r>
          </a:p>
          <a:p>
            <a:pPr lvl="1"/>
            <a:r>
              <a:rPr lang="ru-RU" sz="1000" dirty="0" smtClean="0"/>
              <a:t>в юр. лицах СП и НП – в июле 2025 </a:t>
            </a:r>
          </a:p>
          <a:p>
            <a:pPr lvl="1"/>
            <a:r>
              <a:rPr lang="ru-RU" sz="1000" dirty="0" smtClean="0"/>
              <a:t>В Банке </a:t>
            </a:r>
            <a:r>
              <a:rPr lang="en-US" sz="1000" dirty="0" smtClean="0"/>
              <a:t>XXX</a:t>
            </a:r>
            <a:r>
              <a:rPr lang="ru-RU" sz="1000" dirty="0" smtClean="0"/>
              <a:t> </a:t>
            </a:r>
            <a:r>
              <a:rPr lang="ru-RU" sz="1000" dirty="0" smtClean="0"/>
              <a:t>– в июле 2025 и декабре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83" name="Прямоугольник 15"/>
          <p:cNvSpPr/>
          <p:nvPr/>
        </p:nvSpPr>
        <p:spPr>
          <a:xfrm>
            <a:off x="2810944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DZ,</a:t>
            </a:r>
            <a:r>
              <a:rPr lang="ru-RU" sz="1200" dirty="0" smtClean="0">
                <a:solidFill>
                  <a:schemeClr val="tx1"/>
                </a:solidFill>
              </a:rPr>
              <a:t> </a:t>
            </a:r>
            <a:r>
              <a:rPr lang="en-US" sz="1200" dirty="0" smtClean="0">
                <a:solidFill>
                  <a:schemeClr val="tx1"/>
                </a:solidFill>
              </a:rPr>
              <a:t>SO, EE, EC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84" name="Прямоугольник 15"/>
          <p:cNvSpPr/>
          <p:nvPr/>
        </p:nvSpPr>
        <p:spPr>
          <a:xfrm>
            <a:off x="5171613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SO, EE, AF, EC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6" name="Прямоугольник 15"/>
          <p:cNvSpPr/>
          <p:nvPr/>
        </p:nvSpPr>
        <p:spPr>
          <a:xfrm>
            <a:off x="7559161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EE, EA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7" name="Прямоугольник 15"/>
          <p:cNvSpPr/>
          <p:nvPr/>
        </p:nvSpPr>
        <p:spPr>
          <a:xfrm>
            <a:off x="9993576" y="6240092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DZ, SO, AF, EC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740931"/>
      </p:ext>
    </p:extLst>
  </p:cSld>
  <p:clrMapOvr>
    <a:masterClrMapping/>
  </p:clrMapOvr>
  <p:transition spd="med"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Проекты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 Reward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 (2</a:t>
            </a:r>
            <a:r>
              <a:rPr lang="en-US" sz="3000" b="1" dirty="0" smtClean="0">
                <a:solidFill>
                  <a:schemeClr val="accent6">
                    <a:lumMod val="50000"/>
                  </a:schemeClr>
                </a:solidFill>
              </a:rPr>
              <a:t>/2)</a:t>
            </a:r>
            <a:endParaRPr lang="ru-RU" sz="3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1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Прямоугольник 12"/>
          <p:cNvSpPr/>
          <p:nvPr/>
        </p:nvSpPr>
        <p:spPr>
          <a:xfrm>
            <a:off x="493226" y="1242340"/>
            <a:ext cx="1914282" cy="1919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3" name="Объект 2"/>
          <p:cNvSpPr txBox="1">
            <a:spLocks/>
          </p:cNvSpPr>
          <p:nvPr/>
        </p:nvSpPr>
        <p:spPr>
          <a:xfrm>
            <a:off x="428458" y="3200390"/>
            <a:ext cx="1979052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smtClean="0"/>
              <a:t>Продление договоров ДМС, НС, </a:t>
            </a:r>
            <a:r>
              <a:rPr lang="ru-RU" dirty="0" err="1" smtClean="0"/>
              <a:t>Онко</a:t>
            </a:r>
            <a:endParaRPr lang="ru-RU" dirty="0" smtClean="0"/>
          </a:p>
          <a:p>
            <a:endParaRPr lang="en-GB" dirty="0" smtClean="0"/>
          </a:p>
          <a:p>
            <a:endParaRPr lang="ru-RU" dirty="0"/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602497" y="234737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5" name="Объект 2"/>
          <p:cNvSpPr txBox="1">
            <a:spLocks/>
          </p:cNvSpPr>
          <p:nvPr/>
        </p:nvSpPr>
        <p:spPr>
          <a:xfrm>
            <a:off x="559668" y="255261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6" name="Объект 2"/>
          <p:cNvSpPr txBox="1">
            <a:spLocks/>
          </p:cNvSpPr>
          <p:nvPr/>
        </p:nvSpPr>
        <p:spPr>
          <a:xfrm>
            <a:off x="602497" y="1331652"/>
            <a:ext cx="1732276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Поддержка и развитие ДМС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НС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</a:t>
            </a: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Онко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для НП и СП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7" name="Прямоугольник 15"/>
          <p:cNvSpPr/>
          <p:nvPr/>
        </p:nvSpPr>
        <p:spPr>
          <a:xfrm>
            <a:off x="310378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EC, EE, SO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7" name="Прямоугольник 12"/>
          <p:cNvSpPr/>
          <p:nvPr/>
        </p:nvSpPr>
        <p:spPr>
          <a:xfrm>
            <a:off x="2909855" y="1253774"/>
            <a:ext cx="1914282" cy="19196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бъект 2"/>
          <p:cNvSpPr txBox="1">
            <a:spLocks/>
          </p:cNvSpPr>
          <p:nvPr/>
        </p:nvSpPr>
        <p:spPr>
          <a:xfrm>
            <a:off x="2845087" y="3211824"/>
            <a:ext cx="1979052" cy="16312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171450" indent="-171450">
              <a:buFont typeface="Arial" panose="020B0604020202020204" pitchFamily="34" charset="0"/>
              <a:buChar char="•"/>
              <a:defRPr sz="1000"/>
            </a:lvl1pPr>
          </a:lstStyle>
          <a:p>
            <a:r>
              <a:rPr lang="ru-RU" dirty="0" smtClean="0"/>
              <a:t>Поддержка при выходе на пенсию</a:t>
            </a:r>
            <a:r>
              <a:rPr lang="en-US" dirty="0" smtClean="0"/>
              <a:t>;</a:t>
            </a:r>
            <a:endParaRPr lang="ru-RU" dirty="0" smtClean="0"/>
          </a:p>
          <a:p>
            <a:r>
              <a:rPr lang="ru-RU" dirty="0" smtClean="0"/>
              <a:t>Разработка программы </a:t>
            </a:r>
            <a:r>
              <a:rPr lang="ru-RU" dirty="0"/>
              <a:t>поощрения за </a:t>
            </a:r>
            <a:r>
              <a:rPr lang="ru-RU" dirty="0" smtClean="0"/>
              <a:t>стаж.</a:t>
            </a:r>
          </a:p>
          <a:p>
            <a:r>
              <a:rPr lang="ru-RU" dirty="0"/>
              <a:t>Формулировка предложений и реализация программ </a:t>
            </a:r>
            <a:r>
              <a:rPr lang="ru-RU" dirty="0" err="1"/>
              <a:t>Well-being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 smtClean="0"/>
          </a:p>
          <a:p>
            <a:endParaRPr lang="en-GB" dirty="0" smtClean="0"/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3019126" y="235880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2976297" y="256404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30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2" name="Объект 2"/>
          <p:cNvSpPr txBox="1">
            <a:spLocks/>
          </p:cNvSpPr>
          <p:nvPr/>
        </p:nvSpPr>
        <p:spPr>
          <a:xfrm>
            <a:off x="3019126" y="1343086"/>
            <a:ext cx="1732276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Переосмысление </a:t>
            </a:r>
            <a:r>
              <a:rPr lang="ru-RU" b="1" dirty="0" err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бенефитов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и программ </a:t>
            </a:r>
            <a:r>
              <a:rPr lang="ru-RU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well-being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3" name="Прямоугольник 15"/>
          <p:cNvSpPr/>
          <p:nvPr/>
        </p:nvSpPr>
        <p:spPr>
          <a:xfrm>
            <a:off x="2727007" y="6250521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tx1"/>
                </a:solidFill>
              </a:rPr>
              <a:t>DZ, SO, EE, EC, AF</a:t>
            </a: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664742"/>
      </p:ext>
    </p:extLst>
  </p:cSld>
  <p:clrMapOvr>
    <a:masterClrMapping/>
  </p:clrMapOvr>
  <p:transition spd="med" advClick="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ХХХБ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процессы и системы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8" name="Прямоугольник 12"/>
          <p:cNvSpPr/>
          <p:nvPr/>
        </p:nvSpPr>
        <p:spPr>
          <a:xfrm>
            <a:off x="525964" y="1107012"/>
            <a:ext cx="1986623" cy="19158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653567" y="1206232"/>
            <a:ext cx="1937022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Оценка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переоценка должностей Банка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ХХХ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(ПАО)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3" name="Объект 2"/>
          <p:cNvSpPr txBox="1">
            <a:spLocks/>
          </p:cNvSpPr>
          <p:nvPr/>
        </p:nvSpPr>
        <p:spPr>
          <a:xfrm>
            <a:off x="613807" y="2191857"/>
            <a:ext cx="1306135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88" name="Прямоугольник 15"/>
          <p:cNvSpPr/>
          <p:nvPr/>
        </p:nvSpPr>
        <p:spPr>
          <a:xfrm>
            <a:off x="5380381" y="1107013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Объект 2"/>
          <p:cNvSpPr txBox="1">
            <a:spLocks/>
          </p:cNvSpPr>
          <p:nvPr/>
        </p:nvSpPr>
        <p:spPr>
          <a:xfrm>
            <a:off x="5483096" y="1182988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Управление ШР 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XXX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90" name="Объект 2"/>
          <p:cNvSpPr txBox="1">
            <a:spLocks/>
          </p:cNvSpPr>
          <p:nvPr/>
        </p:nvSpPr>
        <p:spPr>
          <a:xfrm>
            <a:off x="5458383" y="215976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/25-12/25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91" name="Объект 2"/>
          <p:cNvSpPr txBox="1">
            <a:spLocks/>
          </p:cNvSpPr>
          <p:nvPr/>
        </p:nvSpPr>
        <p:spPr>
          <a:xfrm>
            <a:off x="5503031" y="2421522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70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5281916" y="3097270"/>
            <a:ext cx="211121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Управление штатным расписанием КИБ ГО и Рег. Сети. </a:t>
            </a: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Проверка и корректировка кадровых и организационных изменений на соответствие принципам </a:t>
            </a:r>
            <a:r>
              <a:rPr lang="en-US" sz="1000" dirty="0" smtClean="0"/>
              <a:t>Reward </a:t>
            </a:r>
            <a:r>
              <a:rPr lang="ru-RU" sz="1000" dirty="0" smtClean="0"/>
              <a:t>и правилам Банка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Контроль штатной численности и ФОТ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Управление функциональной структурой КИБ в ЕАСУП, поддержка текущих сервисов ЕАСУП.</a:t>
            </a:r>
            <a:endParaRPr lang="en-US" sz="1000" dirty="0" smtClean="0"/>
          </a:p>
        </p:txBody>
      </p:sp>
      <p:sp>
        <p:nvSpPr>
          <p:cNvPr id="98" name="Прямоугольник 15"/>
          <p:cNvSpPr/>
          <p:nvPr/>
        </p:nvSpPr>
        <p:spPr>
          <a:xfrm>
            <a:off x="7743276" y="1092630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Объект 2"/>
          <p:cNvSpPr txBox="1">
            <a:spLocks/>
          </p:cNvSpPr>
          <p:nvPr/>
        </p:nvSpPr>
        <p:spPr>
          <a:xfrm>
            <a:off x="7845990" y="1168605"/>
            <a:ext cx="1811567" cy="99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Системы </a:t>
            </a:r>
            <a:r>
              <a:rPr lang="en-US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XXX</a:t>
            </a: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</a:t>
            </a: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1. Бюджетная система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2. Пересмотр ЗП</a:t>
            </a: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3. </a:t>
            </a:r>
            <a:r>
              <a:rPr lang="en-US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HR-</a:t>
            </a: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система для Шанхая</a:t>
            </a:r>
            <a:endParaRPr lang="en-US" sz="1200" b="1" dirty="0" smtClean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  <a:p>
            <a:pPr marL="0" indent="0">
              <a:spcBef>
                <a:spcPts val="0"/>
              </a:spcBef>
              <a:buFont typeface="Arial" charset="0"/>
              <a:buNone/>
            </a:pPr>
            <a:r>
              <a:rPr lang="en-US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4. </a:t>
            </a:r>
            <a:r>
              <a:rPr lang="ru-RU" sz="1200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Сервисы ЕАСУП</a:t>
            </a:r>
            <a:endParaRPr lang="ru-RU" sz="1200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0" name="Объект 2"/>
          <p:cNvSpPr txBox="1">
            <a:spLocks/>
          </p:cNvSpPr>
          <p:nvPr/>
        </p:nvSpPr>
        <p:spPr>
          <a:xfrm>
            <a:off x="7845990" y="2230957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/25-12/25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1" name="Объект 2"/>
          <p:cNvSpPr txBox="1">
            <a:spLocks/>
          </p:cNvSpPr>
          <p:nvPr/>
        </p:nvSpPr>
        <p:spPr>
          <a:xfrm>
            <a:off x="7865926" y="240713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7643013" y="3108051"/>
            <a:ext cx="21112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Обеспечение результата для КИБ в проектах </a:t>
            </a:r>
            <a:r>
              <a:rPr lang="ru-RU" sz="900" dirty="0" err="1" smtClean="0"/>
              <a:t>импортозамещения</a:t>
            </a:r>
            <a:r>
              <a:rPr lang="ru-RU" sz="900" dirty="0" smtClean="0"/>
              <a:t> </a:t>
            </a:r>
            <a:r>
              <a:rPr lang="en-US" sz="900" dirty="0" err="1" smtClean="0"/>
              <a:t>iCost</a:t>
            </a:r>
            <a:r>
              <a:rPr lang="en-US" sz="900" dirty="0" smtClean="0"/>
              <a:t> (</a:t>
            </a:r>
            <a:r>
              <a:rPr lang="en-US" sz="900" dirty="0" err="1" smtClean="0"/>
              <a:t>Cubix</a:t>
            </a:r>
            <a:r>
              <a:rPr lang="en-US" sz="900" dirty="0" smtClean="0"/>
              <a:t>)</a:t>
            </a:r>
            <a:r>
              <a:rPr lang="ru-RU" sz="900" dirty="0" smtClean="0"/>
              <a:t> и </a:t>
            </a:r>
            <a:r>
              <a:rPr lang="en-US" sz="900" dirty="0" smtClean="0"/>
              <a:t> SAP</a:t>
            </a:r>
            <a:r>
              <a:rPr lang="ru-RU" sz="900" dirty="0" smtClean="0"/>
              <a:t>. Этап - разработка</a:t>
            </a:r>
            <a:r>
              <a:rPr lang="en-US" sz="9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Обеспечение результата для КИБ </a:t>
            </a:r>
            <a:r>
              <a:rPr lang="ru-RU" sz="900" dirty="0" smtClean="0"/>
              <a:t>в рабочей группе проекта по миграции ОС Банка на </a:t>
            </a:r>
            <a:r>
              <a:rPr lang="en-US" sz="900" dirty="0" smtClean="0"/>
              <a:t>Astra Linux </a:t>
            </a:r>
            <a:r>
              <a:rPr lang="ru-RU" sz="900" dirty="0" smtClean="0"/>
              <a:t>и Мой Офис от УРП КИБ;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Обеспечение результата для КИБ в </a:t>
            </a:r>
            <a:r>
              <a:rPr lang="ru-RU" sz="900" dirty="0" smtClean="0"/>
              <a:t>проекте разработки системы пересмотра ЗП (в связи с отказом от </a:t>
            </a:r>
            <a:r>
              <a:rPr lang="en-US" sz="900" dirty="0" smtClean="0"/>
              <a:t>Excel</a:t>
            </a:r>
            <a:r>
              <a:rPr lang="ru-RU" sz="900" dirty="0"/>
              <a:t> </a:t>
            </a:r>
            <a:r>
              <a:rPr lang="ru-RU" sz="900" dirty="0" smtClean="0"/>
              <a:t>Банка </a:t>
            </a:r>
            <a:r>
              <a:rPr lang="en-US" sz="900" dirty="0" smtClean="0"/>
              <a:t>XXX</a:t>
            </a:r>
            <a:r>
              <a:rPr lang="ru-RU" sz="900" dirty="0" smtClean="0"/>
              <a:t> </a:t>
            </a:r>
            <a:r>
              <a:rPr lang="ru-RU" sz="900" dirty="0" smtClean="0"/>
              <a:t>(ПАО) с 2025-го года). </a:t>
            </a:r>
            <a:endParaRPr lang="en-US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Запуск </a:t>
            </a:r>
            <a:r>
              <a:rPr lang="en-US" sz="900" dirty="0" smtClean="0"/>
              <a:t>HR</a:t>
            </a:r>
            <a:r>
              <a:rPr lang="ru-RU" sz="900" dirty="0" smtClean="0"/>
              <a:t>-системы для Филиала Банка </a:t>
            </a:r>
            <a:r>
              <a:rPr lang="en-US" sz="900" dirty="0" smtClean="0"/>
              <a:t>XXX</a:t>
            </a:r>
            <a:r>
              <a:rPr lang="ru-RU" sz="900" dirty="0" smtClean="0"/>
              <a:t> </a:t>
            </a:r>
            <a:r>
              <a:rPr lang="ru-RU" sz="900" dirty="0" smtClean="0"/>
              <a:t>(ПАО) в г. Шанхай со стороны УРП КИБ.</a:t>
            </a:r>
            <a:endParaRPr lang="en-US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Обеспечение результата для КИБ </a:t>
            </a:r>
            <a:r>
              <a:rPr lang="ru-RU" sz="900" dirty="0" smtClean="0"/>
              <a:t>в проекте </a:t>
            </a:r>
            <a:r>
              <a:rPr lang="ru-RU" sz="900" dirty="0" err="1" smtClean="0"/>
              <a:t>импортозамещения</a:t>
            </a:r>
            <a:r>
              <a:rPr lang="ru-RU" sz="900" dirty="0" smtClean="0"/>
              <a:t> сервисов ЕАСУП. </a:t>
            </a:r>
            <a:endParaRPr lang="en-US" sz="900" dirty="0" smtClean="0"/>
          </a:p>
        </p:txBody>
      </p:sp>
      <p:sp>
        <p:nvSpPr>
          <p:cNvPr id="103" name="Rectangle 102"/>
          <p:cNvSpPr/>
          <p:nvPr/>
        </p:nvSpPr>
        <p:spPr>
          <a:xfrm>
            <a:off x="463669" y="3128998"/>
            <a:ext cx="211121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Регулярное участие в оценке </a:t>
            </a:r>
            <a:r>
              <a:rPr lang="ru-RU" sz="1000" dirty="0"/>
              <a:t>/ </a:t>
            </a:r>
            <a:r>
              <a:rPr lang="ru-RU" sz="1000" dirty="0" smtClean="0"/>
              <a:t>переоценке </a:t>
            </a:r>
            <a:r>
              <a:rPr lang="ru-RU" sz="1000" dirty="0"/>
              <a:t>должностей (КК / ОЦК</a:t>
            </a:r>
            <a:r>
              <a:rPr lang="ru-RU" sz="1000" dirty="0" smtClean="0"/>
              <a:t>) – </a:t>
            </a:r>
            <a:r>
              <a:rPr lang="en-GB" sz="1000" dirty="0" smtClean="0"/>
              <a:t>Hay – </a:t>
            </a:r>
            <a:r>
              <a:rPr lang="ru-RU" sz="1000" dirty="0" smtClean="0"/>
              <a:t>помощь в заполнении шаблонов; применение методологии оценки должностей; проверка и подготовка финальных материалов для оценки или переоценки позиций, анкеты, формирование оценочных линий</a:t>
            </a:r>
          </a:p>
        </p:txBody>
      </p:sp>
      <p:sp>
        <p:nvSpPr>
          <p:cNvPr id="104" name="Прямоугольник 15"/>
          <p:cNvSpPr/>
          <p:nvPr/>
        </p:nvSpPr>
        <p:spPr>
          <a:xfrm>
            <a:off x="10106171" y="1088037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05" name="Объект 2"/>
          <p:cNvSpPr txBox="1">
            <a:spLocks/>
          </p:cNvSpPr>
          <p:nvPr/>
        </p:nvSpPr>
        <p:spPr>
          <a:xfrm>
            <a:off x="10208886" y="1164012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Бенефиты в Индии и Китае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6" name="Объект 2"/>
          <p:cNvSpPr txBox="1">
            <a:spLocks/>
          </p:cNvSpPr>
          <p:nvPr/>
        </p:nvSpPr>
        <p:spPr>
          <a:xfrm>
            <a:off x="10228821" y="223773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9/2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7" name="Объект 2"/>
          <p:cNvSpPr txBox="1">
            <a:spLocks/>
          </p:cNvSpPr>
          <p:nvPr/>
        </p:nvSpPr>
        <p:spPr>
          <a:xfrm>
            <a:off x="10228821" y="2402546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13" name="Прямоугольник 12"/>
          <p:cNvSpPr/>
          <p:nvPr/>
        </p:nvSpPr>
        <p:spPr>
          <a:xfrm>
            <a:off x="2989343" y="1108563"/>
            <a:ext cx="1914282" cy="1922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Объект 2"/>
          <p:cNvSpPr txBox="1">
            <a:spLocks/>
          </p:cNvSpPr>
          <p:nvPr/>
        </p:nvSpPr>
        <p:spPr>
          <a:xfrm>
            <a:off x="3097772" y="241499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70%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15" name="Объект 2"/>
          <p:cNvSpPr txBox="1">
            <a:spLocks/>
          </p:cNvSpPr>
          <p:nvPr/>
        </p:nvSpPr>
        <p:spPr>
          <a:xfrm>
            <a:off x="3139087" y="1203057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XXX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: процессы вознаграждения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16" name="Объект 2"/>
          <p:cNvSpPr txBox="1">
            <a:spLocks/>
          </p:cNvSpPr>
          <p:nvPr/>
        </p:nvSpPr>
        <p:spPr>
          <a:xfrm>
            <a:off x="3052833" y="218254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01/2</a:t>
            </a:r>
            <a:r>
              <a:rPr lang="en-US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-12/2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17" name="Rectangle 116"/>
          <p:cNvSpPr/>
          <p:nvPr/>
        </p:nvSpPr>
        <p:spPr>
          <a:xfrm>
            <a:off x="2917223" y="3122434"/>
            <a:ext cx="21112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Лидирование в процессе квартального и годового премирования сотрудников региональной сети КИБ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Процесс ежегодного сбора номинаций, проверки и утверждения наград/благодарностей.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Процесс сбора номинаций на корпоративные титулы Банка </a:t>
            </a:r>
            <a:r>
              <a:rPr lang="en-US" sz="1000" dirty="0" smtClean="0"/>
              <a:t>XXX</a:t>
            </a:r>
            <a:r>
              <a:rPr lang="ru-RU" sz="1000" dirty="0" smtClean="0"/>
              <a:t> </a:t>
            </a:r>
            <a:r>
              <a:rPr lang="ru-RU" sz="1000" dirty="0" smtClean="0"/>
              <a:t>(ПАО).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Подготовка материалов на КК.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Подготовка материалов по пересмотру заработной платы в Филиалах Банка </a:t>
            </a:r>
            <a:r>
              <a:rPr lang="en-US" sz="1000" dirty="0" smtClean="0"/>
              <a:t>XXX</a:t>
            </a:r>
            <a:r>
              <a:rPr lang="ru-RU" sz="1000" dirty="0" smtClean="0"/>
              <a:t> </a:t>
            </a:r>
            <a:r>
              <a:rPr lang="ru-RU" sz="1000" dirty="0" smtClean="0"/>
              <a:t>(ПАО) в г. Шанхай и г. Нью-Дели в 2026-м году.</a:t>
            </a:r>
          </a:p>
        </p:txBody>
      </p:sp>
      <p:sp>
        <p:nvSpPr>
          <p:cNvPr id="118" name="Объект 2"/>
          <p:cNvSpPr txBox="1">
            <a:spLocks/>
          </p:cNvSpPr>
          <p:nvPr/>
        </p:nvSpPr>
        <p:spPr>
          <a:xfrm>
            <a:off x="613807" y="240259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19" name="Прямоугольник 15"/>
          <p:cNvSpPr/>
          <p:nvPr/>
        </p:nvSpPr>
        <p:spPr>
          <a:xfrm>
            <a:off x="421780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EC, KM,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SO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0" name="Прямоугольник 15"/>
          <p:cNvSpPr/>
          <p:nvPr/>
        </p:nvSpPr>
        <p:spPr>
          <a:xfrm>
            <a:off x="2892489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EC, SO, EE, KM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1" name="Прямоугольник 15"/>
          <p:cNvSpPr/>
          <p:nvPr/>
        </p:nvSpPr>
        <p:spPr>
          <a:xfrm>
            <a:off x="5311004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KM, EC, EE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2" name="Прямоугольник 15"/>
          <p:cNvSpPr/>
          <p:nvPr/>
        </p:nvSpPr>
        <p:spPr>
          <a:xfrm>
            <a:off x="7766345" y="621148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SO, EC, KM, VD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3" name="Прямоугольник 15"/>
          <p:cNvSpPr/>
          <p:nvPr/>
        </p:nvSpPr>
        <p:spPr>
          <a:xfrm>
            <a:off x="10104372" y="620632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KM, </a:t>
            </a:r>
            <a:r>
              <a:rPr lang="en-GB" sz="1200" dirty="0" smtClean="0">
                <a:solidFill>
                  <a:schemeClr val="tx1"/>
                </a:solidFill>
              </a:rPr>
              <a:t>SO, EE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0004110" y="3103458"/>
            <a:ext cx="2113009" cy="1992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50" dirty="0" smtClean="0"/>
              <a:t>Анализ действующих условий на предмет соответствия рыночным практикам.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50" dirty="0" smtClean="0"/>
              <a:t>Выработка предложений по улучшениям.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50" dirty="0" smtClean="0"/>
              <a:t>Китай – добавляется покрытие ДМС супругов за счёт работника.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50" dirty="0" smtClean="0"/>
              <a:t>Нью-Дели – увеличение лимитов по аренде и мед. расходам после утверждения КК (ориентировочно, в ноябре-декабре 2025).</a:t>
            </a:r>
          </a:p>
        </p:txBody>
      </p:sp>
      <p:cxnSp>
        <p:nvCxnSpPr>
          <p:cNvPr id="34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9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12"/>
          <p:cNvSpPr/>
          <p:nvPr/>
        </p:nvSpPr>
        <p:spPr>
          <a:xfrm>
            <a:off x="3064953" y="1098849"/>
            <a:ext cx="1914282" cy="1922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бъект 2"/>
          <p:cNvSpPr txBox="1">
            <a:spLocks/>
          </p:cNvSpPr>
          <p:nvPr/>
        </p:nvSpPr>
        <p:spPr>
          <a:xfrm>
            <a:off x="3173382" y="2405285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0" name="Объект 2"/>
          <p:cNvSpPr txBox="1">
            <a:spLocks/>
          </p:cNvSpPr>
          <p:nvPr/>
        </p:nvSpPr>
        <p:spPr>
          <a:xfrm>
            <a:off x="3214697" y="1193343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Self-service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на портале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1" name="Объект 2"/>
          <p:cNvSpPr txBox="1">
            <a:spLocks/>
          </p:cNvSpPr>
          <p:nvPr/>
        </p:nvSpPr>
        <p:spPr>
          <a:xfrm>
            <a:off x="3128443" y="217283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-11/2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956031" y="3113062"/>
            <a:ext cx="211121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Заявка на </a:t>
            </a:r>
            <a:r>
              <a:rPr lang="ru-RU" sz="1000" dirty="0"/>
              <a:t>прикрепление </a:t>
            </a:r>
            <a:r>
              <a:rPr lang="ru-RU" sz="1000" dirty="0" smtClean="0"/>
              <a:t>родственников к ДМС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График отпусков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Заявка на </a:t>
            </a:r>
            <a:r>
              <a:rPr lang="en-US" sz="1000" dirty="0" smtClean="0"/>
              <a:t>overtime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58" name="Заголовок 1"/>
          <p:cNvSpPr>
            <a:spLocks noGrp="1"/>
          </p:cNvSpPr>
          <p:nvPr>
            <p:ph type="title"/>
          </p:nvPr>
        </p:nvSpPr>
        <p:spPr>
          <a:xfrm>
            <a:off x="382588" y="390763"/>
            <a:ext cx="11152920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Проекты </a:t>
            </a:r>
            <a:r>
              <a:rPr lang="en-GB" sz="3000" b="1" dirty="0" smtClean="0">
                <a:solidFill>
                  <a:schemeClr val="accent6">
                    <a:lumMod val="50000"/>
                  </a:schemeClr>
                </a:solidFill>
              </a:rPr>
              <a:t>Change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 –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Системы и решения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 (1)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59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Прямоугольник 15"/>
          <p:cNvSpPr/>
          <p:nvPr/>
        </p:nvSpPr>
        <p:spPr>
          <a:xfrm>
            <a:off x="3022670" y="623392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5" name="Объект 2"/>
          <p:cNvSpPr txBox="1">
            <a:spLocks/>
          </p:cNvSpPr>
          <p:nvPr/>
        </p:nvSpPr>
        <p:spPr>
          <a:xfrm>
            <a:off x="6007973" y="1180485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endParaRPr lang="ru-RU" dirty="0">
              <a:solidFill>
                <a:srgbClr val="FFFF00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6" name="Объект 2"/>
          <p:cNvSpPr txBox="1">
            <a:spLocks/>
          </p:cNvSpPr>
          <p:nvPr/>
        </p:nvSpPr>
        <p:spPr>
          <a:xfrm>
            <a:off x="6027908" y="241901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07" name="Прямоугольник 12"/>
          <p:cNvSpPr/>
          <p:nvPr/>
        </p:nvSpPr>
        <p:spPr>
          <a:xfrm>
            <a:off x="5864925" y="1100401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Объект 2"/>
          <p:cNvSpPr txBox="1">
            <a:spLocks/>
          </p:cNvSpPr>
          <p:nvPr/>
        </p:nvSpPr>
        <p:spPr>
          <a:xfrm>
            <a:off x="5973871" y="1174961"/>
            <a:ext cx="1805336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Бюджетная система: 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пересмотр процессов, документация, оптимизация, отчеты</a:t>
            </a:r>
            <a:endParaRPr lang="en-US" dirty="0" smtClean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109" name="Объект 2"/>
          <p:cNvSpPr txBox="1">
            <a:spLocks/>
          </p:cNvSpPr>
          <p:nvPr/>
        </p:nvSpPr>
        <p:spPr>
          <a:xfrm>
            <a:off x="5936519" y="2451804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50%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110" name="Объект 2"/>
          <p:cNvSpPr txBox="1">
            <a:spLocks/>
          </p:cNvSpPr>
          <p:nvPr/>
        </p:nvSpPr>
        <p:spPr>
          <a:xfrm>
            <a:off x="5980577" y="223410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08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40551" y="2897485"/>
            <a:ext cx="220166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Подготовка технической документации (ТП, ТЗ, инструкции пользователя и Администратора)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Lessons Learned </a:t>
            </a:r>
            <a:r>
              <a:rPr lang="ru-RU" sz="1100" dirty="0" smtClean="0"/>
              <a:t>по итогам бюджетного процесса 2024-2025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Доработка системы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Разработка функционала сравнения версий (бюджета, прогноза с фактом или с другими версиями)</a:t>
            </a:r>
          </a:p>
          <a:p>
            <a:endParaRPr lang="ru-RU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 smtClean="0"/>
          </a:p>
        </p:txBody>
      </p:sp>
      <p:sp>
        <p:nvSpPr>
          <p:cNvPr id="112" name="Прямоугольник 15"/>
          <p:cNvSpPr/>
          <p:nvPr/>
        </p:nvSpPr>
        <p:spPr>
          <a:xfrm>
            <a:off x="5860499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EA, AB, EE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Прямоугольник 15"/>
          <p:cNvSpPr/>
          <p:nvPr/>
        </p:nvSpPr>
        <p:spPr>
          <a:xfrm>
            <a:off x="8611563" y="1106924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Rectangle 24"/>
          <p:cNvSpPr/>
          <p:nvPr/>
        </p:nvSpPr>
        <p:spPr>
          <a:xfrm>
            <a:off x="8516132" y="3071449"/>
            <a:ext cx="2088053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Актуализация доработок </a:t>
            </a:r>
            <a:r>
              <a:rPr lang="ru-RU" sz="1100" dirty="0" smtClean="0"/>
              <a:t>1С.</a:t>
            </a:r>
            <a:endParaRPr lang="en-GB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Оптимизация программного кода и увеличение производительности.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Поиск </a:t>
            </a:r>
            <a:r>
              <a:rPr lang="ru-RU" sz="1100" dirty="0"/>
              <a:t>альтернативного </a:t>
            </a:r>
            <a:r>
              <a:rPr lang="ru-RU" sz="1100" dirty="0" smtClean="0"/>
              <a:t>типового решения, взамен </a:t>
            </a:r>
            <a:r>
              <a:rPr lang="ru-RU" sz="1100" dirty="0" err="1" smtClean="0"/>
              <a:t>кастомного</a:t>
            </a:r>
            <a:r>
              <a:rPr lang="ru-RU" sz="1100" dirty="0" smtClean="0"/>
              <a:t>.</a:t>
            </a:r>
            <a:endParaRPr lang="en-US" sz="1100" dirty="0"/>
          </a:p>
        </p:txBody>
      </p:sp>
      <p:sp>
        <p:nvSpPr>
          <p:cNvPr id="26" name="Объект 2"/>
          <p:cNvSpPr txBox="1">
            <a:spLocks/>
          </p:cNvSpPr>
          <p:nvPr/>
        </p:nvSpPr>
        <p:spPr>
          <a:xfrm>
            <a:off x="8766306" y="214196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-12/2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7" name="Объект 2"/>
          <p:cNvSpPr txBox="1">
            <a:spLocks/>
          </p:cNvSpPr>
          <p:nvPr/>
        </p:nvSpPr>
        <p:spPr>
          <a:xfrm>
            <a:off x="8773135" y="239895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2" name="Объект 2"/>
          <p:cNvSpPr txBox="1">
            <a:spLocks/>
          </p:cNvSpPr>
          <p:nvPr/>
        </p:nvSpPr>
        <p:spPr>
          <a:xfrm>
            <a:off x="8738561" y="1228532"/>
            <a:ext cx="1787284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1C –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новый подход 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 апгрейду. 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3" name="Прямоугольник 15"/>
          <p:cNvSpPr/>
          <p:nvPr/>
        </p:nvSpPr>
        <p:spPr>
          <a:xfrm>
            <a:off x="8611563" y="6233928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IK, VD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432605" y="1211458"/>
            <a:ext cx="1717681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Life insurance: tender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6" name="Объект 2"/>
          <p:cNvSpPr txBox="1">
            <a:spLocks/>
          </p:cNvSpPr>
          <p:nvPr/>
        </p:nvSpPr>
        <p:spPr>
          <a:xfrm>
            <a:off x="445570" y="2387362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7" name="Прямоугольник 12"/>
          <p:cNvSpPr/>
          <p:nvPr/>
        </p:nvSpPr>
        <p:spPr>
          <a:xfrm>
            <a:off x="377379" y="1106060"/>
            <a:ext cx="1914282" cy="1922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400" dirty="0"/>
          </a:p>
        </p:txBody>
      </p:sp>
      <p:sp>
        <p:nvSpPr>
          <p:cNvPr id="38" name="Rectangle 37"/>
          <p:cNvSpPr/>
          <p:nvPr/>
        </p:nvSpPr>
        <p:spPr>
          <a:xfrm>
            <a:off x="253774" y="3128477"/>
            <a:ext cx="203788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Передано в 1С ведение адресных, контактных данных, образования, истории трудовой деятельности, отгулов, работа в выходные и праздники, паспортные данные, данные о ВУС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r>
              <a:rPr lang="ru-RU" sz="1000" dirty="0" smtClean="0"/>
              <a:t>Дальнейшие шаги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Отпуска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Реализовано </a:t>
            </a:r>
            <a:r>
              <a:rPr lang="en-US" sz="1000" dirty="0" smtClean="0"/>
              <a:t>API </a:t>
            </a:r>
            <a:r>
              <a:rPr lang="ru-RU" sz="1000" dirty="0" smtClean="0"/>
              <a:t>на стороне 1С</a:t>
            </a:r>
          </a:p>
          <a:p>
            <a:pPr marL="514350" lvl="1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Переключение портала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Табель учета рабочего времени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Кадровый учет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00" dirty="0" smtClean="0"/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445570" y="1240534"/>
            <a:ext cx="190992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Отказ от </a:t>
            </a:r>
            <a:r>
              <a:rPr lang="en-US" b="1" dirty="0" smtClean="0">
                <a:solidFill>
                  <a:schemeClr val="bg1"/>
                </a:solidFill>
              </a:rPr>
              <a:t>Oracle</a:t>
            </a:r>
            <a:r>
              <a:rPr lang="ru-RU" dirty="0" smtClean="0">
                <a:solidFill>
                  <a:schemeClr val="bg1"/>
                </a:solidFill>
              </a:rPr>
              <a:t> -автоматизация процессов в 1С и других системах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506755" y="220324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1" name="Объект 2"/>
          <p:cNvSpPr txBox="1">
            <a:spLocks/>
          </p:cNvSpPr>
          <p:nvPr/>
        </p:nvSpPr>
        <p:spPr>
          <a:xfrm>
            <a:off x="422902" y="244321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99%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2" name="Прямоугольник 15"/>
          <p:cNvSpPr/>
          <p:nvPr/>
        </p:nvSpPr>
        <p:spPr>
          <a:xfrm>
            <a:off x="377379" y="624007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VD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IK, EA, AK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65575" y="3868035"/>
            <a:ext cx="228164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Переход в КЭДО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График отпусков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Прототип приложения для прикрепления родственников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Прототип обновленной системы оформления отпусков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Детальное описание бизнес-процессов по оформлению отсутствий</a:t>
            </a:r>
            <a:endParaRPr lang="ru-RU" sz="1100" dirty="0">
              <a:solidFill>
                <a:srgbClr val="00B05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76817" y="5327259"/>
            <a:ext cx="228164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B050"/>
                </a:solidFill>
              </a:rPr>
              <a:t>Новый процесс на базе платформы бюджетной системы – </a:t>
            </a:r>
            <a:r>
              <a:rPr lang="en-US" sz="1100" dirty="0" smtClean="0">
                <a:solidFill>
                  <a:srgbClr val="00B050"/>
                </a:solidFill>
              </a:rPr>
              <a:t>HC-</a:t>
            </a:r>
            <a:r>
              <a:rPr lang="ru-RU" sz="1100" dirty="0" err="1" smtClean="0">
                <a:solidFill>
                  <a:srgbClr val="00B050"/>
                </a:solidFill>
              </a:rPr>
              <a:t>трекер</a:t>
            </a:r>
            <a:endParaRPr lang="ru-RU" sz="1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98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223027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</a:t>
            </a:r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Проекты Change – </a:t>
            </a:r>
            <a:r>
              <a:rPr lang="ru-RU" sz="3000" dirty="0">
                <a:solidFill>
                  <a:schemeClr val="accent6">
                    <a:lumMod val="50000"/>
                  </a:schemeClr>
                </a:solidFill>
              </a:rPr>
              <a:t>Системы и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решения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 (2)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9" name="Прямая соединительная линия 8"/>
          <p:cNvCxnSpPr/>
          <p:nvPr/>
        </p:nvCxnSpPr>
        <p:spPr>
          <a:xfrm>
            <a:off x="382588" y="845810"/>
            <a:ext cx="295279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Объект 2"/>
          <p:cNvSpPr txBox="1">
            <a:spLocks/>
          </p:cNvSpPr>
          <p:nvPr/>
        </p:nvSpPr>
        <p:spPr>
          <a:xfrm>
            <a:off x="475095" y="259437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90%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4" name="Объект 2"/>
          <p:cNvSpPr txBox="1">
            <a:spLocks/>
          </p:cNvSpPr>
          <p:nvPr/>
        </p:nvSpPr>
        <p:spPr>
          <a:xfrm>
            <a:off x="514992" y="238066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06/22-12/22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5" name="Объект 2"/>
          <p:cNvSpPr txBox="1">
            <a:spLocks/>
          </p:cNvSpPr>
          <p:nvPr/>
        </p:nvSpPr>
        <p:spPr>
          <a:xfrm>
            <a:off x="514992" y="1334940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Split of </a:t>
            </a:r>
            <a:r>
              <a:rPr lang="en-US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contracts </a:t>
            </a:r>
            <a:r>
              <a:rPr lang="en-US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by </a:t>
            </a:r>
            <a:r>
              <a:rPr lang="en-US" dirty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perimeters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6" name="Прямоугольник 12"/>
          <p:cNvSpPr/>
          <p:nvPr/>
        </p:nvSpPr>
        <p:spPr>
          <a:xfrm>
            <a:off x="382588" y="1260516"/>
            <a:ext cx="1914282" cy="19086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Объект 2"/>
          <p:cNvSpPr txBox="1">
            <a:spLocks/>
          </p:cNvSpPr>
          <p:nvPr/>
        </p:nvSpPr>
        <p:spPr>
          <a:xfrm>
            <a:off x="487182" y="260625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AAFF"/>
              </a:buClr>
              <a:buSzTx/>
              <a:buFont typeface="Arial" charset="0"/>
              <a:buNone/>
              <a:tabLst/>
              <a:defRPr/>
            </a:pPr>
            <a:r>
              <a:rPr lang="ru-RU" sz="4400" b="1" noProof="0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80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00006" y="1329416"/>
            <a:ext cx="1912893" cy="7099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en-US" dirty="0"/>
              <a:t>HR Power </a:t>
            </a:r>
            <a:r>
              <a:rPr lang="en-US" dirty="0" smtClean="0"/>
              <a:t>Tool</a:t>
            </a:r>
          </a:p>
          <a:p>
            <a:r>
              <a:rPr lang="ru-RU" b="1" dirty="0" smtClean="0"/>
              <a:t>Качество данных</a:t>
            </a:r>
            <a:r>
              <a:rPr lang="en-US" b="1" dirty="0" smtClean="0"/>
              <a:t> </a:t>
            </a:r>
            <a:r>
              <a:rPr lang="ru-RU" b="1" dirty="0" smtClean="0"/>
              <a:t>и производительность</a:t>
            </a:r>
            <a:endParaRPr lang="en-US" b="1" dirty="0"/>
          </a:p>
        </p:txBody>
      </p:sp>
      <p:sp>
        <p:nvSpPr>
          <p:cNvPr id="69" name="Объект 2"/>
          <p:cNvSpPr txBox="1">
            <a:spLocks/>
          </p:cNvSpPr>
          <p:nvPr/>
        </p:nvSpPr>
        <p:spPr>
          <a:xfrm>
            <a:off x="496913" y="238856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08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98982" y="3299493"/>
            <a:ext cx="2352629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</a:rPr>
              <a:t>Рассылки о качестве данных по зонам ответственности (</a:t>
            </a:r>
            <a:r>
              <a:rPr lang="en-US" sz="1100" dirty="0" smtClean="0">
                <a:solidFill>
                  <a:srgbClr val="333333"/>
                </a:solidFill>
              </a:rPr>
              <a:t>Advisory, Admin, Data Control, etc.)</a:t>
            </a:r>
            <a:endParaRPr lang="en-GB" sz="1100" dirty="0" smtClean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  <a:latin typeface="Arial" panose="020B0604020202020204"/>
              </a:rPr>
              <a:t>Рассылка </a:t>
            </a:r>
            <a:r>
              <a:rPr lang="en-US" sz="1100" dirty="0" smtClean="0">
                <a:solidFill>
                  <a:srgbClr val="333333"/>
                </a:solidFill>
                <a:latin typeface="Arial" panose="020B0604020202020204"/>
              </a:rPr>
              <a:t>summary </a:t>
            </a:r>
            <a:r>
              <a:rPr lang="ru-RU" sz="1100" dirty="0" smtClean="0">
                <a:solidFill>
                  <a:srgbClr val="333333"/>
                </a:solidFill>
                <a:latin typeface="Arial" panose="020B0604020202020204"/>
              </a:rPr>
              <a:t>по результатам загрузки данных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  <a:latin typeface="Arial" panose="020B0604020202020204"/>
              </a:rPr>
              <a:t>Повышение производительности основных отчетов – </a:t>
            </a:r>
            <a:r>
              <a:rPr lang="en-US" sz="1100" dirty="0" smtClean="0">
                <a:solidFill>
                  <a:srgbClr val="333333"/>
                </a:solidFill>
                <a:latin typeface="Arial" panose="020B0604020202020204"/>
              </a:rPr>
              <a:t>Current Assignments, Digger, etc.</a:t>
            </a:r>
            <a:endParaRPr lang="ru-RU" sz="1100" dirty="0" smtClean="0">
              <a:solidFill>
                <a:srgbClr val="333333"/>
              </a:solidFill>
              <a:latin typeface="Arial" panose="020B0604020202020204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  <a:latin typeface="Arial" panose="020B0604020202020204"/>
              </a:rPr>
              <a:t>Обновление технической документации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72" name="Прямоугольник 15"/>
          <p:cNvSpPr/>
          <p:nvPr/>
        </p:nvSpPr>
        <p:spPr>
          <a:xfrm>
            <a:off x="5356163" y="1260516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Rectangle 72"/>
          <p:cNvSpPr/>
          <p:nvPr/>
        </p:nvSpPr>
        <p:spPr>
          <a:xfrm>
            <a:off x="5192822" y="3234632"/>
            <a:ext cx="228164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Завершение доработки на стороне </a:t>
            </a:r>
            <a:r>
              <a:rPr lang="ru-RU" sz="1100" dirty="0" err="1" smtClean="0"/>
              <a:t>Экспериум</a:t>
            </a:r>
            <a:endParaRPr lang="ru-RU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Загрузка </a:t>
            </a:r>
            <a:r>
              <a:rPr lang="ru-RU" sz="1100" dirty="0"/>
              <a:t>истории изменения состояния </a:t>
            </a:r>
            <a:r>
              <a:rPr lang="ru-RU" sz="1100" dirty="0" smtClean="0"/>
              <a:t>вакансий </a:t>
            </a:r>
            <a:r>
              <a:rPr lang="ru-RU" sz="1100" dirty="0"/>
              <a:t>(в том числе </a:t>
            </a:r>
            <a:r>
              <a:rPr lang="ru-RU" sz="1100" dirty="0" smtClean="0"/>
              <a:t>заморозк</a:t>
            </a:r>
            <a:r>
              <a:rPr lang="ru-RU" sz="1100" dirty="0"/>
              <a:t>и</a:t>
            </a:r>
            <a:r>
              <a:rPr lang="ru-RU" sz="1100" dirty="0" smtClean="0"/>
              <a:t> </a:t>
            </a:r>
            <a:r>
              <a:rPr lang="ru-RU" sz="1100" dirty="0"/>
              <a:t>проектов)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Загрузка</a:t>
            </a:r>
            <a:r>
              <a:rPr lang="en-US" sz="1100" dirty="0" smtClean="0"/>
              <a:t> </a:t>
            </a:r>
            <a:r>
              <a:rPr lang="ru-RU" sz="1100" dirty="0" smtClean="0"/>
              <a:t>финальных </a:t>
            </a:r>
            <a:r>
              <a:rPr lang="ru-RU" sz="1100" dirty="0"/>
              <a:t>кандидатов из </a:t>
            </a:r>
            <a:r>
              <a:rPr lang="en-US" sz="1100" dirty="0" err="1"/>
              <a:t>Experium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Завершение </a:t>
            </a:r>
            <a:r>
              <a:rPr lang="ru-RU" sz="1100" dirty="0"/>
              <a:t>разработки по загрузке вакансий в </a:t>
            </a:r>
            <a:r>
              <a:rPr lang="ru-RU" sz="1100" dirty="0" smtClean="0"/>
              <a:t>HRPT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Доработка отчетности по вакансиям</a:t>
            </a: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 smtClean="0"/>
          </a:p>
        </p:txBody>
      </p:sp>
      <p:sp>
        <p:nvSpPr>
          <p:cNvPr id="74" name="Объект 2"/>
          <p:cNvSpPr txBox="1">
            <a:spLocks/>
          </p:cNvSpPr>
          <p:nvPr/>
        </p:nvSpPr>
        <p:spPr>
          <a:xfrm>
            <a:off x="5510906" y="2295558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03/25-0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75" name="Объект 2"/>
          <p:cNvSpPr txBox="1">
            <a:spLocks/>
          </p:cNvSpPr>
          <p:nvPr/>
        </p:nvSpPr>
        <p:spPr>
          <a:xfrm>
            <a:off x="5517735" y="255255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76" name="Объект 2"/>
          <p:cNvSpPr txBox="1">
            <a:spLocks/>
          </p:cNvSpPr>
          <p:nvPr/>
        </p:nvSpPr>
        <p:spPr>
          <a:xfrm>
            <a:off x="5483161" y="1382124"/>
            <a:ext cx="165438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Experium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- 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история изменения статусов вакансий и кандидатов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88" name="Прямоугольник 15"/>
          <p:cNvSpPr/>
          <p:nvPr/>
        </p:nvSpPr>
        <p:spPr>
          <a:xfrm>
            <a:off x="257597" y="6250322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EA, AB, AR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, AK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9" name="Прямоугольник 15"/>
          <p:cNvSpPr/>
          <p:nvPr/>
        </p:nvSpPr>
        <p:spPr>
          <a:xfrm>
            <a:off x="5318879" y="624474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EA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9" name="Объект 2"/>
          <p:cNvSpPr txBox="1">
            <a:spLocks/>
          </p:cNvSpPr>
          <p:nvPr/>
        </p:nvSpPr>
        <p:spPr>
          <a:xfrm>
            <a:off x="2905181" y="1365914"/>
            <a:ext cx="1717681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Life insurance: tender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0" name="Объект 2"/>
          <p:cNvSpPr txBox="1">
            <a:spLocks/>
          </p:cNvSpPr>
          <p:nvPr/>
        </p:nvSpPr>
        <p:spPr>
          <a:xfrm>
            <a:off x="2918146" y="254181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21" name="Прямоугольник 12"/>
          <p:cNvSpPr/>
          <p:nvPr/>
        </p:nvSpPr>
        <p:spPr>
          <a:xfrm>
            <a:off x="2849955" y="1260516"/>
            <a:ext cx="1914282" cy="1922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400" dirty="0"/>
          </a:p>
        </p:txBody>
      </p:sp>
      <p:sp>
        <p:nvSpPr>
          <p:cNvPr id="22" name="Rectangle 21"/>
          <p:cNvSpPr/>
          <p:nvPr/>
        </p:nvSpPr>
        <p:spPr>
          <a:xfrm>
            <a:off x="2726351" y="3282933"/>
            <a:ext cx="230720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333333"/>
                </a:solidFill>
              </a:rPr>
              <a:t>Проект загрузки данных из 1С с описанием запросов и обработок 1С, таблиц, представлений и </a:t>
            </a:r>
            <a:r>
              <a:rPr lang="ru-RU" sz="1100" dirty="0" smtClean="0">
                <a:solidFill>
                  <a:srgbClr val="333333"/>
                </a:solidFill>
              </a:rPr>
              <a:t>процедур</a:t>
            </a:r>
            <a:endParaRPr lang="en-US" sz="1100" dirty="0" smtClean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</a:rPr>
              <a:t>Пересмотр </a:t>
            </a:r>
            <a:r>
              <a:rPr lang="ru-RU" sz="1100" dirty="0">
                <a:solidFill>
                  <a:srgbClr val="333333"/>
                </a:solidFill>
              </a:rPr>
              <a:t>загрузки позиций </a:t>
            </a:r>
            <a:r>
              <a:rPr lang="ru-RU" sz="1100" dirty="0" smtClean="0">
                <a:solidFill>
                  <a:srgbClr val="333333"/>
                </a:solidFill>
              </a:rPr>
              <a:t>– </a:t>
            </a:r>
            <a:r>
              <a:rPr lang="ru-RU" sz="1100" dirty="0">
                <a:solidFill>
                  <a:srgbClr val="333333"/>
                </a:solidFill>
              </a:rPr>
              <a:t>отдельная от </a:t>
            </a:r>
            <a:r>
              <a:rPr lang="ru-RU" sz="1100" dirty="0" smtClean="0">
                <a:solidFill>
                  <a:srgbClr val="333333"/>
                </a:solidFill>
              </a:rPr>
              <a:t>назначения сущность</a:t>
            </a:r>
            <a:endParaRPr lang="en-US" sz="11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333333"/>
                </a:solidFill>
              </a:rPr>
              <a:t>Доработка </a:t>
            </a:r>
            <a:r>
              <a:rPr lang="en-US" sz="1100" dirty="0">
                <a:solidFill>
                  <a:srgbClr val="333333"/>
                </a:solidFill>
              </a:rPr>
              <a:t>API </a:t>
            </a:r>
            <a:r>
              <a:rPr lang="ru-RU" sz="1100" dirty="0">
                <a:solidFill>
                  <a:srgbClr val="333333"/>
                </a:solidFill>
              </a:rPr>
              <a:t>загрузки </a:t>
            </a:r>
            <a:r>
              <a:rPr lang="en-US" sz="1100" dirty="0" smtClean="0">
                <a:solidFill>
                  <a:srgbClr val="333333"/>
                </a:solidFill>
              </a:rPr>
              <a:t>HRPT </a:t>
            </a:r>
            <a:r>
              <a:rPr lang="ru-RU" sz="1100" dirty="0" smtClean="0">
                <a:solidFill>
                  <a:srgbClr val="333333"/>
                </a:solidFill>
              </a:rPr>
              <a:t>(сопоставление </a:t>
            </a:r>
            <a:r>
              <a:rPr lang="ru-RU" sz="1100" dirty="0">
                <a:solidFill>
                  <a:srgbClr val="333333"/>
                </a:solidFill>
              </a:rPr>
              <a:t>с позициями и назначениями </a:t>
            </a:r>
            <a:r>
              <a:rPr lang="ru-RU" sz="1100" dirty="0" smtClean="0">
                <a:solidFill>
                  <a:srgbClr val="333333"/>
                </a:solidFill>
              </a:rPr>
              <a:t>1С</a:t>
            </a:r>
            <a:r>
              <a:rPr lang="en-US" sz="1100" dirty="0">
                <a:solidFill>
                  <a:srgbClr val="333333"/>
                </a:solidFill>
              </a:rPr>
              <a:t> </a:t>
            </a:r>
            <a:r>
              <a:rPr lang="ru-RU" sz="1100" dirty="0" smtClean="0">
                <a:solidFill>
                  <a:srgbClr val="333333"/>
                </a:solidFill>
              </a:rPr>
              <a:t>назначений и позиций из </a:t>
            </a:r>
            <a:r>
              <a:rPr lang="en-US" sz="1100" dirty="0" smtClean="0">
                <a:solidFill>
                  <a:srgbClr val="333333"/>
                </a:solidFill>
              </a:rPr>
              <a:t>Oracle</a:t>
            </a:r>
            <a:r>
              <a:rPr lang="ru-RU" sz="1100" dirty="0" smtClean="0">
                <a:solidFill>
                  <a:srgbClr val="333333"/>
                </a:solidFill>
              </a:rPr>
              <a:t>) </a:t>
            </a:r>
            <a:endParaRPr lang="en-US" sz="11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00" dirty="0" smtClean="0"/>
          </a:p>
        </p:txBody>
      </p:sp>
      <p:sp>
        <p:nvSpPr>
          <p:cNvPr id="23" name="Объект 2"/>
          <p:cNvSpPr txBox="1">
            <a:spLocks/>
          </p:cNvSpPr>
          <p:nvPr/>
        </p:nvSpPr>
        <p:spPr>
          <a:xfrm>
            <a:off x="2918146" y="1394990"/>
            <a:ext cx="1909924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</a:rPr>
              <a:t>Отказ от </a:t>
            </a:r>
            <a:r>
              <a:rPr lang="en-US" b="1" dirty="0" smtClean="0">
                <a:solidFill>
                  <a:schemeClr val="bg1"/>
                </a:solidFill>
              </a:rPr>
              <a:t>Oracle</a:t>
            </a:r>
            <a:r>
              <a:rPr lang="ru-RU" dirty="0" smtClean="0">
                <a:solidFill>
                  <a:schemeClr val="bg1"/>
                </a:solidFill>
              </a:rPr>
              <a:t> – загрузка данных 1С в </a:t>
            </a:r>
            <a:r>
              <a:rPr lang="en-US" dirty="0" smtClean="0">
                <a:solidFill>
                  <a:schemeClr val="bg1"/>
                </a:solidFill>
              </a:rPr>
              <a:t>HRPT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4" name="Объект 2"/>
          <p:cNvSpPr txBox="1">
            <a:spLocks/>
          </p:cNvSpPr>
          <p:nvPr/>
        </p:nvSpPr>
        <p:spPr>
          <a:xfrm>
            <a:off x="2979331" y="2357700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5" name="Объект 2"/>
          <p:cNvSpPr txBox="1">
            <a:spLocks/>
          </p:cNvSpPr>
          <p:nvPr/>
        </p:nvSpPr>
        <p:spPr>
          <a:xfrm>
            <a:off x="2895478" y="2597667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100%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26" name="Прямоугольник 15"/>
          <p:cNvSpPr/>
          <p:nvPr/>
        </p:nvSpPr>
        <p:spPr>
          <a:xfrm>
            <a:off x="2806880" y="6256461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EA, AK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7" name="Прямоугольник 15"/>
          <p:cNvSpPr/>
          <p:nvPr/>
        </p:nvSpPr>
        <p:spPr>
          <a:xfrm>
            <a:off x="7862371" y="1254856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Rectangle 27"/>
          <p:cNvSpPr/>
          <p:nvPr/>
        </p:nvSpPr>
        <p:spPr>
          <a:xfrm>
            <a:off x="7699030" y="3228972"/>
            <a:ext cx="228164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Проектирование новой архитектуры</a:t>
            </a:r>
            <a:r>
              <a:rPr lang="en-US" sz="1100" dirty="0" smtClean="0"/>
              <a:t> HCMC</a:t>
            </a:r>
            <a:endParaRPr lang="ru-RU" sz="11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Выбор платформы для разработки (</a:t>
            </a:r>
            <a:r>
              <a:rPr lang="en-US" sz="1100" dirty="0" smtClean="0"/>
              <a:t>web, excel…)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Разработка</a:t>
            </a:r>
            <a:endParaRPr lang="ru-RU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Тестирование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/>
              <a:t>Документация</a:t>
            </a:r>
          </a:p>
          <a:p>
            <a:endParaRPr lang="ru-RU" sz="1100" dirty="0" smtClean="0"/>
          </a:p>
        </p:txBody>
      </p:sp>
      <p:sp>
        <p:nvSpPr>
          <p:cNvPr id="29" name="Объект 2"/>
          <p:cNvSpPr txBox="1">
            <a:spLocks/>
          </p:cNvSpPr>
          <p:nvPr/>
        </p:nvSpPr>
        <p:spPr>
          <a:xfrm>
            <a:off x="8017114" y="2289898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/25-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12</a:t>
            </a: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0" name="Объект 2"/>
          <p:cNvSpPr txBox="1">
            <a:spLocks/>
          </p:cNvSpPr>
          <p:nvPr/>
        </p:nvSpPr>
        <p:spPr>
          <a:xfrm>
            <a:off x="8023943" y="254689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80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1" name="Объект 2"/>
          <p:cNvSpPr txBox="1">
            <a:spLocks/>
          </p:cNvSpPr>
          <p:nvPr/>
        </p:nvSpPr>
        <p:spPr>
          <a:xfrm>
            <a:off x="7989369" y="1376464"/>
            <a:ext cx="165438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HCMC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– 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проектирование и разработка новой версии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2" name="Прямоугольник 15"/>
          <p:cNvSpPr/>
          <p:nvPr/>
        </p:nvSpPr>
        <p:spPr>
          <a:xfrm>
            <a:off x="7825087" y="6239087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VD, AK, EA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192822" y="5283480"/>
            <a:ext cx="228164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B050"/>
                </a:solidFill>
              </a:rPr>
              <a:t>Выбор замены </a:t>
            </a:r>
            <a:r>
              <a:rPr lang="en-US" sz="1100" dirty="0" err="1" smtClean="0">
                <a:solidFill>
                  <a:srgbClr val="00B050"/>
                </a:solidFill>
              </a:rPr>
              <a:t>Experium</a:t>
            </a:r>
            <a:endParaRPr lang="ru-RU" sz="1100" dirty="0">
              <a:solidFill>
                <a:srgbClr val="00B05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99030" y="5283480"/>
            <a:ext cx="22816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 smtClean="0">
                <a:solidFill>
                  <a:srgbClr val="00B050"/>
                </a:solidFill>
              </a:rPr>
              <a:t>Выполнен перевод </a:t>
            </a:r>
            <a:r>
              <a:rPr lang="en-US" sz="1100" dirty="0" smtClean="0">
                <a:solidFill>
                  <a:srgbClr val="00B050"/>
                </a:solidFill>
              </a:rPr>
              <a:t>excel</a:t>
            </a:r>
            <a:r>
              <a:rPr lang="ru-RU" sz="1100" dirty="0" smtClean="0">
                <a:solidFill>
                  <a:srgbClr val="00B050"/>
                </a:solidFill>
              </a:rPr>
              <a:t>-формы на </a:t>
            </a:r>
            <a:r>
              <a:rPr lang="en-US" sz="1100" dirty="0" smtClean="0">
                <a:solidFill>
                  <a:srgbClr val="00B050"/>
                </a:solidFill>
              </a:rPr>
              <a:t>HRPT API</a:t>
            </a:r>
            <a:endParaRPr lang="ru-RU" sz="1100" dirty="0">
              <a:solidFill>
                <a:srgbClr val="00B05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4923" y="5370570"/>
            <a:ext cx="2281646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Улучшена производительность отчетов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B050"/>
                </a:solidFill>
              </a:rPr>
              <a:t>Рассылка по дата-чеку отсутствия причин увольнения</a:t>
            </a:r>
            <a:endParaRPr lang="ru-RU" sz="11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15"/>
          <p:cNvSpPr/>
          <p:nvPr/>
        </p:nvSpPr>
        <p:spPr>
          <a:xfrm>
            <a:off x="460782" y="1005469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бъект 2"/>
          <p:cNvSpPr txBox="1">
            <a:spLocks/>
          </p:cNvSpPr>
          <p:nvPr/>
        </p:nvSpPr>
        <p:spPr>
          <a:xfrm>
            <a:off x="560211" y="1085553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4" name="Объект 2"/>
          <p:cNvSpPr txBox="1">
            <a:spLocks/>
          </p:cNvSpPr>
          <p:nvPr/>
        </p:nvSpPr>
        <p:spPr>
          <a:xfrm>
            <a:off x="560211" y="2120717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15451" y="2324087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Прямоугольник 15"/>
          <p:cNvSpPr/>
          <p:nvPr/>
        </p:nvSpPr>
        <p:spPr>
          <a:xfrm>
            <a:off x="460782" y="1005468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564938" y="1982504"/>
            <a:ext cx="1814853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564938" y="2341498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2317" y="2998204"/>
            <a:ext cx="2111211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Ведение региональных сотрудников с применением районного коэффициента и надбавок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Исчисление НДФЛ с учетом отдельной шкалы, применяемой как к РК и надбавкам, так и к тем частям выплат, которые рассчитаны исходя из средней заработной платы, относящейся к РК и надбавкам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Корректное отражение особенного учета РК и надбавок  в проводках и регулярной отчетности.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42" name="Прямоугольник 15"/>
          <p:cNvSpPr/>
          <p:nvPr/>
        </p:nvSpPr>
        <p:spPr>
          <a:xfrm>
            <a:off x="423424" y="6220763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ZS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проекты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  <a:latin typeface="VTB Group Cond"/>
              </a:rPr>
              <a:t>Payroll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Прямоугольник 15"/>
          <p:cNvSpPr/>
          <p:nvPr/>
        </p:nvSpPr>
        <p:spPr>
          <a:xfrm>
            <a:off x="2934351" y="1040852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Объект 2"/>
          <p:cNvSpPr txBox="1">
            <a:spLocks/>
          </p:cNvSpPr>
          <p:nvPr/>
        </p:nvSpPr>
        <p:spPr>
          <a:xfrm>
            <a:off x="3033780" y="112093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6" name="Объект 2"/>
          <p:cNvSpPr txBox="1">
            <a:spLocks/>
          </p:cNvSpPr>
          <p:nvPr/>
        </p:nvSpPr>
        <p:spPr>
          <a:xfrm>
            <a:off x="3033780" y="2156100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3089020" y="235947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8" name="Прямоугольник 15"/>
          <p:cNvSpPr/>
          <p:nvPr/>
        </p:nvSpPr>
        <p:spPr>
          <a:xfrm>
            <a:off x="2934351" y="1040851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Объект 2"/>
          <p:cNvSpPr txBox="1">
            <a:spLocks/>
          </p:cNvSpPr>
          <p:nvPr/>
        </p:nvSpPr>
        <p:spPr>
          <a:xfrm>
            <a:off x="3038507" y="2017887"/>
            <a:ext cx="1814853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1" name="Объект 2"/>
          <p:cNvSpPr txBox="1">
            <a:spLocks/>
          </p:cNvSpPr>
          <p:nvPr/>
        </p:nvSpPr>
        <p:spPr>
          <a:xfrm>
            <a:off x="3038507" y="237688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35886" y="3033587"/>
            <a:ext cx="2111211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Переход на новую пятибалльную шкалу НДФЛ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Разработка подхода к проверке исчисленного НДФЛ с новой шкалой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Переход на типовой механизм 1С по учету НДФЛ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Тестирования, доработки, обновления, доведение до рабочего состояния типового инструмента 1С для соответствия специфике и требованиям наших </a:t>
            </a:r>
            <a:r>
              <a:rPr lang="ru-RU" sz="1000" dirty="0" err="1" smtClean="0"/>
              <a:t>юр.лиц</a:t>
            </a:r>
            <a:r>
              <a:rPr lang="ru-RU" sz="1000" dirty="0" smtClean="0"/>
              <a:t>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53" name="Прямоугольник 15"/>
          <p:cNvSpPr/>
          <p:nvPr/>
        </p:nvSpPr>
        <p:spPr>
          <a:xfrm>
            <a:off x="2896993" y="625614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ZS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3625" y="1124780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ru-RU" b="1" dirty="0">
                <a:sym typeface="Suisse Int'l"/>
              </a:rPr>
              <a:t>Районные коэффициенты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2426" y="1085553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 b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ru-RU" dirty="0">
                <a:sym typeface="Suisse Int'l"/>
              </a:rPr>
              <a:t>Новая шкала НДФЛ</a:t>
            </a:r>
          </a:p>
        </p:txBody>
      </p:sp>
      <p:sp>
        <p:nvSpPr>
          <p:cNvPr id="27" name="Прямоугольник 15"/>
          <p:cNvSpPr/>
          <p:nvPr/>
        </p:nvSpPr>
        <p:spPr>
          <a:xfrm>
            <a:off x="5318945" y="1056162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405854" y="1107375"/>
            <a:ext cx="1765851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 b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ru-RU" dirty="0">
                <a:sym typeface="Suisse Int'l"/>
              </a:rPr>
              <a:t>Изменение дат выплаты заработной платы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3193" y="1941445"/>
            <a:ext cx="1404007" cy="39434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pPr defTabSz="2681346" hangingPunct="0">
              <a:lnSpc>
                <a:spcPct val="70000"/>
              </a:lnSpc>
            </a:pP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03/25-</a:t>
            </a:r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08</a:t>
            </a: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/25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uisse Int'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52533" y="2170505"/>
            <a:ext cx="1159934" cy="94219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50982" y="2941830"/>
            <a:ext cx="19622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Новое юр. лицо на поддержку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Выплата </a:t>
            </a:r>
            <a:r>
              <a:rPr lang="ru-RU" sz="1000" dirty="0" err="1" smtClean="0"/>
              <a:t>зп</a:t>
            </a:r>
            <a:r>
              <a:rPr lang="ru-RU" sz="1000" dirty="0" smtClean="0"/>
              <a:t> без </a:t>
            </a:r>
            <a:r>
              <a:rPr lang="ru-RU" sz="1000" dirty="0" err="1" smtClean="0"/>
              <a:t>зп</a:t>
            </a:r>
            <a:r>
              <a:rPr lang="ru-RU" sz="1000" dirty="0" smtClean="0"/>
              <a:t> проекта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072" y="1021578"/>
            <a:ext cx="1914310" cy="19021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829066" y="1062980"/>
            <a:ext cx="1767884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 b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ru-RU" dirty="0">
                <a:sym typeface="Suisse Int'l"/>
              </a:rPr>
              <a:t>Внедрение законодательных изменений в области расчета </a:t>
            </a:r>
            <a:r>
              <a:rPr lang="ru-RU" dirty="0" err="1">
                <a:sym typeface="Suisse Int'l"/>
              </a:rPr>
              <a:t>зп</a:t>
            </a:r>
            <a:r>
              <a:rPr lang="ru-RU" dirty="0">
                <a:sym typeface="Suisse Int'l"/>
              </a:rPr>
              <a:t> и отчетности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8812" y="1991340"/>
            <a:ext cx="1404007" cy="39434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pPr defTabSz="2681346" hangingPunct="0">
              <a:lnSpc>
                <a:spcPct val="70000"/>
              </a:lnSpc>
            </a:pP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01/25-</a:t>
            </a:r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</a:t>
            </a: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4/25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uisse Int'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12273" y="2176403"/>
            <a:ext cx="1159934" cy="94219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30072" y="2958696"/>
            <a:ext cx="1962254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Новая форма/содержание  отчета 6 НДФЛ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Новая форма/содержание  отчета </a:t>
            </a:r>
            <a:r>
              <a:rPr lang="ru-RU" sz="1000" dirty="0" smtClean="0"/>
              <a:t>РСВ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Новая форма/содержание  отчета </a:t>
            </a:r>
            <a:r>
              <a:rPr lang="ru-RU" sz="1000" dirty="0" smtClean="0"/>
              <a:t>ЕФС-1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Новая форма/содержание  отчета </a:t>
            </a:r>
            <a:r>
              <a:rPr lang="ru-RU" sz="1000" dirty="0" smtClean="0"/>
              <a:t>Персонифицированные сведения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Новые правила расчета необлагаемой НДФЛ части выходного пособия, разница в подходе налогообложения выходного пособия (страховые взносы и НДФЛ)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/>
              <a:t>Новая форма/содержание  отчета </a:t>
            </a:r>
            <a:r>
              <a:rPr lang="ru-RU" sz="1000" dirty="0" smtClean="0"/>
              <a:t>П-4</a:t>
            </a: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954" y="1004330"/>
            <a:ext cx="1914310" cy="190211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26176" y="1096928"/>
            <a:ext cx="1485900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None/>
              <a:defRPr sz="1400" b="1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r>
              <a:rPr lang="ru-RU" dirty="0">
                <a:sym typeface="Suisse Int'l"/>
              </a:rPr>
              <a:t>Новое </a:t>
            </a:r>
            <a:r>
              <a:rPr lang="ru-RU" dirty="0" err="1">
                <a:sym typeface="Suisse Int'l"/>
              </a:rPr>
              <a:t>юр.лицо</a:t>
            </a:r>
            <a:r>
              <a:rPr lang="ru-RU" dirty="0">
                <a:sym typeface="Suisse Int'l"/>
              </a:rPr>
              <a:t> на поддержку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86650" y="2009832"/>
            <a:ext cx="1404007" cy="394348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pPr defTabSz="2681346" hangingPunct="0">
              <a:lnSpc>
                <a:spcPct val="70000"/>
              </a:lnSpc>
            </a:pP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02/25-</a:t>
            </a:r>
            <a:r>
              <a:rPr lang="en-US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0</a:t>
            </a:r>
            <a:r>
              <a:rPr lang="ru-RU" sz="12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Suisse Int'l"/>
              </a:rPr>
              <a:t>3/25</a:t>
            </a:r>
            <a:endParaRPr lang="ru-RU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Suisse Int'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173418" y="2106679"/>
            <a:ext cx="1159934" cy="942190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31259" tIns="131259" rIns="131259" bIns="131259" numCol="1" spcCol="38100" rtlCol="0" anchor="ctr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71345" y="3137651"/>
            <a:ext cx="19622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Начать изучение возможности изменения дат выплаты заработной платы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Собрать информацию/риски у коллег заинтересованных подразделений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Проанализировать полученную информацию, вынести вопрос на решение руководству </a:t>
            </a:r>
            <a:r>
              <a:rPr lang="en-US" sz="1000" dirty="0" smtClean="0"/>
              <a:t>HR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72831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15"/>
          <p:cNvSpPr/>
          <p:nvPr/>
        </p:nvSpPr>
        <p:spPr>
          <a:xfrm>
            <a:off x="460782" y="1005469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бъект 2"/>
          <p:cNvSpPr txBox="1">
            <a:spLocks/>
          </p:cNvSpPr>
          <p:nvPr/>
        </p:nvSpPr>
        <p:spPr>
          <a:xfrm>
            <a:off x="560211" y="1085553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4" name="Объект 2"/>
          <p:cNvSpPr txBox="1">
            <a:spLocks/>
          </p:cNvSpPr>
          <p:nvPr/>
        </p:nvSpPr>
        <p:spPr>
          <a:xfrm>
            <a:off x="560211" y="2120717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15451" y="2324087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Прямоугольник 15"/>
          <p:cNvSpPr/>
          <p:nvPr/>
        </p:nvSpPr>
        <p:spPr>
          <a:xfrm>
            <a:off x="486038" y="1012120"/>
            <a:ext cx="1953401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560211" y="1040851"/>
            <a:ext cx="1530228" cy="51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Воинский учет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НП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608719" y="1813529"/>
            <a:ext cx="1676711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ru-RU" sz="20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100% </a:t>
            </a:r>
          </a:p>
          <a:p>
            <a:pPr marL="0" indent="0" algn="ctr">
              <a:buFont typeface="Arial" charset="0"/>
              <a:buNone/>
            </a:pPr>
            <a:r>
              <a:rPr lang="ru-RU" sz="15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Передано в спец. подразделение </a:t>
            </a:r>
            <a:endParaRPr lang="ru-RU" sz="15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054931" y="2986279"/>
            <a:ext cx="211121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Сверка военных билетов: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Старый периметр – </a:t>
            </a:r>
            <a:r>
              <a:rPr lang="en-US" sz="900" dirty="0" smtClean="0"/>
              <a:t>9</a:t>
            </a:r>
            <a:r>
              <a:rPr lang="ru-RU" sz="900" dirty="0" smtClean="0"/>
              <a:t>0% -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Э – 100%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Электронный реестр запущен в тестовом режиме для трех регионов: Рязанская область, Республика Марий Эл, Сахалинская область</a:t>
            </a:r>
            <a:r>
              <a:rPr lang="en-US" sz="900" dirty="0" smtClean="0"/>
              <a:t> – </a:t>
            </a:r>
            <a:endParaRPr lang="ru-RU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900" b="1" u="sng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b="1" u="sng" dirty="0" smtClean="0"/>
              <a:t>Инициативы в режиме «ожидания» до момента объединения ВК: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u="sng" dirty="0" smtClean="0"/>
              <a:t>Продолжает работать в тестовом режиме. Запуск перенесен на 01.01.2026.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u="sng" dirty="0" smtClean="0"/>
              <a:t>Выпущен проект приказа об упрощении воинского учета и его </a:t>
            </a:r>
            <a:r>
              <a:rPr lang="ru-RU" sz="900" u="sng" dirty="0" err="1" smtClean="0"/>
              <a:t>цифровизации</a:t>
            </a:r>
            <a:r>
              <a:rPr lang="ru-RU" sz="900" u="sng" dirty="0" smtClean="0"/>
              <a:t>: замена бумажного военного билета на выписку из реестра при участии </a:t>
            </a:r>
            <a:r>
              <a:rPr lang="ru-RU" sz="900" u="sng" dirty="0" err="1" smtClean="0"/>
              <a:t>госуслуг</a:t>
            </a:r>
            <a:r>
              <a:rPr lang="ru-RU" sz="900" u="sng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42" name="Прямоугольник 15"/>
          <p:cNvSpPr/>
          <p:nvPr/>
        </p:nvSpPr>
        <p:spPr>
          <a:xfrm>
            <a:off x="423424" y="6220763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MB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проекты </a:t>
            </a:r>
            <a:r>
              <a:rPr lang="en-GB" sz="3000" dirty="0" smtClean="0">
                <a:solidFill>
                  <a:schemeClr val="accent6">
                    <a:lumMod val="50000"/>
                  </a:schemeClr>
                </a:solidFill>
              </a:rPr>
              <a:t>HR Admin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3089020" y="235947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1" name="Объект 2"/>
          <p:cNvSpPr txBox="1">
            <a:spLocks/>
          </p:cNvSpPr>
          <p:nvPr/>
        </p:nvSpPr>
        <p:spPr>
          <a:xfrm>
            <a:off x="3038507" y="237688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3" name="Прямоугольник 15"/>
          <p:cNvSpPr/>
          <p:nvPr/>
        </p:nvSpPr>
        <p:spPr>
          <a:xfrm>
            <a:off x="2896993" y="625614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MB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3335382" y="1299929"/>
            <a:ext cx="627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Прямоугольник 15"/>
          <p:cNvSpPr/>
          <p:nvPr/>
        </p:nvSpPr>
        <p:spPr>
          <a:xfrm>
            <a:off x="5820754" y="993742"/>
            <a:ext cx="1806016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Rectangle 30"/>
          <p:cNvSpPr/>
          <p:nvPr/>
        </p:nvSpPr>
        <p:spPr>
          <a:xfrm>
            <a:off x="5922847" y="1135933"/>
            <a:ext cx="1601829" cy="369332"/>
          </a:xfrm>
          <a:prstGeom prst="rect">
            <a:avLst/>
          </a:prstGeom>
          <a:solidFill>
            <a:schemeClr val="accent1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268134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 smtClea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Бумажные трудовые книжки = 8%</a:t>
            </a:r>
            <a:endParaRPr kumimoji="0" lang="ru-RU" sz="12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46011" y="1699051"/>
            <a:ext cx="1688855" cy="553998"/>
          </a:xfrm>
          <a:prstGeom prst="rect">
            <a:avLst/>
          </a:prstGeom>
          <a:solidFill>
            <a:schemeClr val="accent1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268134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 smtClea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Электронные трудовые книжки = 92% </a:t>
            </a:r>
            <a:endParaRPr kumimoji="0" lang="ru-RU" sz="12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20754" y="4232774"/>
            <a:ext cx="175696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100% - Основное место работы – всего – 1425 работников (</a:t>
            </a:r>
            <a:r>
              <a:rPr lang="ru-RU" sz="900" b="1" dirty="0" smtClean="0"/>
              <a:t>на дату 12.03.2025</a:t>
            </a:r>
            <a:r>
              <a:rPr lang="ru-RU" sz="900" dirty="0" smtClean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88% - ЭТК – 1256 работников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12% - Бумажные трудовые – 169 работников (63 из них УКО)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9523" y="2536453"/>
            <a:ext cx="1601829" cy="184666"/>
          </a:xfrm>
          <a:prstGeom prst="rect">
            <a:avLst/>
          </a:prstGeom>
          <a:solidFill>
            <a:schemeClr val="accent1"/>
          </a:solidFill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268134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200" b="1" dirty="0" smtClea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На дату 31.12.2025</a:t>
            </a:r>
            <a:endParaRPr kumimoji="0" lang="ru-RU" sz="12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Прямоугольник 15"/>
          <p:cNvSpPr/>
          <p:nvPr/>
        </p:nvSpPr>
        <p:spPr>
          <a:xfrm>
            <a:off x="7987573" y="937893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XXX</a:t>
            </a:r>
            <a:r>
              <a:rPr lang="ru-RU" dirty="0" smtClean="0"/>
              <a:t> </a:t>
            </a:r>
            <a:r>
              <a:rPr lang="ru-RU" dirty="0"/>
              <a:t>КТ приобрел право на осуществление деятельности на выпуск цифровых финансовых активов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9108" y="3154278"/>
            <a:ext cx="211121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С </a:t>
            </a:r>
            <a:r>
              <a:rPr lang="ru-RU" sz="900" dirty="0"/>
              <a:t>05.12.2024 </a:t>
            </a:r>
            <a:r>
              <a:rPr lang="en-US" sz="900" dirty="0" smtClean="0"/>
              <a:t>XXX</a:t>
            </a:r>
            <a:r>
              <a:rPr lang="ru-RU" sz="900" dirty="0" smtClean="0"/>
              <a:t> </a:t>
            </a:r>
            <a:r>
              <a:rPr lang="ru-RU" sz="900" dirty="0"/>
              <a:t>КТ внесен в реестр по осуществлению деятельности оператора электронной платформы/систем, в которых осуществляется выпуск цифровых финансовых активов.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/>
              <a:t>Появились новые формы регуляторной отчетности в Банк России в формате </a:t>
            </a:r>
            <a:r>
              <a:rPr lang="en-US" sz="900" dirty="0" err="1" smtClean="0"/>
              <a:t>xbrl</a:t>
            </a:r>
            <a:endParaRPr lang="ru-RU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В 2025 году укомплектовали штат подразделения для осуществления деятельности ЦФА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Приняли участие в разработке методологии новой регуляторной отчетности в Банк России</a:t>
            </a:r>
            <a:endParaRPr lang="ru-RU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991" y="6208060"/>
            <a:ext cx="1914310" cy="365792"/>
          </a:xfrm>
          <a:prstGeom prst="rect">
            <a:avLst/>
          </a:prstGeom>
        </p:spPr>
      </p:pic>
      <p:sp>
        <p:nvSpPr>
          <p:cNvPr id="26" name="Прямоугольник 15"/>
          <p:cNvSpPr/>
          <p:nvPr/>
        </p:nvSpPr>
        <p:spPr>
          <a:xfrm>
            <a:off x="3153396" y="980026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Объект 2"/>
          <p:cNvSpPr txBox="1">
            <a:spLocks/>
          </p:cNvSpPr>
          <p:nvPr/>
        </p:nvSpPr>
        <p:spPr>
          <a:xfrm>
            <a:off x="3197286" y="1097324"/>
            <a:ext cx="1530228" cy="5160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Воинский учет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СП / Э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799324" y="3088027"/>
            <a:ext cx="191647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На дату 31.12.2025 – 1467 основной МР.</a:t>
            </a:r>
          </a:p>
          <a:p>
            <a:endParaRPr lang="ru-RU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Э        – 0% бумага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НП     – 7% бумага (69, из них 28 НРБ)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900" dirty="0" smtClean="0"/>
              <a:t>СП – 13 % бумага (50 сотрудников, них 31 УКО и МК)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9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</p:spTree>
    <p:extLst>
      <p:ext uri="{BB962C8B-B14F-4D97-AF65-F5344CB8AC3E}">
        <p14:creationId xmlns:p14="http://schemas.microsoft.com/office/powerpoint/2010/main" val="333194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 15"/>
          <p:cNvSpPr/>
          <p:nvPr/>
        </p:nvSpPr>
        <p:spPr>
          <a:xfrm>
            <a:off x="480879" y="1040852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бъект 2"/>
          <p:cNvSpPr txBox="1">
            <a:spLocks/>
          </p:cNvSpPr>
          <p:nvPr/>
        </p:nvSpPr>
        <p:spPr>
          <a:xfrm>
            <a:off x="580308" y="112093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4" name="Объект 2"/>
          <p:cNvSpPr txBox="1">
            <a:spLocks/>
          </p:cNvSpPr>
          <p:nvPr/>
        </p:nvSpPr>
        <p:spPr>
          <a:xfrm>
            <a:off x="580308" y="2156100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5" name="Объект 2"/>
          <p:cNvSpPr txBox="1">
            <a:spLocks/>
          </p:cNvSpPr>
          <p:nvPr/>
        </p:nvSpPr>
        <p:spPr>
          <a:xfrm>
            <a:off x="635548" y="235947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36" name="Прямоугольник 15"/>
          <p:cNvSpPr/>
          <p:nvPr/>
        </p:nvSpPr>
        <p:spPr>
          <a:xfrm>
            <a:off x="480879" y="1040851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Объект 2"/>
          <p:cNvSpPr txBox="1">
            <a:spLocks/>
          </p:cNvSpPr>
          <p:nvPr/>
        </p:nvSpPr>
        <p:spPr>
          <a:xfrm>
            <a:off x="580308" y="1076234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ИНТРАНЕТ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39" name="Объект 2"/>
          <p:cNvSpPr txBox="1">
            <a:spLocks/>
          </p:cNvSpPr>
          <p:nvPr/>
        </p:nvSpPr>
        <p:spPr>
          <a:xfrm>
            <a:off x="585035" y="2017887"/>
            <a:ext cx="1814853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6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-12/2</a:t>
            </a:r>
            <a:r>
              <a:rPr lang="ru-RU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</a:p>
        </p:txBody>
      </p:sp>
      <p:sp>
        <p:nvSpPr>
          <p:cNvPr id="40" name="Объект 2"/>
          <p:cNvSpPr txBox="1">
            <a:spLocks/>
          </p:cNvSpPr>
          <p:nvPr/>
        </p:nvSpPr>
        <p:spPr>
          <a:xfrm>
            <a:off x="585035" y="237688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3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2414" y="3033587"/>
            <a:ext cx="21112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Упорядочивание и развитие </a:t>
            </a:r>
            <a:r>
              <a:rPr lang="ru-RU" sz="1000" dirty="0"/>
              <a:t>интранет-портала с точки зрения доступности информации для сотрудников, легкий поиск информации </a:t>
            </a:r>
            <a:r>
              <a:rPr lang="ru-RU" sz="1000" dirty="0" smtClean="0"/>
              <a:t>(по процессам </a:t>
            </a:r>
            <a:r>
              <a:rPr lang="en-GB" sz="1000" dirty="0" smtClean="0"/>
              <a:t>HR /</a:t>
            </a:r>
            <a:r>
              <a:rPr lang="ru-RU" sz="1000" dirty="0" smtClean="0"/>
              <a:t> </a:t>
            </a:r>
            <a:r>
              <a:rPr lang="ru-RU" sz="1000" dirty="0"/>
              <a:t>льготам</a:t>
            </a:r>
            <a:r>
              <a:rPr lang="en-GB" sz="1000" dirty="0" smtClean="0"/>
              <a:t> / </a:t>
            </a:r>
            <a:r>
              <a:rPr lang="ru-RU" sz="1000" dirty="0" smtClean="0"/>
              <a:t>политикам)</a:t>
            </a:r>
            <a:r>
              <a:rPr lang="en-US" sz="1000" dirty="0" smtClean="0"/>
              <a:t>: </a:t>
            </a:r>
            <a:r>
              <a:rPr lang="ru-RU" sz="1000" dirty="0" smtClean="0">
                <a:solidFill>
                  <a:srgbClr val="00B050"/>
                </a:solidFill>
              </a:rPr>
              <a:t>расширенная информация о процессах (зарплата, обучение, технические вопросы) и льготах, предоставляемых сотруднику размещена в разделе «Адаптация новых сотрудников»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42" name="Прямоугольник 15"/>
          <p:cNvSpPr/>
          <p:nvPr/>
        </p:nvSpPr>
        <p:spPr>
          <a:xfrm>
            <a:off x="443521" y="625614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DZ, MB, ALL HR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Заголовок 1"/>
          <p:cNvSpPr>
            <a:spLocks noGrp="1"/>
          </p:cNvSpPr>
          <p:nvPr>
            <p:ph type="title"/>
          </p:nvPr>
        </p:nvSpPr>
        <p:spPr>
          <a:xfrm>
            <a:off x="382587" y="390763"/>
            <a:ext cx="11363935" cy="387798"/>
          </a:xfrm>
        </p:spPr>
        <p:txBody>
          <a:bodyPr>
            <a:noAutofit/>
          </a:bodyPr>
          <a:lstStyle/>
          <a:p>
            <a:r>
              <a:rPr lang="ru-RU" sz="3000" b="1" dirty="0">
                <a:solidFill>
                  <a:schemeClr val="accent6">
                    <a:lumMod val="50000"/>
                  </a:schemeClr>
                </a:solidFill>
              </a:rPr>
              <a:t>ЗАДАЧИ - </a:t>
            </a:r>
            <a:r>
              <a:rPr lang="ru-RU" sz="3000" b="1" dirty="0" smtClean="0">
                <a:solidFill>
                  <a:schemeClr val="accent6">
                    <a:lumMod val="50000"/>
                  </a:schemeClr>
                </a:solidFill>
              </a:rPr>
              <a:t>2025: </a:t>
            </a:r>
            <a:r>
              <a:rPr lang="ru-RU" sz="3000" dirty="0" smtClean="0">
                <a:solidFill>
                  <a:schemeClr val="accent6">
                    <a:lumMod val="50000"/>
                  </a:schemeClr>
                </a:solidFill>
              </a:rPr>
              <a:t>другие проекты</a:t>
            </a:r>
            <a:endParaRPr lang="ru-RU" sz="3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Прямоугольник 15"/>
          <p:cNvSpPr/>
          <p:nvPr/>
        </p:nvSpPr>
        <p:spPr>
          <a:xfrm>
            <a:off x="2934351" y="1040852"/>
            <a:ext cx="1914282" cy="1914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Объект 2"/>
          <p:cNvSpPr txBox="1">
            <a:spLocks/>
          </p:cNvSpPr>
          <p:nvPr/>
        </p:nvSpPr>
        <p:spPr>
          <a:xfrm>
            <a:off x="3033780" y="1120936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3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6" name="Объект 2"/>
          <p:cNvSpPr txBox="1">
            <a:spLocks/>
          </p:cNvSpPr>
          <p:nvPr/>
        </p:nvSpPr>
        <p:spPr>
          <a:xfrm>
            <a:off x="3033780" y="2156100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MM/YY-MM/YY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47" name="Объект 2"/>
          <p:cNvSpPr txBox="1">
            <a:spLocks/>
          </p:cNvSpPr>
          <p:nvPr/>
        </p:nvSpPr>
        <p:spPr>
          <a:xfrm>
            <a:off x="3089020" y="2359470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48" name="Прямоугольник 15"/>
          <p:cNvSpPr/>
          <p:nvPr/>
        </p:nvSpPr>
        <p:spPr>
          <a:xfrm>
            <a:off x="2934351" y="1040851"/>
            <a:ext cx="1914282" cy="19009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Объект 2"/>
          <p:cNvSpPr txBox="1">
            <a:spLocks/>
          </p:cNvSpPr>
          <p:nvPr/>
        </p:nvSpPr>
        <p:spPr>
          <a:xfrm>
            <a:off x="3033780" y="1076234"/>
            <a:ext cx="1530228" cy="3877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КАЛЕНДАРЬ </a:t>
            </a: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ПРОЦЕССОВ</a:t>
            </a:r>
            <a:endParaRPr lang="ru-RU" b="1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0" name="Объект 2"/>
          <p:cNvSpPr txBox="1">
            <a:spLocks/>
          </p:cNvSpPr>
          <p:nvPr/>
        </p:nvSpPr>
        <p:spPr>
          <a:xfrm>
            <a:off x="3038507" y="2017887"/>
            <a:ext cx="1814853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06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1" name="Объект 2"/>
          <p:cNvSpPr txBox="1">
            <a:spLocks/>
          </p:cNvSpPr>
          <p:nvPr/>
        </p:nvSpPr>
        <p:spPr>
          <a:xfrm>
            <a:off x="3038507" y="237688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35886" y="3033587"/>
            <a:ext cx="211121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Создание календаря </a:t>
            </a:r>
            <a:r>
              <a:rPr lang="en-GB" sz="1000" dirty="0" smtClean="0"/>
              <a:t>HR </a:t>
            </a:r>
            <a:r>
              <a:rPr lang="ru-RU" sz="1000" dirty="0" smtClean="0"/>
              <a:t>процессов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Публикация и планирование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Выстраивание коммуникаций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 smtClean="0"/>
          </a:p>
        </p:txBody>
      </p:sp>
      <p:sp>
        <p:nvSpPr>
          <p:cNvPr id="53" name="Прямоугольник 15"/>
          <p:cNvSpPr/>
          <p:nvPr/>
        </p:nvSpPr>
        <p:spPr>
          <a:xfrm>
            <a:off x="2896993" y="6256146"/>
            <a:ext cx="1914282" cy="362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DZ, ALL HR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Прямоугольник 12"/>
          <p:cNvSpPr/>
          <p:nvPr/>
        </p:nvSpPr>
        <p:spPr>
          <a:xfrm>
            <a:off x="5403193" y="1036614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5" name="Объект 2"/>
          <p:cNvSpPr txBox="1">
            <a:spLocks/>
          </p:cNvSpPr>
          <p:nvPr/>
        </p:nvSpPr>
        <p:spPr>
          <a:xfrm>
            <a:off x="5511622" y="2343049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20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56" name="Объект 2"/>
          <p:cNvSpPr txBox="1">
            <a:spLocks/>
          </p:cNvSpPr>
          <p:nvPr/>
        </p:nvSpPr>
        <p:spPr>
          <a:xfrm>
            <a:off x="5552937" y="1131107"/>
            <a:ext cx="1530228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GB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HR </a:t>
            </a: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политики (ЛНА) и процедуры</a:t>
            </a:r>
            <a:r>
              <a:rPr lang="ru-RU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 – один источник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7" name="Объект 2"/>
          <p:cNvSpPr txBox="1">
            <a:spLocks/>
          </p:cNvSpPr>
          <p:nvPr/>
        </p:nvSpPr>
        <p:spPr>
          <a:xfrm>
            <a:off x="5466683" y="2110599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04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293778" y="2999742"/>
            <a:ext cx="208670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err="1" smtClean="0"/>
              <a:t>Финализация</a:t>
            </a:r>
            <a:r>
              <a:rPr lang="ru-RU" sz="1000" dirty="0" smtClean="0"/>
              <a:t> пересмотра и упорядочивание Групповых и локальных Политик и процедур;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Публикация основных политик и процедур для </a:t>
            </a:r>
            <a:r>
              <a:rPr lang="ru-RU" sz="1000" dirty="0" err="1" smtClean="0"/>
              <a:t>НРБанка</a:t>
            </a:r>
            <a:r>
              <a:rPr lang="ru-RU" sz="1000" dirty="0" smtClean="0"/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Организация стандартов электронного и бумажного хранения Политик и процедур </a:t>
            </a:r>
            <a:r>
              <a:rPr lang="en-GB" sz="1000" dirty="0" smtClean="0"/>
              <a:t>HR</a:t>
            </a:r>
            <a:r>
              <a:rPr lang="ru-RU" sz="1000" dirty="0" smtClean="0"/>
              <a:t>, решений органов управления и Комитетов.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59" name="Прямоугольник 15"/>
          <p:cNvSpPr/>
          <p:nvPr/>
        </p:nvSpPr>
        <p:spPr>
          <a:xfrm>
            <a:off x="5466199" y="6163214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DZ</a:t>
            </a:r>
            <a:r>
              <a:rPr lang="ru-RU" sz="1200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MB</a:t>
            </a:r>
            <a:r>
              <a:rPr lang="en-GB" sz="1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GB" sz="1200" dirty="0" smtClean="0">
                <a:solidFill>
                  <a:schemeClr val="accent6">
                    <a:lumMod val="50000"/>
                  </a:schemeClr>
                </a:solidFill>
              </a:rPr>
              <a:t>ZS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0" name="Прямоугольник 12"/>
          <p:cNvSpPr/>
          <p:nvPr/>
        </p:nvSpPr>
        <p:spPr>
          <a:xfrm>
            <a:off x="7930314" y="1040852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Объект 2"/>
          <p:cNvSpPr txBox="1">
            <a:spLocks/>
          </p:cNvSpPr>
          <p:nvPr/>
        </p:nvSpPr>
        <p:spPr>
          <a:xfrm>
            <a:off x="8038743" y="2347287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6</a:t>
            </a:r>
            <a:r>
              <a:rPr lang="en-GB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chemeClr val="bg1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chemeClr val="bg1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2" name="Объект 2"/>
          <p:cNvSpPr txBox="1">
            <a:spLocks/>
          </p:cNvSpPr>
          <p:nvPr/>
        </p:nvSpPr>
        <p:spPr>
          <a:xfrm>
            <a:off x="8080058" y="1135345"/>
            <a:ext cx="1530228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chemeClr val="bg1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Поддержка и курирование проектных компаний</a:t>
            </a:r>
            <a:endParaRPr lang="ru-RU" dirty="0">
              <a:solidFill>
                <a:schemeClr val="bg1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3" name="Объект 2"/>
          <p:cNvSpPr txBox="1">
            <a:spLocks/>
          </p:cNvSpPr>
          <p:nvPr/>
        </p:nvSpPr>
        <p:spPr>
          <a:xfrm>
            <a:off x="7993804" y="2114837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/25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-1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rgbClr val="E5F6FF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5</a:t>
            </a:r>
            <a:endParaRPr lang="ru-RU" b="1" dirty="0">
              <a:solidFill>
                <a:srgbClr val="E5F6FF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820899" y="3003980"/>
            <a:ext cx="208670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/>
              <a:t>Активная работа с такими компаниями, как Мобильная карта, ЦХД, </a:t>
            </a:r>
            <a:r>
              <a:rPr lang="ru-RU" sz="1000" dirty="0" err="1" smtClean="0"/>
              <a:t>Эмпериум</a:t>
            </a:r>
            <a:r>
              <a:rPr lang="ru-RU" sz="1000" dirty="0" smtClean="0"/>
              <a:t>, Национальные лотереи и др. </a:t>
            </a:r>
            <a:endParaRPr lang="en-US" sz="1000" dirty="0"/>
          </a:p>
        </p:txBody>
      </p:sp>
      <p:sp>
        <p:nvSpPr>
          <p:cNvPr id="65" name="Прямоугольник 15"/>
          <p:cNvSpPr/>
          <p:nvPr/>
        </p:nvSpPr>
        <p:spPr>
          <a:xfrm>
            <a:off x="7993320" y="6167452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SO</a:t>
            </a:r>
            <a:endParaRPr lang="ru-RU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Прямоугольник 12"/>
          <p:cNvSpPr/>
          <p:nvPr/>
        </p:nvSpPr>
        <p:spPr>
          <a:xfrm>
            <a:off x="10126961" y="1060746"/>
            <a:ext cx="1914282" cy="19142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66" name="Объект 2"/>
          <p:cNvSpPr txBox="1">
            <a:spLocks/>
          </p:cNvSpPr>
          <p:nvPr/>
        </p:nvSpPr>
        <p:spPr>
          <a:xfrm>
            <a:off x="10235390" y="2367181"/>
            <a:ext cx="1530228" cy="6093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4400" b="1" dirty="0" smtClean="0">
                <a:solidFill>
                  <a:srgbClr val="FF0000"/>
                </a:solidFill>
                <a:latin typeface="VTB Group Cond" charset="0"/>
                <a:ea typeface="VTB Group Cond" charset="0"/>
                <a:cs typeface="VTB Group Cond" charset="0"/>
              </a:rPr>
              <a:t>1</a:t>
            </a:r>
            <a:r>
              <a:rPr lang="en-GB" sz="4400" b="1" dirty="0" smtClean="0">
                <a:solidFill>
                  <a:srgbClr val="FF0000"/>
                </a:solidFill>
                <a:latin typeface="VTB Group Cond" charset="0"/>
                <a:ea typeface="VTB Group Cond" charset="0"/>
                <a:cs typeface="VTB Group Cond" charset="0"/>
              </a:rPr>
              <a:t>0</a:t>
            </a:r>
            <a:r>
              <a:rPr lang="ru-RU" sz="4400" b="1" dirty="0" smtClean="0">
                <a:solidFill>
                  <a:srgbClr val="FF0000"/>
                </a:solidFill>
                <a:latin typeface="VTB Group Cond" charset="0"/>
                <a:ea typeface="VTB Group Cond" charset="0"/>
                <a:cs typeface="VTB Group Cond" charset="0"/>
              </a:rPr>
              <a:t>%</a:t>
            </a:r>
            <a:endParaRPr lang="ru-RU" sz="4400" b="1" dirty="0">
              <a:solidFill>
                <a:srgbClr val="FF0000"/>
              </a:solidFill>
              <a:latin typeface="VTB Group Cond" charset="0"/>
              <a:ea typeface="VTB Group Cond" charset="0"/>
              <a:cs typeface="VTB Group Cond" charset="0"/>
            </a:endParaRPr>
          </a:p>
        </p:txBody>
      </p:sp>
      <p:sp>
        <p:nvSpPr>
          <p:cNvPr id="67" name="Объект 2"/>
          <p:cNvSpPr txBox="1">
            <a:spLocks/>
          </p:cNvSpPr>
          <p:nvPr/>
        </p:nvSpPr>
        <p:spPr>
          <a:xfrm>
            <a:off x="10213699" y="1143116"/>
            <a:ext cx="1827544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Внедрение решения по управлению структурой и численностью </a:t>
            </a:r>
            <a:r>
              <a:rPr lang="en-GB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(GP)</a:t>
            </a:r>
            <a:endParaRPr lang="ru-RU" dirty="0">
              <a:solidFill>
                <a:srgbClr val="FF0000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8" name="Объект 2"/>
          <p:cNvSpPr txBox="1">
            <a:spLocks/>
          </p:cNvSpPr>
          <p:nvPr/>
        </p:nvSpPr>
        <p:spPr>
          <a:xfrm>
            <a:off x="10190451" y="2134731"/>
            <a:ext cx="1530228" cy="1938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AAFF"/>
              </a:buClr>
              <a:buFont typeface="Arial" charset="0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400" kern="1200">
                <a:solidFill>
                  <a:schemeClr val="tx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AAFF"/>
              </a:buClr>
              <a:buFont typeface="Arial"/>
              <a:buChar char="•"/>
              <a:defRPr sz="1200" kern="1200">
                <a:solidFill>
                  <a:schemeClr val="tx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ru-RU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01</a:t>
            </a:r>
            <a:r>
              <a:rPr lang="en-US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ru-RU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4-1</a:t>
            </a:r>
            <a:r>
              <a:rPr lang="en-GB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2</a:t>
            </a:r>
            <a:r>
              <a:rPr lang="ru-RU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/2</a:t>
            </a:r>
            <a:r>
              <a:rPr lang="en-GB" b="1" dirty="0" smtClean="0">
                <a:solidFill>
                  <a:srgbClr val="FF0000"/>
                </a:solidFill>
                <a:latin typeface="VTB Group Cond Light" charset="0"/>
                <a:ea typeface="VTB Group Cond Light" charset="0"/>
                <a:cs typeface="VTB Group Cond Light" charset="0"/>
              </a:rPr>
              <a:t>4</a:t>
            </a:r>
            <a:endParaRPr lang="ru-RU" b="1" dirty="0">
              <a:solidFill>
                <a:srgbClr val="FF0000"/>
              </a:solidFill>
              <a:latin typeface="VTB Group Cond Light" charset="0"/>
              <a:ea typeface="VTB Group Cond Light" charset="0"/>
              <a:cs typeface="VTB Group Cond Light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0017546" y="3023874"/>
            <a:ext cx="208670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Оценка инструмента </a:t>
            </a:r>
            <a:r>
              <a:rPr lang="en-GB" sz="1000" dirty="0" smtClean="0">
                <a:solidFill>
                  <a:srgbClr val="FF0000"/>
                </a:solidFill>
              </a:rPr>
              <a:t>GP Org Manager;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Демонстрация решения для </a:t>
            </a:r>
            <a:r>
              <a:rPr lang="en-GB" sz="1000" dirty="0" smtClean="0">
                <a:solidFill>
                  <a:srgbClr val="FF0000"/>
                </a:solidFill>
              </a:rPr>
              <a:t>HR </a:t>
            </a:r>
            <a:r>
              <a:rPr lang="ru-RU" sz="1000" dirty="0" smtClean="0">
                <a:solidFill>
                  <a:srgbClr val="FF0000"/>
                </a:solidFill>
              </a:rPr>
              <a:t>и </a:t>
            </a:r>
            <a:r>
              <a:rPr lang="en-GB" sz="1000" dirty="0" smtClean="0">
                <a:solidFill>
                  <a:srgbClr val="FF0000"/>
                </a:solidFill>
              </a:rPr>
              <a:t>Business Manager</a:t>
            </a:r>
            <a:r>
              <a:rPr lang="ru-RU" sz="1000" dirty="0" smtClean="0">
                <a:solidFill>
                  <a:srgbClr val="FF0000"/>
                </a:solidFill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Подтверждение </a:t>
            </a:r>
            <a:r>
              <a:rPr lang="ru-RU" sz="1000" b="1" dirty="0">
                <a:solidFill>
                  <a:srgbClr val="FF0000"/>
                </a:solidFill>
              </a:rPr>
              <a:t>(GO / NO </a:t>
            </a:r>
            <a:r>
              <a:rPr lang="ru-RU" sz="1000" b="1" dirty="0" smtClean="0">
                <a:solidFill>
                  <a:srgbClr val="FF0000"/>
                </a:solidFill>
              </a:rPr>
              <a:t>GO)</a:t>
            </a:r>
            <a:r>
              <a:rPr lang="ru-RU" sz="1000" dirty="0" smtClean="0">
                <a:solidFill>
                  <a:srgbClr val="FF0000"/>
                </a:solidFill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FF0000"/>
                </a:solidFill>
              </a:rPr>
              <a:t>Поиск альтернативного решения или процесса.</a:t>
            </a:r>
            <a:endParaRPr lang="ru-RU" sz="1000" dirty="0">
              <a:solidFill>
                <a:srgbClr val="FF0000"/>
              </a:solidFill>
            </a:endParaRPr>
          </a:p>
          <a:p>
            <a:endParaRPr lang="ru-RU" sz="1000" dirty="0" smtClean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000" dirty="0" smtClean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70" name="Прямоугольник 15"/>
          <p:cNvSpPr/>
          <p:nvPr/>
        </p:nvSpPr>
        <p:spPr>
          <a:xfrm>
            <a:off x="10189967" y="6187346"/>
            <a:ext cx="1914282" cy="373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rgbClr val="FF0000"/>
                </a:solidFill>
              </a:rPr>
              <a:t>DZ</a:t>
            </a:r>
            <a:endParaRPr lang="ru-RU" sz="1200" dirty="0">
              <a:solidFill>
                <a:srgbClr val="FF000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0224568" y="5604968"/>
            <a:ext cx="1719067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000" b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Re-think</a:t>
            </a:r>
            <a:endParaRPr lang="en-US" sz="3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141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Цвет 9">
      <a:dk1>
        <a:srgbClr val="373737"/>
      </a:dk1>
      <a:lt1>
        <a:srgbClr val="FFFFFF"/>
      </a:lt1>
      <a:dk2>
        <a:srgbClr val="5E5E5E"/>
      </a:dk2>
      <a:lt2>
        <a:srgbClr val="F0F0F0"/>
      </a:lt2>
      <a:accent1>
        <a:srgbClr val="373737"/>
      </a:accent1>
      <a:accent2>
        <a:srgbClr val="F5E6BE"/>
      </a:accent2>
      <a:accent3>
        <a:srgbClr val="680C1C"/>
      </a:accent3>
      <a:accent4>
        <a:srgbClr val="A58E7A"/>
      </a:accent4>
      <a:accent5>
        <a:srgbClr val="98644C"/>
      </a:accent5>
      <a:accent6>
        <a:srgbClr val="933E00"/>
      </a:accent6>
      <a:hlink>
        <a:srgbClr val="017DDB"/>
      </a:hlink>
      <a:folHlink>
        <a:srgbClr val="66B0E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2681346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635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131259" tIns="131259" rIns="131259" bIns="131259" numCol="1" spcCol="38100" rtlCol="0" anchor="ctr">
        <a:spAutoFit/>
      </a:bodyPr>
      <a:lstStyle>
        <a:defPPr marL="0" marR="0" indent="0" algn="l" defTabSz="2681346" rtl="0" fontAlgn="auto" latinLnBrk="0" hangingPunct="0">
          <a:lnSpc>
            <a:spcPct val="7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Suisse Int'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rb_template" id="{FB4427F4-8426-0D4F-A646-0A4FE31FA530}" vid="{F26A3A93-0DC2-F24A-8715-AEDD1BAD574C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NRB_SHablon_prezentatsii_2023</Template>
  <TotalTime>48410</TotalTime>
  <Words>3334</Words>
  <Application>Microsoft Office PowerPoint</Application>
  <PresentationFormat>Widescreen</PresentationFormat>
  <Paragraphs>563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Calibri</vt:lpstr>
      <vt:lpstr>Helvetica Light</vt:lpstr>
      <vt:lpstr>Helvetica Neue Medium</vt:lpstr>
      <vt:lpstr>Suisse Int'l</vt:lpstr>
      <vt:lpstr>VTB Group Book</vt:lpstr>
      <vt:lpstr>VTB Group Cond</vt:lpstr>
      <vt:lpstr>VTB Group Cond Book</vt:lpstr>
      <vt:lpstr>VTB Group Cond Light</vt:lpstr>
      <vt:lpstr>VTB Group Demi Bold</vt:lpstr>
      <vt:lpstr>VTB Group Light</vt:lpstr>
      <vt:lpstr>Wingdings</vt:lpstr>
      <vt:lpstr>White</vt:lpstr>
      <vt:lpstr>HR OPS ЦЕЛИ И ЗАДАЧИ 2026   </vt:lpstr>
      <vt:lpstr>HR OPERATIONS TOP 5 приоритетов – 2026</vt:lpstr>
      <vt:lpstr>ЗАДАЧИ - 2026: бюджет, системы</vt:lpstr>
      <vt:lpstr>ЗАДАЧИ - 2026: вознаграждения, бенефиты</vt:lpstr>
      <vt:lpstr>ЗАДАЧИ - 2026: HR OPS</vt:lpstr>
      <vt:lpstr>ЗАДАЧИ - 2026: ADMIN</vt:lpstr>
      <vt:lpstr>ЗАДАЧИ - 2026: PAYROLL</vt:lpstr>
      <vt:lpstr>Приложение  ЗАДАЧИ – 2025  АРХИВ</vt:lpstr>
      <vt:lpstr>ЗАДАЧИ - 2026: Поддержка новых бизнесов / изменений</vt:lpstr>
      <vt:lpstr>ЗАДАЧИ - 2025: Процессы HR OPS</vt:lpstr>
      <vt:lpstr>ЗАДАЧИ - 2025: Проекты Reward (1/2)</vt:lpstr>
      <vt:lpstr>ЗАДАЧИ - 2025: Проекты Reward (2/2)</vt:lpstr>
      <vt:lpstr>ЗАДАЧИ - 2025: ХХХБ процессы и системы</vt:lpstr>
      <vt:lpstr>ЗАДАЧИ - 2025: Проекты Change – Системы и решения (1)</vt:lpstr>
      <vt:lpstr>ЗАДАЧИ - 2025: Проекты Change – Системы и решения (2)</vt:lpstr>
      <vt:lpstr>ЗАДАЧИ - 2025: проекты Payroll</vt:lpstr>
      <vt:lpstr>ЗАДАЧИ - 2025: проекты HR Admin</vt:lpstr>
      <vt:lpstr>ЗАДАЧИ - 2025: другие проекты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Microsoft Office</dc:creator>
  <cp:lastModifiedBy>Obycheva, Anna</cp:lastModifiedBy>
  <cp:revision>1215</cp:revision>
  <cp:lastPrinted>2025-03-18T11:13:04Z</cp:lastPrinted>
  <dcterms:created xsi:type="dcterms:W3CDTF">2017-11-14T14:42:55Z</dcterms:created>
  <dcterms:modified xsi:type="dcterms:W3CDTF">2026-07-27T13:49:35Z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2c692213-0f56-4900-a56b-36459a895837</vt:lpwstr>
  </property>
  <property fmtid="{D5CDD505-2E9C-101B-9397-08002B2CF9AE}" pid="3" name="CLASSIFICATION">
    <vt:lpwstr>CONFIDENTIAL</vt:lpwstr>
  </property>
</Properties>
</file>
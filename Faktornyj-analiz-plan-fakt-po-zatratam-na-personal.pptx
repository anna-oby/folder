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Medium"/>
      <p:regular r:id="rId201315"/>
    </p:embeddedFont>
    <p:embeddedFont>
      <p:font typeface="Cabin SemiBold"/>
      <p:regular r:id="rId201316"/>
    </p:embeddedFont>
    <p:embeddedFont>
      <p:font typeface="Cabin Bold"/>
      <p:regular r:id="rId201317"/>
    </p:embeddedFont>
    <p:embeddedFont>
      <p:font typeface="Unbounded ExtraLight"/>
      <p:regular r:id="rId201318"/>
    </p:embeddedFont>
    <p:embeddedFont>
      <p:font typeface="Unbounded Light"/>
      <p:regular r:id="rId201319"/>
    </p:embeddedFont>
    <p:embeddedFont>
      <p:font typeface="Unbounded"/>
      <p:regular r:id="rId201320"/>
    </p:embeddedFont>
    <p:embeddedFont>
      <p:font typeface="Unbounded Bold"/>
      <p:regular r:id="rId201321"/>
    </p:embeddedFont>
    <p:embeddedFont>
      <p:font typeface="Unbounded ExtraBold"/>
      <p:regular r:id="rId201322"/>
    </p:embeddedFont>
    <p:embeddedFont>
      <p:font typeface="Unbounded Black"/>
      <p:regular r:id="rId201323"/>
    </p:embeddedFont>
    <p:embeddedFont>
      <p:font typeface="Unbounded Medium"/>
      <p:regular r:id="rId201324"/>
    </p:embeddedFont>
    <p:embeddedFont>
      <p:font typeface="Unbounded Semi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3.png"/><Relationship Id="rId6" Type="http://schemas.openxmlformats.org/officeDocument/2006/relationships/image" Target="../media/image-4-4.svg"/><Relationship Id="rId7" Type="http://schemas.openxmlformats.org/officeDocument/2006/relationships/image" Target="../media/image-4-3.png"/><Relationship Id="rId8" Type="http://schemas.openxmlformats.org/officeDocument/2006/relationships/image" Target="../media/image-4-4.svg"/><Relationship Id="rId9" Type="http://schemas.openxmlformats.org/officeDocument/2006/relationships/image" Target="../media/image-4-3.png"/><Relationship Id="rId10" Type="http://schemas.openxmlformats.org/officeDocument/2006/relationships/image" Target="../media/image-4-4.svg"/><Relationship Id="rId11" Type="http://schemas.openxmlformats.org/officeDocument/2006/relationships/image" Target="../media/image-4-3.png"/><Relationship Id="rId12" Type="http://schemas.openxmlformats.org/officeDocument/2006/relationships/image" Target="../media/image-4-4.svg"/><Relationship Id="rId13" Type="http://schemas.openxmlformats.org/officeDocument/2006/relationships/image" Target="../media/image-4-3.png"/><Relationship Id="rId14" Type="http://schemas.openxmlformats.org/officeDocument/2006/relationships/image" Target="../media/image-4-4.svg"/><Relationship Id="rId15" Type="http://schemas.openxmlformats.org/officeDocument/2006/relationships/image" Target="../media/image-4-3.png"/><Relationship Id="rId16" Type="http://schemas.openxmlformats.org/officeDocument/2006/relationships/image" Target="../media/image-4-4.svg"/><Relationship Id="rId17" Type="http://schemas.openxmlformats.org/officeDocument/2006/relationships/image" Target="../media/image-4-3.png"/><Relationship Id="rId18" Type="http://schemas.openxmlformats.org/officeDocument/2006/relationships/image" Target="../media/image-4-4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1435795"/>
            <a:ext cx="3396570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817740" y="1495623"/>
            <a:ext cx="376684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УПРАВЛЕНИЕ ЗАТРАТАМИ НА ПЕРСОНАЛ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8086" y="1818680"/>
            <a:ext cx="6223638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Факторный анализ план-факт по затратам на персонал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698086" y="4464546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Системный подход к объяснению отклонений: от ручной расшифровки в Excel — к автоматизированному управленческому инструменту.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0" y="480616"/>
            <a:ext cx="4422466" cy="589676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69971" y="736600"/>
            <a:ext cx="1358866" cy="227211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9663" y="781447"/>
            <a:ext cx="178906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ЦЕЛИ И ПРИНЦИПЫ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69971" y="1008658"/>
            <a:ext cx="6223638" cy="8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Зачем нужен факторный анализ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5269971" y="2057003"/>
            <a:ext cx="6223638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Цель: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создать управляемый и автоматизируемый механизм объяснения отклонений факта от бюджета и прогноза по затратам на персонал.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69971" y="2602111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5419490" y="2751634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Причина, а не сумма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19490" y="3038872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Показывать не только размер отклонения, но и его природу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69971" y="3509963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5419490" y="3659485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Разделение факторов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19490" y="3946723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Отделять бизнес-факторы от ошибок данных и методологии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269971" y="4417814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5419490" y="4567337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Drill-down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19490" y="4854575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Декомпозиция до сотрудника, вакансии, MIR-code, юрлица и месяца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69971" y="5325666"/>
            <a:ext cx="6223638" cy="795734"/>
          </a:xfrm>
          <a:prstGeom prst="roundRect">
            <a:avLst>
              <a:gd name="adj" fmla="val 2820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5419490" y="5475188"/>
            <a:ext cx="59246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Автоматизация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19490" y="5762427"/>
            <a:ext cx="592460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Система сама определяет фактор, владельца и статус комментария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02122"/>
            <a:ext cx="1306678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161951"/>
            <a:ext cx="167695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48500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Двухслойная модель расчёта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57026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Слой 1: HR Factor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062982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Основной факторный анализ строится на HR-факте — по каждому сотруднику, вакансии и assignment с детализацией до месяца и budget element.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8086" y="4200029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Сотрудник, assignment, вакансия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Planned / actual hire и termination date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HC, MSU, salary, bonus scheme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Legal Entity, MIR-code, charging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45476" y="257026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Слой 2: HR vs Finance Reconciliation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5476" y="3062982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Финансовый факт используется для сверки: сначала объясняем отклонение на HR-данных, затем проверяем, как это отражено в Finance.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45476" y="4200029"/>
            <a:ext cx="5154484" cy="109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Finance Actual vs HR Actual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Difference и Difference Type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Controlled Exception, Owner, Status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15156"/>
            <a:ext cx="331878" cy="181570"/>
          </a:xfrm>
          <a:prstGeom prst="roundRect">
            <a:avLst>
              <a:gd name="adj" fmla="val 7900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769720" y="650974"/>
            <a:ext cx="798195" cy="109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98086" y="825302"/>
            <a:ext cx="10795524" cy="351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запускаем первым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64754"/>
            <a:ext cx="3413734" cy="3413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7946" y="2546747"/>
            <a:ext cx="5252013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 MVP включаем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16 факторов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автоматически объясняющих основные отклонения Actual vs Budget и Actual vs Forecast по HR-факту.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247946" y="2933105"/>
            <a:ext cx="5252013" cy="647204"/>
          </a:xfrm>
          <a:prstGeom prst="roundRect">
            <a:avLst>
              <a:gd name="adj" fmla="val 2770"/>
            </a:avLst>
          </a:prstGeom>
          <a:solidFill>
            <a:srgbClr val="08786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402" y="3092152"/>
            <a:ext cx="149320" cy="1194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36179" y="3027363"/>
            <a:ext cx="4744323" cy="45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За рамками MVP: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полная декомпозиция AHR на volume/rate, сложная методология отпусков, event-driven модель премиальных схем, глубокая декомпозиция discretionary/deferred bonus.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939705"/>
            <a:ext cx="2645205" cy="615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1040" y="5071864"/>
            <a:ext cx="2330094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HC / MSU variance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4826" y="4939705"/>
            <a:ext cx="2645205" cy="615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97780" y="5071864"/>
            <a:ext cx="2330094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Найм / увольнение раньше или позже плана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1565" y="4939705"/>
            <a:ext cx="2645205" cy="6157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14520" y="5071864"/>
            <a:ext cx="2330094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Вакансия не закрыта, незапланированный найм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48305" y="4939705"/>
            <a:ext cx="2645304" cy="61575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031260" y="5071864"/>
            <a:ext cx="2330193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Перевод между MIR / юрлицами / Global Unit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086" y="5626993"/>
            <a:ext cx="2645205" cy="61575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81040" y="5759152"/>
            <a:ext cx="2330094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Salary rate variance, salary increase, promotion</a:t>
            </a:r>
            <a:endParaRPr lang="en-US" sz="11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14826" y="5626993"/>
            <a:ext cx="2645205" cy="61575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97780" y="5759152"/>
            <a:ext cx="2330094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Quarterly bonus variance, Social Security, Benefits</a:t>
            </a:r>
            <a:endParaRPr lang="en-US" sz="1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31565" y="5626993"/>
            <a:ext cx="2645205" cy="61575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314520" y="5759152"/>
            <a:ext cx="2330094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AHR plan-fact, One-off / Manual / Timing</a:t>
            </a:r>
            <a:endParaRPr lang="en-US" sz="11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48305" y="5626993"/>
            <a:ext cx="2645304" cy="61575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9031260" y="5759152"/>
            <a:ext cx="2330193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Quality Issue, Residual / unexplained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03448"/>
            <a:ext cx="899495" cy="205581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9245" y="644029"/>
            <a:ext cx="1346762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СПРАВОЧНИК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845641"/>
            <a:ext cx="10795524" cy="3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Компактный справочник факторов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98086" y="1381026"/>
            <a:ext cx="10795524" cy="4873427"/>
          </a:xfrm>
          <a:prstGeom prst="roundRect">
            <a:avLst>
              <a:gd name="adj" fmla="val 41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436" y="1387376"/>
            <a:ext cx="10782824" cy="3041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39667" y="1448693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Группа факторов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38548" y="1448693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Подфакторы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51678" y="1448693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Релиз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4436" y="1691481"/>
            <a:ext cx="10782824" cy="3041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9667" y="1752798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 / MSU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38548" y="1752798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 выше/ниже бюджета, MSU выше/ниже бюджета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51678" y="1752798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436" y="1995587"/>
            <a:ext cx="10782824" cy="4855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9667" y="2056904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Hiring &amp; Vacancy Timing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38548" y="2056904"/>
            <a:ext cx="4036316" cy="3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Ранний найм, поздний найм, вакансия не закрыта, незапланированный найм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51678" y="2056904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436" y="2481163"/>
            <a:ext cx="10782824" cy="4855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39667" y="2542480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Leaver Timing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38548" y="2542480"/>
            <a:ext cx="4036316" cy="3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Раннее увольнение, позднее увольнение, незапланированное увольнение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51678" y="2542480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436" y="2966740"/>
            <a:ext cx="10782824" cy="4855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39667" y="3028057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Transfer &amp; Allocation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38548" y="3028057"/>
            <a:ext cx="4036316" cy="3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Перевод между MIR, юрлицами, Global Unit, изменение charging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51678" y="3028057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4436" y="3452316"/>
            <a:ext cx="10782824" cy="3041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39667" y="3513634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 Rate / Increase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38548" y="3513634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Оклад выше/ниже бюджета, salary increase, promotion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51678" y="3513634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4436" y="3756422"/>
            <a:ext cx="10782824" cy="3041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9667" y="3817739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Bonus &amp; Incentives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38548" y="3817739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Quarterly bonus, bonus base, bonus %, bonus scheme, eligibility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51678" y="3817739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 / R2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436" y="4060527"/>
            <a:ext cx="10782824" cy="3041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39667" y="4121845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Social Security / Regulator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38548" y="4121845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База взносов, ставка, пороги, льготная категория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51678" y="4121845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 / R2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04436" y="4364633"/>
            <a:ext cx="10782824" cy="4855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9667" y="4425950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Vacation / Reserve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38548" y="4425950"/>
            <a:ext cx="4036316" cy="3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Методология отпусков, средний заработок, резервы, перерасчёты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51678" y="4425950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436" y="4850209"/>
            <a:ext cx="10782824" cy="3041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39667" y="4911527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Benefits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38548" y="4911527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Тариф, eligibility, страховой факт, агрегированный факт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51678" y="4911527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 / R2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04436" y="5154315"/>
            <a:ext cx="10782824" cy="3041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9667" y="5215632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AHR / Non-compensation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538548" y="5215632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Recruitment, training, workshops/offsites, contractors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51678" y="5215632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4436" y="5458420"/>
            <a:ext cx="10782824" cy="4855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39667" y="5519738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One-off / Manual / Timing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538548" y="5519738"/>
            <a:ext cx="4036316" cy="362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Разовая выплата, manual adjustment, retro, сдвиг периода признания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51678" y="5519738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436" y="5943997"/>
            <a:ext cx="10782824" cy="3041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9667" y="6005314"/>
            <a:ext cx="3031652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Quality / Residual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538548" y="6005314"/>
            <a:ext cx="4645901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Ошибки ключей, маппинга, дублей, остаточное отклонение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51678" y="6005314"/>
            <a:ext cx="4109935" cy="18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MVP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72430"/>
            <a:ext cx="1396568" cy="227211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7777" y="917277"/>
            <a:ext cx="182677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HC-DRIVEN ФАКТОРЫ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1144488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HC-driven факторы: что влияет на затраты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98086" y="1752798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HC-driven факторы — отклонения, связанные с динамикой численности и изменением активности сотрудника или вакансии в месяце.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8086" y="2088455"/>
            <a:ext cx="10795524" cy="3273723"/>
          </a:xfrm>
          <a:prstGeom prst="roundRect">
            <a:avLst>
              <a:gd name="adj" fmla="val 68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086" y="2454672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2817713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3180755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3543796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8086" y="3906838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8086" y="4269879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8086" y="4632920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8086" y="4995962"/>
            <a:ext cx="10795524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53954" y="2168426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Фактор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9660" y="2168426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Что означает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41072" y="2168426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Тип эффекта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3954" y="2531467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Early Hire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49660" y="2531467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вышел раньше плановой даты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41072" y="2531467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Перерасход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3954" y="2894509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Delayed Hire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49660" y="2894509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вышел позже плановой даты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41072" y="2894509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Экономия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3954" y="3257550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Vacancy Not Filled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49660" y="3257550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Вакансия была в бюджете, но не закрыта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41072" y="3257550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Экономия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3954" y="3620591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Unplanned Hire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49660" y="3620591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появился в факте без бюджетной позиции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41072" y="3620591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Перерасход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3954" y="3983633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Early Leaver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49660" y="3983633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уволился раньше плана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41072" y="3983633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Экономия / one-off cost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3954" y="4346674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Delayed Leaver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49660" y="4346674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уволился позже плана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41072" y="4346674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Перерасход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53954" y="4709716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Transfer In / Out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49660" y="4709716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перешёл между периметрами, MIR или юрлицами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41072" y="4709716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Перераспределение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3954" y="5072757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MSU Change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49660" y="5072757"/>
            <a:ext cx="570195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Изменилась доля затрат на юрлицо / MIR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941072" y="5072757"/>
            <a:ext cx="300625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Перераспределение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8086" y="5488384"/>
            <a:ext cx="10795524" cy="497086"/>
          </a:xfrm>
          <a:prstGeom prst="roundRect">
            <a:avLst>
              <a:gd name="adj" fmla="val 4515"/>
            </a:avLst>
          </a:prstGeom>
          <a:solidFill>
            <a:srgbClr val="08786D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5" y="5684044"/>
            <a:ext cx="186923" cy="149523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84047" y="5637808"/>
            <a:ext cx="1076962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HC-driven логика влияет на Salary, Salary Uplift, Quarterly Bonus, Social Security, Vacation Pay/Reserve, Benefits и Capitalized Compensation.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81137"/>
            <a:ext cx="1022027" cy="288032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788" y="737989"/>
            <a:ext cx="1404208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ФОРМУЛЫ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41102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Расчёт HC / Timing Effect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8086" y="2048371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Базовая логика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8086" y="2506960"/>
            <a:ext cx="516658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Система сравнивает, был ли сотрудник или вакансия активны в месяце по плану и по факту.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8086" y="3260130"/>
            <a:ext cx="5166588" cy="124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Budget Active Share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доля месяца, когда объект должен был быть активен по бюджету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Actual Active Share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доля месяца, когда объект был активен фактически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8086" y="4733230"/>
            <a:ext cx="5166588" cy="928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4733230"/>
            <a:ext cx="5166588" cy="9286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33371" y="2048371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Интерпретация результатов</a:t>
            </a:r>
            <a:endParaRPr lang="en-US" sz="1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410" y="2538958"/>
            <a:ext cx="284255" cy="284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207" y="2529483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вышел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раньше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плана → Actual Active Share выше →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перерасход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4410" y="3490168"/>
            <a:ext cx="284255" cy="284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207" y="3480693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вышел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позже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плана → Actual Active Share ниже →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экономия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4410" y="4441379"/>
            <a:ext cx="284255" cy="2842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207" y="4431903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Вакансия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не закрыта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Actual = 0, Budget &gt; 0 →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экономия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4410" y="5392589"/>
            <a:ext cx="284255" cy="2842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207" y="5383113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Сотрудник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не в плане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Budget = 0, Actual &gt; 0 → 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перерасход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50280"/>
            <a:ext cx="1606014" cy="257572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9782" y="701080"/>
            <a:ext cx="2012205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ALLOCATION &amp; SALARY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96549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Transfer, Allocation и Salary Rate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98086" y="1824335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Факторы Allocation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2217738"/>
            <a:ext cx="519099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Объясняют не изменение общей стоимости сотрудника, а изменение распределения затрат между юрлицами, MIR-code и Global Unit.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8086" y="3100189"/>
            <a:ext cx="5190995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MIR Transfer — Actual MIR ≠ Budget MIR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Legal Entity Transfer — Actual LE ≠ Budget LE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Global Unit Transfer — Actual GU ≠ Budget GU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 / Bonus Charging Variance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MSU Variance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086" y="4738787"/>
            <a:ext cx="5190995" cy="1107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4738787"/>
            <a:ext cx="5190995" cy="1107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8964" y="1824335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Факторы Salary Rate / Increase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308964" y="2217738"/>
            <a:ext cx="519099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Объясняют отклонения, связанные с тем, что фактическая ставка отличается от бюджетной.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8964" y="2849265"/>
            <a:ext cx="5190995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 above/below budget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Salary increase, Promotion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Grade / role mix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Market adjustment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8964" y="4186535"/>
            <a:ext cx="5190995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964" y="4186535"/>
            <a:ext cx="5190995" cy="83075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8964" y="5199658"/>
            <a:ext cx="5190995" cy="845939"/>
          </a:xfrm>
          <a:prstGeom prst="roundRect">
            <a:avLst>
              <a:gd name="adj" fmla="val 3007"/>
            </a:avLst>
          </a:prstGeom>
          <a:solidFill>
            <a:srgbClr val="08786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425" y="5447308"/>
            <a:ext cx="211926" cy="1694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9813" y="5371703"/>
            <a:ext cx="447068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Требование: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для корректной автоматизации allocation нужна история salary charging и bonus charging.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713581"/>
            <a:ext cx="1665742" cy="227211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7777" y="758428"/>
            <a:ext cx="20959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BONUS &amp; SOCIAL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985639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Quarterly Bonus и социальные взносы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98086" y="1706066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Quarterly Bonus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8086" y="2038152"/>
            <a:ext cx="5215303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В MVP реализуется универсальная структура bonus rule: Bonus Scheme, Eligible Population, Bonus Base, Bonus %, Effective From/To, исключения и manual adjustment.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8086" y="2808486"/>
            <a:ext cx="5215303" cy="48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808486"/>
            <a:ext cx="5215303" cy="488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84656" y="1706066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Social Security / Regulator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84656" y="2038152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Ставка рассчитывается по каждому сотруднику с учётом пороговых значений выплат.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84656" y="2599035"/>
            <a:ext cx="5215303" cy="488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656" y="2599035"/>
            <a:ext cx="5215303" cy="488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84656" y="3229769"/>
            <a:ext cx="5215303" cy="9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Threshold effect — переход через порог выплат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Preferential category — изменение льготной категории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Taxability change — выплата стала облагаемой/необлагаемой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Regulator change — изменение правил расчёта взносов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8086" y="4350544"/>
            <a:ext cx="5341705" cy="833834"/>
          </a:xfrm>
          <a:prstGeom prst="roundRect">
            <a:avLst>
              <a:gd name="adj" fmla="val 2691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6654" y="4519116"/>
            <a:ext cx="500456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 Effect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66654" y="4806355"/>
            <a:ext cx="500456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(Actual Base − Budget Base) × Budget %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51905" y="4350544"/>
            <a:ext cx="5341705" cy="833834"/>
          </a:xfrm>
          <a:prstGeom prst="roundRect">
            <a:avLst>
              <a:gd name="adj" fmla="val 2691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20473" y="4519116"/>
            <a:ext cx="500456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Rate Effect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320473" y="4806355"/>
            <a:ext cx="500456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Actual Base × (Actual % − Budget %)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98086" y="5310584"/>
            <a:ext cx="5341705" cy="833834"/>
          </a:xfrm>
          <a:prstGeom prst="roundRect">
            <a:avLst>
              <a:gd name="adj" fmla="val 2691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6654" y="5479157"/>
            <a:ext cx="500456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 Effect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866654" y="5766395"/>
            <a:ext cx="500456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(Actual Base − Budget Base) × Budget Rate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51905" y="5310584"/>
            <a:ext cx="5341705" cy="833834"/>
          </a:xfrm>
          <a:prstGeom prst="roundRect">
            <a:avLst>
              <a:gd name="adj" fmla="val 2691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0473" y="5479157"/>
            <a:ext cx="500456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Rate / Regulator Effect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320473" y="5766395"/>
            <a:ext cx="500456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Actual Base × (Actual Rate − Budget Rate)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598" y="467420"/>
            <a:ext cx="4442210" cy="59231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8086" y="610295"/>
            <a:ext cx="504812" cy="196949"/>
          </a:xfrm>
          <a:prstGeom prst="roundRect">
            <a:avLst>
              <a:gd name="adj" fmla="val 7900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775871" y="649188"/>
            <a:ext cx="958826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ИТОГИ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98086" y="840879"/>
            <a:ext cx="6223638" cy="762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Ожидаемые результаты и дорожная карта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98086" y="1729879"/>
            <a:ext cx="3069652" cy="1486892"/>
          </a:xfrm>
          <a:prstGeom prst="roundRect">
            <a:avLst>
              <a:gd name="adj" fmla="val 1308"/>
            </a:avLst>
          </a:prstGeom>
          <a:solidFill>
            <a:srgbClr val="304755"/>
          </a:solidFill>
          <a:ln/>
        </p:spPr>
      </p:sp>
      <p:sp>
        <p:nvSpPr>
          <p:cNvPr id="8" name="Shape 5"/>
          <p:cNvSpPr/>
          <p:nvPr/>
        </p:nvSpPr>
        <p:spPr>
          <a:xfrm>
            <a:off x="827662" y="1859459"/>
            <a:ext cx="388928" cy="38893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9" name="Text 6"/>
          <p:cNvSpPr/>
          <p:nvPr/>
        </p:nvSpPr>
        <p:spPr>
          <a:xfrm>
            <a:off x="934617" y="1944489"/>
            <a:ext cx="175017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7662" y="2332633"/>
            <a:ext cx="2810499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Скорость закрытия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7662" y="2573734"/>
            <a:ext cx="2810499" cy="513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Сокращение времени объяснения отклонений за счёт автоматической классификации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51972" y="1729879"/>
            <a:ext cx="3069751" cy="1486892"/>
          </a:xfrm>
          <a:prstGeom prst="roundRect">
            <a:avLst>
              <a:gd name="adj" fmla="val 1308"/>
            </a:avLst>
          </a:prstGeom>
          <a:solidFill>
            <a:srgbClr val="304755"/>
          </a:solidFill>
          <a:ln/>
        </p:spPr>
      </p:sp>
      <p:sp>
        <p:nvSpPr>
          <p:cNvPr id="13" name="Shape 10"/>
          <p:cNvSpPr/>
          <p:nvPr/>
        </p:nvSpPr>
        <p:spPr>
          <a:xfrm>
            <a:off x="3981549" y="1859459"/>
            <a:ext cx="388928" cy="38893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14" name="Text 11"/>
          <p:cNvSpPr/>
          <p:nvPr/>
        </p:nvSpPr>
        <p:spPr>
          <a:xfrm>
            <a:off x="4088504" y="1944489"/>
            <a:ext cx="175017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81549" y="2332633"/>
            <a:ext cx="281059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Качество данных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81549" y="2573734"/>
            <a:ext cx="2810598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Раннее выявление Data Quality Issues и системных ошибок маппинга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8086" y="3301008"/>
            <a:ext cx="6223638" cy="1144587"/>
          </a:xfrm>
          <a:prstGeom prst="roundRect">
            <a:avLst>
              <a:gd name="adj" fmla="val 1699"/>
            </a:avLst>
          </a:prstGeom>
          <a:solidFill>
            <a:srgbClr val="304755"/>
          </a:solidFill>
          <a:ln/>
        </p:spPr>
      </p:sp>
      <p:sp>
        <p:nvSpPr>
          <p:cNvPr id="18" name="Shape 15"/>
          <p:cNvSpPr/>
          <p:nvPr/>
        </p:nvSpPr>
        <p:spPr>
          <a:xfrm>
            <a:off x="827662" y="3430587"/>
            <a:ext cx="388928" cy="388938"/>
          </a:xfrm>
          <a:prstGeom prst="ellipse">
            <a:avLst/>
          </a:prstGeom>
          <a:solidFill>
            <a:srgbClr val="0A988B"/>
          </a:solidFill>
          <a:ln/>
        </p:spPr>
      </p:sp>
      <p:sp>
        <p:nvSpPr>
          <p:cNvPr id="19" name="Text 16"/>
          <p:cNvSpPr/>
          <p:nvPr/>
        </p:nvSpPr>
        <p:spPr>
          <a:xfrm>
            <a:off x="934617" y="3515618"/>
            <a:ext cx="175017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7662" y="3903762"/>
            <a:ext cx="596448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Контроль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7662" y="4144863"/>
            <a:ext cx="596448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Прозрачность отклонений, чёткое распределение ответственности и статусов комментариев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43934" y="4540349"/>
            <a:ext cx="19050" cy="1707356"/>
          </a:xfrm>
          <a:prstGeom prst="roundRect">
            <a:avLst>
              <a:gd name="adj" fmla="val 102095"/>
            </a:avLst>
          </a:prstGeom>
          <a:solidFill>
            <a:srgbClr val="49606E"/>
          </a:solidFill>
          <a:ln/>
        </p:spPr>
      </p:sp>
      <p:sp>
        <p:nvSpPr>
          <p:cNvPr id="23" name="Shape 20"/>
          <p:cNvSpPr/>
          <p:nvPr/>
        </p:nvSpPr>
        <p:spPr>
          <a:xfrm>
            <a:off x="970732" y="4676676"/>
            <a:ext cx="388928" cy="19050"/>
          </a:xfrm>
          <a:prstGeom prst="roundRect">
            <a:avLst>
              <a:gd name="adj" fmla="val 102095"/>
            </a:avLst>
          </a:prstGeom>
          <a:solidFill>
            <a:srgbClr val="49606E"/>
          </a:solidFill>
          <a:ln/>
        </p:spPr>
      </p:sp>
      <p:sp>
        <p:nvSpPr>
          <p:cNvPr id="24" name="Shape 21"/>
          <p:cNvSpPr/>
          <p:nvPr/>
        </p:nvSpPr>
        <p:spPr>
          <a:xfrm>
            <a:off x="698086" y="4540349"/>
            <a:ext cx="291696" cy="291703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5" name="Text 22"/>
          <p:cNvSpPr/>
          <p:nvPr/>
        </p:nvSpPr>
        <p:spPr>
          <a:xfrm>
            <a:off x="752456" y="4571802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92213" y="4584898"/>
            <a:ext cx="542951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MVP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92213" y="4826000"/>
            <a:ext cx="542951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HC, Hiring/Leaver Timing, Salary Rate, Basic Bonus, AHR, One-off, Data Quality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70732" y="5301952"/>
            <a:ext cx="388928" cy="19050"/>
          </a:xfrm>
          <a:prstGeom prst="roundRect">
            <a:avLst>
              <a:gd name="adj" fmla="val 102095"/>
            </a:avLst>
          </a:prstGeom>
          <a:solidFill>
            <a:srgbClr val="49606E"/>
          </a:solidFill>
          <a:ln/>
        </p:spPr>
      </p:sp>
      <p:sp>
        <p:nvSpPr>
          <p:cNvPr id="29" name="Shape 26"/>
          <p:cNvSpPr/>
          <p:nvPr/>
        </p:nvSpPr>
        <p:spPr>
          <a:xfrm>
            <a:off x="698086" y="5165626"/>
            <a:ext cx="291696" cy="291703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30" name="Text 27"/>
          <p:cNvSpPr/>
          <p:nvPr/>
        </p:nvSpPr>
        <p:spPr>
          <a:xfrm>
            <a:off x="752456" y="5197078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492213" y="5210175"/>
            <a:ext cx="542951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92213" y="5451277"/>
            <a:ext cx="542951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Полная декомпозиция AHR (volume/rate), Vacation methodology, Advanced bonus schemes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70732" y="5927229"/>
            <a:ext cx="388928" cy="19050"/>
          </a:xfrm>
          <a:prstGeom prst="roundRect">
            <a:avLst>
              <a:gd name="adj" fmla="val 102095"/>
            </a:avLst>
          </a:prstGeom>
          <a:solidFill>
            <a:srgbClr val="49606E"/>
          </a:solidFill>
          <a:ln/>
        </p:spPr>
      </p:sp>
      <p:sp>
        <p:nvSpPr>
          <p:cNvPr id="34" name="Shape 31"/>
          <p:cNvSpPr/>
          <p:nvPr/>
        </p:nvSpPr>
        <p:spPr>
          <a:xfrm>
            <a:off x="698086" y="5790902"/>
            <a:ext cx="291696" cy="291703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35" name="Text 32"/>
          <p:cNvSpPr/>
          <p:nvPr/>
        </p:nvSpPr>
        <p:spPr>
          <a:xfrm>
            <a:off x="752456" y="5822355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492213" y="5835452"/>
            <a:ext cx="5429511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R3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492213" y="6076553"/>
            <a:ext cx="542951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Event-driven модель, predictive analytics, интеграция с workforce planning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2026-07-14T10:56:45Z</dcterms:created>
  <dcterms:modified xsi:type="dcterms:W3CDTF">2026-07-14T10:56:45Z</dcterms:modified>
</cp:coreProperties>
</file>